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notesMasterIdLst>
    <p:notesMasterId r:id="rId45"/>
  </p:notesMasterIdLst>
  <p:handoutMasterIdLst>
    <p:handoutMasterId r:id="rId46"/>
  </p:handoutMasterIdLst>
  <p:sldIdLst>
    <p:sldId id="278" r:id="rId2"/>
    <p:sldId id="291" r:id="rId3"/>
    <p:sldId id="325" r:id="rId4"/>
    <p:sldId id="324" r:id="rId5"/>
    <p:sldId id="296" r:id="rId6"/>
    <p:sldId id="362" r:id="rId7"/>
    <p:sldId id="363" r:id="rId8"/>
    <p:sldId id="364" r:id="rId9"/>
    <p:sldId id="332" r:id="rId10"/>
    <p:sldId id="350" r:id="rId11"/>
    <p:sldId id="349" r:id="rId12"/>
    <p:sldId id="333" r:id="rId13"/>
    <p:sldId id="355" r:id="rId14"/>
    <p:sldId id="356" r:id="rId15"/>
    <p:sldId id="357" r:id="rId16"/>
    <p:sldId id="334" r:id="rId17"/>
    <p:sldId id="335" r:id="rId18"/>
    <p:sldId id="336" r:id="rId19"/>
    <p:sldId id="337" r:id="rId20"/>
    <p:sldId id="301" r:id="rId21"/>
    <p:sldId id="338" r:id="rId22"/>
    <p:sldId id="305" r:id="rId23"/>
    <p:sldId id="306" r:id="rId24"/>
    <p:sldId id="307" r:id="rId25"/>
    <p:sldId id="309" r:id="rId26"/>
    <p:sldId id="339" r:id="rId27"/>
    <p:sldId id="340" r:id="rId28"/>
    <p:sldId id="353" r:id="rId29"/>
    <p:sldId id="359" r:id="rId30"/>
    <p:sldId id="360" r:id="rId31"/>
    <p:sldId id="341" r:id="rId32"/>
    <p:sldId id="311" r:id="rId33"/>
    <p:sldId id="312" r:id="rId34"/>
    <p:sldId id="316" r:id="rId35"/>
    <p:sldId id="347" r:id="rId36"/>
    <p:sldId id="358" r:id="rId37"/>
    <p:sldId id="361" r:id="rId38"/>
    <p:sldId id="343" r:id="rId39"/>
    <p:sldId id="346" r:id="rId40"/>
    <p:sldId id="344" r:id="rId41"/>
    <p:sldId id="345" r:id="rId42"/>
    <p:sldId id="290" r:id="rId43"/>
    <p:sldId id="352" r:id="rId4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CBF7088-4EE9-4584-89F7-167257C9BC3C}">
          <p14:sldIdLst>
            <p14:sldId id="278"/>
            <p14:sldId id="291"/>
            <p14:sldId id="325"/>
            <p14:sldId id="324"/>
            <p14:sldId id="296"/>
            <p14:sldId id="362"/>
            <p14:sldId id="363"/>
            <p14:sldId id="364"/>
            <p14:sldId id="332"/>
            <p14:sldId id="350"/>
            <p14:sldId id="349"/>
            <p14:sldId id="333"/>
            <p14:sldId id="355"/>
            <p14:sldId id="356"/>
            <p14:sldId id="357"/>
            <p14:sldId id="334"/>
            <p14:sldId id="335"/>
            <p14:sldId id="336"/>
            <p14:sldId id="337"/>
            <p14:sldId id="301"/>
            <p14:sldId id="338"/>
            <p14:sldId id="305"/>
            <p14:sldId id="306"/>
            <p14:sldId id="307"/>
            <p14:sldId id="309"/>
            <p14:sldId id="339"/>
            <p14:sldId id="340"/>
            <p14:sldId id="353"/>
            <p14:sldId id="359"/>
            <p14:sldId id="360"/>
            <p14:sldId id="341"/>
            <p14:sldId id="311"/>
            <p14:sldId id="312"/>
            <p14:sldId id="316"/>
            <p14:sldId id="347"/>
            <p14:sldId id="358"/>
            <p14:sldId id="361"/>
            <p14:sldId id="343"/>
            <p14:sldId id="346"/>
            <p14:sldId id="344"/>
            <p14:sldId id="345"/>
            <p14:sldId id="290"/>
            <p14:sldId id="352"/>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020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544" autoAdjust="0"/>
    <p:restoredTop sz="86470" autoAdjust="0"/>
  </p:normalViewPr>
  <p:slideViewPr>
    <p:cSldViewPr>
      <p:cViewPr varScale="1">
        <p:scale>
          <a:sx n="73" d="100"/>
          <a:sy n="73" d="100"/>
        </p:scale>
        <p:origin x="1469" y="72"/>
      </p:cViewPr>
      <p:guideLst>
        <p:guide orient="horz" pos="2160"/>
        <p:guide pos="2880"/>
      </p:guideLst>
    </p:cSldViewPr>
  </p:slideViewPr>
  <p:outlineViewPr>
    <p:cViewPr>
      <p:scale>
        <a:sx n="33" d="100"/>
        <a:sy n="33" d="100"/>
      </p:scale>
      <p:origin x="0" y="45360"/>
    </p:cViewPr>
  </p:outlineViewPr>
  <p:notesTextViewPr>
    <p:cViewPr>
      <p:scale>
        <a:sx n="100" d="100"/>
        <a:sy n="100" d="100"/>
      </p:scale>
      <p:origin x="0" y="0"/>
    </p:cViewPr>
  </p:notesTextViewPr>
  <p:notesViewPr>
    <p:cSldViewPr>
      <p:cViewPr varScale="1">
        <p:scale>
          <a:sx n="56" d="100"/>
          <a:sy n="56" d="100"/>
        </p:scale>
        <p:origin x="-2838"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shwati Banerjee" userId="cca0c9cfe6801504" providerId="LiveId" clId="{809E6FC2-2873-4F6E-8C53-EE8EAFF6E4C8}"/>
    <pc:docChg chg="undo custSel addSld delSld modSld modSection">
      <pc:chgData name="Shashwati Banerjee" userId="cca0c9cfe6801504" providerId="LiveId" clId="{809E6FC2-2873-4F6E-8C53-EE8EAFF6E4C8}" dt="2024-03-06T09:54:54.003" v="231" actId="478"/>
      <pc:docMkLst>
        <pc:docMk/>
      </pc:docMkLst>
      <pc:sldChg chg="delSp mod">
        <pc:chgData name="Shashwati Banerjee" userId="cca0c9cfe6801504" providerId="LiveId" clId="{809E6FC2-2873-4F6E-8C53-EE8EAFF6E4C8}" dt="2024-02-26T06:37:16.613" v="0" actId="478"/>
        <pc:sldMkLst>
          <pc:docMk/>
          <pc:sldMk cId="0" sldId="278"/>
        </pc:sldMkLst>
        <pc:spChg chg="del">
          <ac:chgData name="Shashwati Banerjee" userId="cca0c9cfe6801504" providerId="LiveId" clId="{809E6FC2-2873-4F6E-8C53-EE8EAFF6E4C8}" dt="2024-02-26T06:37:16.613" v="0" actId="478"/>
          <ac:spMkLst>
            <pc:docMk/>
            <pc:sldMk cId="0" sldId="278"/>
            <ac:spMk id="11" creationId="{00000000-0000-0000-0000-000000000000}"/>
          </ac:spMkLst>
        </pc:spChg>
      </pc:sldChg>
      <pc:sldChg chg="modSp mod">
        <pc:chgData name="Shashwati Banerjee" userId="cca0c9cfe6801504" providerId="LiveId" clId="{809E6FC2-2873-4F6E-8C53-EE8EAFF6E4C8}" dt="2024-03-04T05:04:47.488" v="27" actId="20577"/>
        <pc:sldMkLst>
          <pc:docMk/>
          <pc:sldMk cId="158279355" sldId="335"/>
        </pc:sldMkLst>
        <pc:spChg chg="mod">
          <ac:chgData name="Shashwati Banerjee" userId="cca0c9cfe6801504" providerId="LiveId" clId="{809E6FC2-2873-4F6E-8C53-EE8EAFF6E4C8}" dt="2024-03-04T05:04:47.488" v="27" actId="20577"/>
          <ac:spMkLst>
            <pc:docMk/>
            <pc:sldMk cId="158279355" sldId="335"/>
            <ac:spMk id="4" creationId="{00000000-0000-0000-0000-000000000000}"/>
          </ac:spMkLst>
        </pc:spChg>
      </pc:sldChg>
      <pc:sldChg chg="modSp mod">
        <pc:chgData name="Shashwati Banerjee" userId="cca0c9cfe6801504" providerId="LiveId" clId="{809E6FC2-2873-4F6E-8C53-EE8EAFF6E4C8}" dt="2024-03-04T05:22:37.060" v="131" actId="732"/>
        <pc:sldMkLst>
          <pc:docMk/>
          <pc:sldMk cId="2410209591" sldId="347"/>
        </pc:sldMkLst>
        <pc:picChg chg="mod modCrop">
          <ac:chgData name="Shashwati Banerjee" userId="cca0c9cfe6801504" providerId="LiveId" clId="{809E6FC2-2873-4F6E-8C53-EE8EAFF6E4C8}" dt="2024-03-04T05:22:37.060" v="131" actId="732"/>
          <ac:picMkLst>
            <pc:docMk/>
            <pc:sldMk cId="2410209591" sldId="347"/>
            <ac:picMk id="8" creationId="{00000000-0000-0000-0000-000000000000}"/>
          </ac:picMkLst>
        </pc:picChg>
      </pc:sldChg>
      <pc:sldChg chg="modSp mod">
        <pc:chgData name="Shashwati Banerjee" userId="cca0c9cfe6801504" providerId="LiveId" clId="{809E6FC2-2873-4F6E-8C53-EE8EAFF6E4C8}" dt="2024-03-04T04:13:49.048" v="5" actId="14100"/>
        <pc:sldMkLst>
          <pc:docMk/>
          <pc:sldMk cId="3509257433" sldId="350"/>
        </pc:sldMkLst>
        <pc:picChg chg="mod modCrop">
          <ac:chgData name="Shashwati Banerjee" userId="cca0c9cfe6801504" providerId="LiveId" clId="{809E6FC2-2873-4F6E-8C53-EE8EAFF6E4C8}" dt="2024-03-04T04:13:49.048" v="5" actId="14100"/>
          <ac:picMkLst>
            <pc:docMk/>
            <pc:sldMk cId="3509257433" sldId="350"/>
            <ac:picMk id="3" creationId="{00000000-0000-0000-0000-000000000000}"/>
          </ac:picMkLst>
        </pc:picChg>
      </pc:sldChg>
      <pc:sldChg chg="delSp del mod">
        <pc:chgData name="Shashwati Banerjee" userId="cca0c9cfe6801504" providerId="LiveId" clId="{809E6FC2-2873-4F6E-8C53-EE8EAFF6E4C8}" dt="2024-03-04T05:26:08.142" v="152" actId="2696"/>
        <pc:sldMkLst>
          <pc:docMk/>
          <pc:sldMk cId="1783739582" sldId="351"/>
        </pc:sldMkLst>
        <pc:picChg chg="del">
          <ac:chgData name="Shashwati Banerjee" userId="cca0c9cfe6801504" providerId="LiveId" clId="{809E6FC2-2873-4F6E-8C53-EE8EAFF6E4C8}" dt="2024-03-04T05:26:03.771" v="151" actId="478"/>
          <ac:picMkLst>
            <pc:docMk/>
            <pc:sldMk cId="1783739582" sldId="351"/>
            <ac:picMk id="4" creationId="{00000000-0000-0000-0000-000000000000}"/>
          </ac:picMkLst>
        </pc:picChg>
      </pc:sldChg>
      <pc:sldChg chg="addSp delSp new del mod">
        <pc:chgData name="Shashwati Banerjee" userId="cca0c9cfe6801504" providerId="LiveId" clId="{809E6FC2-2873-4F6E-8C53-EE8EAFF6E4C8}" dt="2024-03-04T05:19:58.155" v="118" actId="2696"/>
        <pc:sldMkLst>
          <pc:docMk/>
          <pc:sldMk cId="1602204479" sldId="354"/>
        </pc:sldMkLst>
        <pc:spChg chg="add del">
          <ac:chgData name="Shashwati Banerjee" userId="cca0c9cfe6801504" providerId="LiveId" clId="{809E6FC2-2873-4F6E-8C53-EE8EAFF6E4C8}" dt="2024-03-04T05:09:58.661" v="31" actId="22"/>
          <ac:spMkLst>
            <pc:docMk/>
            <pc:sldMk cId="1602204479" sldId="354"/>
            <ac:spMk id="4" creationId="{B93223A7-61E5-38EF-A64D-53DC01DD7FBA}"/>
          </ac:spMkLst>
        </pc:spChg>
      </pc:sldChg>
      <pc:sldChg chg="addSp delSp modSp add mod modClrScheme chgLayout">
        <pc:chgData name="Shashwati Banerjee" userId="cca0c9cfe6801504" providerId="LiveId" clId="{809E6FC2-2873-4F6E-8C53-EE8EAFF6E4C8}" dt="2024-03-04T05:17:17.198" v="62" actId="27636"/>
        <pc:sldMkLst>
          <pc:docMk/>
          <pc:sldMk cId="2122224564" sldId="355"/>
        </pc:sldMkLst>
        <pc:spChg chg="mod ord">
          <ac:chgData name="Shashwati Banerjee" userId="cca0c9cfe6801504" providerId="LiveId" clId="{809E6FC2-2873-4F6E-8C53-EE8EAFF6E4C8}" dt="2024-03-04T05:10:08.590" v="33" actId="27636"/>
          <ac:spMkLst>
            <pc:docMk/>
            <pc:sldMk cId="2122224564" sldId="355"/>
            <ac:spMk id="2" creationId="{880EC755-B500-4969-676E-82D21058FD55}"/>
          </ac:spMkLst>
        </pc:spChg>
        <pc:spChg chg="add mod ord">
          <ac:chgData name="Shashwati Banerjee" userId="cca0c9cfe6801504" providerId="LiveId" clId="{809E6FC2-2873-4F6E-8C53-EE8EAFF6E4C8}" dt="2024-03-04T05:16:51.736" v="56" actId="14100"/>
          <ac:spMkLst>
            <pc:docMk/>
            <pc:sldMk cId="2122224564" sldId="355"/>
            <ac:spMk id="3" creationId="{8D113C8C-A63A-A018-C156-E5F96D24C07E}"/>
          </ac:spMkLst>
        </pc:spChg>
        <pc:spChg chg="add mod ord">
          <ac:chgData name="Shashwati Banerjee" userId="cca0c9cfe6801504" providerId="LiveId" clId="{809E6FC2-2873-4F6E-8C53-EE8EAFF6E4C8}" dt="2024-03-04T05:17:17.198" v="62" actId="27636"/>
          <ac:spMkLst>
            <pc:docMk/>
            <pc:sldMk cId="2122224564" sldId="355"/>
            <ac:spMk id="4" creationId="{EF663F18-70ED-198C-7A20-2319789EDE58}"/>
          </ac:spMkLst>
        </pc:spChg>
        <pc:spChg chg="add del mod ord">
          <ac:chgData name="Shashwati Banerjee" userId="cca0c9cfe6801504" providerId="LiveId" clId="{809E6FC2-2873-4F6E-8C53-EE8EAFF6E4C8}" dt="2024-03-04T05:10:27.186" v="47" actId="478"/>
          <ac:spMkLst>
            <pc:docMk/>
            <pc:sldMk cId="2122224564" sldId="355"/>
            <ac:spMk id="5" creationId="{4891AF77-4C00-D05C-0574-43B222EA58B9}"/>
          </ac:spMkLst>
        </pc:spChg>
      </pc:sldChg>
      <pc:sldChg chg="delSp modSp new mod">
        <pc:chgData name="Shashwati Banerjee" userId="cca0c9cfe6801504" providerId="LiveId" clId="{809E6FC2-2873-4F6E-8C53-EE8EAFF6E4C8}" dt="2024-03-04T05:19:52.404" v="117" actId="14100"/>
        <pc:sldMkLst>
          <pc:docMk/>
          <pc:sldMk cId="3173639102" sldId="356"/>
        </pc:sldMkLst>
        <pc:spChg chg="del">
          <ac:chgData name="Shashwati Banerjee" userId="cca0c9cfe6801504" providerId="LiveId" clId="{809E6FC2-2873-4F6E-8C53-EE8EAFF6E4C8}" dt="2024-03-04T05:19:44.662" v="115" actId="478"/>
          <ac:spMkLst>
            <pc:docMk/>
            <pc:sldMk cId="3173639102" sldId="356"/>
            <ac:spMk id="2" creationId="{8BE134A3-9AFB-E870-D869-13245BB45376}"/>
          </ac:spMkLst>
        </pc:spChg>
        <pc:spChg chg="del">
          <ac:chgData name="Shashwati Banerjee" userId="cca0c9cfe6801504" providerId="LiveId" clId="{809E6FC2-2873-4F6E-8C53-EE8EAFF6E4C8}" dt="2024-03-04T05:19:37.729" v="112" actId="478"/>
          <ac:spMkLst>
            <pc:docMk/>
            <pc:sldMk cId="3173639102" sldId="356"/>
            <ac:spMk id="4" creationId="{83395B41-DD92-F6CD-2AAB-88535BE7D7EE}"/>
          </ac:spMkLst>
        </pc:spChg>
        <pc:spChg chg="mod">
          <ac:chgData name="Shashwati Banerjee" userId="cca0c9cfe6801504" providerId="LiveId" clId="{809E6FC2-2873-4F6E-8C53-EE8EAFF6E4C8}" dt="2024-03-04T05:19:52.404" v="117" actId="14100"/>
          <ac:spMkLst>
            <pc:docMk/>
            <pc:sldMk cId="3173639102" sldId="356"/>
            <ac:spMk id="5" creationId="{93457933-0A8C-C6F9-BACE-0C295E4040B6}"/>
          </ac:spMkLst>
        </pc:spChg>
      </pc:sldChg>
      <pc:sldChg chg="delSp modSp new mod">
        <pc:chgData name="Shashwati Banerjee" userId="cca0c9cfe6801504" providerId="LiveId" clId="{809E6FC2-2873-4F6E-8C53-EE8EAFF6E4C8}" dt="2024-03-04T05:20:52.262" v="130" actId="27636"/>
        <pc:sldMkLst>
          <pc:docMk/>
          <pc:sldMk cId="1747680380" sldId="357"/>
        </pc:sldMkLst>
        <pc:spChg chg="mod">
          <ac:chgData name="Shashwati Banerjee" userId="cca0c9cfe6801504" providerId="LiveId" clId="{809E6FC2-2873-4F6E-8C53-EE8EAFF6E4C8}" dt="2024-03-04T05:20:47.298" v="128" actId="255"/>
          <ac:spMkLst>
            <pc:docMk/>
            <pc:sldMk cId="1747680380" sldId="357"/>
            <ac:spMk id="2" creationId="{D1737D58-82F9-4A19-1F01-678F7F4F09F3}"/>
          </ac:spMkLst>
        </pc:spChg>
        <pc:spChg chg="del">
          <ac:chgData name="Shashwati Banerjee" userId="cca0c9cfe6801504" providerId="LiveId" clId="{809E6FC2-2873-4F6E-8C53-EE8EAFF6E4C8}" dt="2024-03-04T05:20:28.322" v="122" actId="478"/>
          <ac:spMkLst>
            <pc:docMk/>
            <pc:sldMk cId="1747680380" sldId="357"/>
            <ac:spMk id="4" creationId="{149A7FE8-CEB4-D782-2C8B-D796DAA3A35D}"/>
          </ac:spMkLst>
        </pc:spChg>
        <pc:spChg chg="mod">
          <ac:chgData name="Shashwati Banerjee" userId="cca0c9cfe6801504" providerId="LiveId" clId="{809E6FC2-2873-4F6E-8C53-EE8EAFF6E4C8}" dt="2024-03-04T05:20:52.262" v="130" actId="27636"/>
          <ac:spMkLst>
            <pc:docMk/>
            <pc:sldMk cId="1747680380" sldId="357"/>
            <ac:spMk id="5" creationId="{D6496E83-7DA1-EB70-6FA7-1EECD8935930}"/>
          </ac:spMkLst>
        </pc:spChg>
      </pc:sldChg>
      <pc:sldChg chg="addSp modSp new mod modClrScheme chgLayout">
        <pc:chgData name="Shashwati Banerjee" userId="cca0c9cfe6801504" providerId="LiveId" clId="{809E6FC2-2873-4F6E-8C53-EE8EAFF6E4C8}" dt="2024-03-06T09:54:45.458" v="227" actId="27636"/>
        <pc:sldMkLst>
          <pc:docMk/>
          <pc:sldMk cId="3391905889" sldId="358"/>
        </pc:sldMkLst>
        <pc:spChg chg="mod ord">
          <ac:chgData name="Shashwati Banerjee" userId="cca0c9cfe6801504" providerId="LiveId" clId="{809E6FC2-2873-4F6E-8C53-EE8EAFF6E4C8}" dt="2024-03-04T05:24:34.651" v="134" actId="27636"/>
          <ac:spMkLst>
            <pc:docMk/>
            <pc:sldMk cId="3391905889" sldId="358"/>
            <ac:spMk id="2" creationId="{335B1658-EEF2-5670-CADD-EF5989CAD0FE}"/>
          </ac:spMkLst>
        </pc:spChg>
        <pc:spChg chg="add mod ord">
          <ac:chgData name="Shashwati Banerjee" userId="cca0c9cfe6801504" providerId="LiveId" clId="{809E6FC2-2873-4F6E-8C53-EE8EAFF6E4C8}" dt="2024-03-04T05:25:15.517" v="143" actId="123"/>
          <ac:spMkLst>
            <pc:docMk/>
            <pc:sldMk cId="3391905889" sldId="358"/>
            <ac:spMk id="3" creationId="{03B00F49-7023-B858-5C58-C7FEB9FD74E5}"/>
          </ac:spMkLst>
        </pc:spChg>
        <pc:spChg chg="add mod ord">
          <ac:chgData name="Shashwati Banerjee" userId="cca0c9cfe6801504" providerId="LiveId" clId="{809E6FC2-2873-4F6E-8C53-EE8EAFF6E4C8}" dt="2024-03-06T09:54:45.458" v="227" actId="27636"/>
          <ac:spMkLst>
            <pc:docMk/>
            <pc:sldMk cId="3391905889" sldId="358"/>
            <ac:spMk id="4" creationId="{4745183C-8968-7169-A7B8-B963AC4DEA5F}"/>
          </ac:spMkLst>
        </pc:spChg>
      </pc:sldChg>
      <pc:sldChg chg="addSp delSp modSp new mod modClrScheme chgLayout">
        <pc:chgData name="Shashwati Banerjee" userId="cca0c9cfe6801504" providerId="LiveId" clId="{809E6FC2-2873-4F6E-8C53-EE8EAFF6E4C8}" dt="2024-03-06T09:53:41.909" v="223" actId="20577"/>
        <pc:sldMkLst>
          <pc:docMk/>
          <pc:sldMk cId="2335904609" sldId="359"/>
        </pc:sldMkLst>
        <pc:spChg chg="mod ord">
          <ac:chgData name="Shashwati Banerjee" userId="cca0c9cfe6801504" providerId="LiveId" clId="{809E6FC2-2873-4F6E-8C53-EE8EAFF6E4C8}" dt="2024-03-06T09:51:24.754" v="155" actId="27636"/>
          <ac:spMkLst>
            <pc:docMk/>
            <pc:sldMk cId="2335904609" sldId="359"/>
            <ac:spMk id="2" creationId="{975F99C0-FBAB-2FF7-8DCC-AFF918FCF5FB}"/>
          </ac:spMkLst>
        </pc:spChg>
        <pc:spChg chg="add del mod ord">
          <ac:chgData name="Shashwati Banerjee" userId="cca0c9cfe6801504" providerId="LiveId" clId="{809E6FC2-2873-4F6E-8C53-EE8EAFF6E4C8}" dt="2024-03-06T09:51:33.601" v="158" actId="478"/>
          <ac:spMkLst>
            <pc:docMk/>
            <pc:sldMk cId="2335904609" sldId="359"/>
            <ac:spMk id="3" creationId="{8E6FEAA7-CF67-699C-DFE2-7F54999714BE}"/>
          </ac:spMkLst>
        </pc:spChg>
        <pc:spChg chg="add mod ord">
          <ac:chgData name="Shashwati Banerjee" userId="cca0c9cfe6801504" providerId="LiveId" clId="{809E6FC2-2873-4F6E-8C53-EE8EAFF6E4C8}" dt="2024-03-06T09:53:41.909" v="223" actId="20577"/>
          <ac:spMkLst>
            <pc:docMk/>
            <pc:sldMk cId="2335904609" sldId="359"/>
            <ac:spMk id="4" creationId="{21243782-75AF-F57B-762E-A7CE38084E5D}"/>
          </ac:spMkLst>
        </pc:spChg>
      </pc:sldChg>
      <pc:sldChg chg="modSp new mod">
        <pc:chgData name="Shashwati Banerjee" userId="cca0c9cfe6801504" providerId="LiveId" clId="{809E6FC2-2873-4F6E-8C53-EE8EAFF6E4C8}" dt="2024-03-06T09:54:00.503" v="224" actId="207"/>
        <pc:sldMkLst>
          <pc:docMk/>
          <pc:sldMk cId="2110302063" sldId="360"/>
        </pc:sldMkLst>
        <pc:spChg chg="mod">
          <ac:chgData name="Shashwati Banerjee" userId="cca0c9cfe6801504" providerId="LiveId" clId="{809E6FC2-2873-4F6E-8C53-EE8EAFF6E4C8}" dt="2024-03-06T09:54:00.503" v="224" actId="207"/>
          <ac:spMkLst>
            <pc:docMk/>
            <pc:sldMk cId="2110302063" sldId="360"/>
            <ac:spMk id="4" creationId="{DB06C3A9-17CF-0BEA-C101-9B30D7A5143D}"/>
          </ac:spMkLst>
        </pc:spChg>
      </pc:sldChg>
      <pc:sldChg chg="delSp modSp new mod">
        <pc:chgData name="Shashwati Banerjee" userId="cca0c9cfe6801504" providerId="LiveId" clId="{809E6FC2-2873-4F6E-8C53-EE8EAFF6E4C8}" dt="2024-03-06T09:54:54.003" v="231" actId="478"/>
        <pc:sldMkLst>
          <pc:docMk/>
          <pc:sldMk cId="1991825941" sldId="361"/>
        </pc:sldMkLst>
        <pc:spChg chg="del">
          <ac:chgData name="Shashwati Banerjee" userId="cca0c9cfe6801504" providerId="LiveId" clId="{809E6FC2-2873-4F6E-8C53-EE8EAFF6E4C8}" dt="2024-03-06T09:54:54.003" v="231" actId="478"/>
          <ac:spMkLst>
            <pc:docMk/>
            <pc:sldMk cId="1991825941" sldId="361"/>
            <ac:spMk id="2" creationId="{A87BA8DF-13F4-CEB4-CF3A-BC88EB1A00EE}"/>
          </ac:spMkLst>
        </pc:spChg>
        <pc:spChg chg="mod">
          <ac:chgData name="Shashwati Banerjee" userId="cca0c9cfe6801504" providerId="LiveId" clId="{809E6FC2-2873-4F6E-8C53-EE8EAFF6E4C8}" dt="2024-03-06T09:54:51.079" v="230" actId="27636"/>
          <ac:spMkLst>
            <pc:docMk/>
            <pc:sldMk cId="1991825941" sldId="361"/>
            <ac:spMk id="4" creationId="{E6452B63-FB7D-76E9-85B5-634EE3B857B9}"/>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5C63B73-1AB8-4523-AFC8-9E33F6D96359}" type="datetimeFigureOut">
              <a:rPr lang="en-US" smtClean="0"/>
              <a:t>9/11/2026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38524D9-AA07-4126-9D12-1B97E8281F4A}" type="slidenum">
              <a:rPr lang="en-US" smtClean="0"/>
              <a:t>‹#›</a:t>
            </a:fld>
            <a:endParaRPr lang="en-US"/>
          </a:p>
        </p:txBody>
      </p:sp>
    </p:spTree>
    <p:extLst>
      <p:ext uri="{BB962C8B-B14F-4D97-AF65-F5344CB8AC3E}">
        <p14:creationId xmlns:p14="http://schemas.microsoft.com/office/powerpoint/2010/main" val="162184372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C8BA065-9DAB-4FFB-9134-A463EBB77E67}" type="datetimeFigureOut">
              <a:rPr lang="en-GB" smtClean="0"/>
              <a:pPr/>
              <a:t>11/09/2026</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033EBFA-295C-4890-A491-AC49F8B29C07}" type="slidenum">
              <a:rPr lang="en-GB" smtClean="0"/>
              <a:pPr/>
              <a:t>‹#›</a:t>
            </a:fld>
            <a:endParaRPr lang="en-GB"/>
          </a:p>
        </p:txBody>
      </p:sp>
    </p:spTree>
    <p:extLst>
      <p:ext uri="{BB962C8B-B14F-4D97-AF65-F5344CB8AC3E}">
        <p14:creationId xmlns:p14="http://schemas.microsoft.com/office/powerpoint/2010/main" val="75274468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033EBFA-295C-4890-A491-AC49F8B29C07}" type="slidenum">
              <a:rPr lang="en-GB" smtClean="0"/>
              <a:pPr/>
              <a:t>1</a:t>
            </a:fld>
            <a:endParaRPr lang="en-GB"/>
          </a:p>
        </p:txBody>
      </p:sp>
    </p:spTree>
    <p:extLst>
      <p:ext uri="{BB962C8B-B14F-4D97-AF65-F5344CB8AC3E}">
        <p14:creationId xmlns:p14="http://schemas.microsoft.com/office/powerpoint/2010/main" val="8819295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033EBFA-295C-4890-A491-AC49F8B29C07}" type="slidenum">
              <a:rPr lang="en-GB" smtClean="0"/>
              <a:pPr/>
              <a:t>6</a:t>
            </a:fld>
            <a:endParaRPr lang="en-GB"/>
          </a:p>
        </p:txBody>
      </p:sp>
    </p:spTree>
    <p:extLst>
      <p:ext uri="{BB962C8B-B14F-4D97-AF65-F5344CB8AC3E}">
        <p14:creationId xmlns:p14="http://schemas.microsoft.com/office/powerpoint/2010/main" val="15291921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033EBFA-295C-4890-A491-AC49F8B29C07}" type="slidenum">
              <a:rPr lang="en-GB" smtClean="0"/>
              <a:pPr/>
              <a:t>14</a:t>
            </a:fld>
            <a:endParaRPr lang="en-GB"/>
          </a:p>
        </p:txBody>
      </p:sp>
    </p:spTree>
    <p:extLst>
      <p:ext uri="{BB962C8B-B14F-4D97-AF65-F5344CB8AC3E}">
        <p14:creationId xmlns:p14="http://schemas.microsoft.com/office/powerpoint/2010/main" val="16756728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033EBFA-295C-4890-A491-AC49F8B29C07}" type="slidenum">
              <a:rPr lang="en-GB" smtClean="0"/>
              <a:pPr/>
              <a:t>35</a:t>
            </a:fld>
            <a:endParaRPr lang="en-GB"/>
          </a:p>
        </p:txBody>
      </p:sp>
    </p:spTree>
    <p:extLst>
      <p:ext uri="{BB962C8B-B14F-4D97-AF65-F5344CB8AC3E}">
        <p14:creationId xmlns:p14="http://schemas.microsoft.com/office/powerpoint/2010/main" val="24908614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033EBFA-295C-4890-A491-AC49F8B29C07}" type="slidenum">
              <a:rPr lang="en-GB" smtClean="0"/>
              <a:pPr/>
              <a:t>36</a:t>
            </a:fld>
            <a:endParaRPr lang="en-GB"/>
          </a:p>
        </p:txBody>
      </p:sp>
    </p:spTree>
    <p:extLst>
      <p:ext uri="{BB962C8B-B14F-4D97-AF65-F5344CB8AC3E}">
        <p14:creationId xmlns:p14="http://schemas.microsoft.com/office/powerpoint/2010/main" val="29036263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READING ASSIGNMENT</a:t>
            </a:r>
          </a:p>
        </p:txBody>
      </p:sp>
      <p:sp>
        <p:nvSpPr>
          <p:cNvPr id="4" name="Slide Number Placeholder 3"/>
          <p:cNvSpPr>
            <a:spLocks noGrp="1"/>
          </p:cNvSpPr>
          <p:nvPr>
            <p:ph type="sldNum" sz="quarter" idx="10"/>
          </p:nvPr>
        </p:nvSpPr>
        <p:spPr/>
        <p:txBody>
          <a:bodyPr/>
          <a:lstStyle/>
          <a:p>
            <a:fld id="{1033EBFA-295C-4890-A491-AC49F8B29C07}" type="slidenum">
              <a:rPr lang="en-GB" smtClean="0"/>
              <a:pPr/>
              <a:t>43</a:t>
            </a:fld>
            <a:endParaRPr lang="en-GB"/>
          </a:p>
        </p:txBody>
      </p:sp>
    </p:spTree>
    <p:extLst>
      <p:ext uri="{BB962C8B-B14F-4D97-AF65-F5344CB8AC3E}">
        <p14:creationId xmlns:p14="http://schemas.microsoft.com/office/powerpoint/2010/main" val="20135860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A4947678-1DD8-4337-86A4-F04EEEDC263D}" type="datetime1">
              <a:rPr lang="en-US" smtClean="0"/>
              <a:t>9/11/2026</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9AC237B3-37CC-41C7-9D51-E25BA875E740}" type="datetime1">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fld id="{E2395086-EB87-4FBB-BC28-48DEEFED4F07}" type="datetime1">
              <a:rPr lang="en-US" smtClean="0"/>
              <a:t>9/11/2026</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fld id="{F5AE947A-AA89-4EFD-8700-BBF3854CF34A}" type="datetime1">
              <a:rPr lang="en-US" smtClean="0"/>
              <a:t>9/11/2026</a:t>
            </a:fld>
            <a:endParaRPr lang="en-US"/>
          </a:p>
        </p:txBody>
      </p:sp>
      <p:sp>
        <p:nvSpPr>
          <p:cNvPr id="10" name="Slide Number Placeholder 9"/>
          <p:cNvSpPr>
            <a:spLocks noGrp="1"/>
          </p:cNvSpPr>
          <p:nvPr>
            <p:ph type="sldNum" sz="quarter" idx="16"/>
          </p:nvPr>
        </p:nvSpPr>
        <p:spPr/>
        <p:txBody>
          <a:bodyPr rtlCol="0"/>
          <a:lstStyle/>
          <a:p>
            <a:fld id="{B6F15528-21DE-4FAA-801E-634DDDAF4B2B}"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fld id="{0836E1BC-D7E9-47C2-AEE6-350076E9C3C0}" type="datetime1">
              <a:rPr lang="en-US" smtClean="0"/>
              <a:t>9/11/2026</a:t>
            </a:fld>
            <a:endParaRPr lang="en-US"/>
          </a:p>
        </p:txBody>
      </p:sp>
      <p:sp>
        <p:nvSpPr>
          <p:cNvPr id="12" name="Slide Number Placeholder 11"/>
          <p:cNvSpPr>
            <a:spLocks noGrp="1"/>
          </p:cNvSpPr>
          <p:nvPr>
            <p:ph type="sldNum" sz="quarter" idx="16"/>
          </p:nvPr>
        </p:nvSpPr>
        <p:spPr/>
        <p:txBody>
          <a:bodyPr rtlCol="0"/>
          <a:lstStyle/>
          <a:p>
            <a:fld id="{B6F15528-21DE-4FAA-801E-634DDDAF4B2B}"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6A644C53-921F-49D8-A02B-CC2001134FD5}" type="datetime1">
              <a:rPr lang="en-US" smtClean="0"/>
              <a:t>9/11/2026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2B6821-9767-4C8F-9BB1-7E376D90F130}" type="datetime1">
              <a:rPr lang="en-US" smtClean="0"/>
              <a:t>9/11/2026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fld id="{4C191394-6A7D-40B1-83C6-92FE23F311EB}" type="datetime1">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3FB968AB-6B28-419B-8E00-F8EC30D5BC5C}" type="datetime1">
              <a:rPr lang="en-US" smtClean="0"/>
              <a:t>9/11/2026</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7A96B62-8FB6-4A6A-ABCA-BC991C6F574E}" type="datetime1">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28ED4F3B-9AFB-42B6-9C84-8A96FDE905C1}" type="datetime1">
              <a:rPr lang="en-US" smtClean="0"/>
              <a:t>9/11/2026</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BB6FAE3C-A6DA-4AE7-817D-C514E362CF02}" type="datetime1">
              <a:rPr lang="en-US" smtClean="0"/>
              <a:t>9/11/2026</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hf hdr="0" ftr="0" dt="0"/>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 y="533400"/>
            <a:ext cx="8839200" cy="523220"/>
          </a:xfrm>
          <a:prstGeom prst="rect">
            <a:avLst/>
          </a:prstGeom>
          <a:noFill/>
        </p:spPr>
        <p:txBody>
          <a:bodyPr wrap="square" rtlCol="0">
            <a:spAutoFit/>
          </a:bodyPr>
          <a:lstStyle/>
          <a:p>
            <a:pPr algn="ctr"/>
            <a:r>
              <a:rPr lang="en-US" sz="2800" b="1" dirty="0"/>
              <a:t>PRINCIPLES OF MANAGEMENT</a:t>
            </a: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76600" y="2513579"/>
            <a:ext cx="3263053" cy="3277621"/>
          </a:xfrm>
          <a:prstGeom prst="rect">
            <a:avLst/>
          </a:prstGeom>
          <a:ln>
            <a:noFill/>
          </a:ln>
        </p:spPr>
      </p:pic>
      <p:sp>
        <p:nvSpPr>
          <p:cNvPr id="10" name="Slide Number Placeholder 9"/>
          <p:cNvSpPr>
            <a:spLocks noGrp="1"/>
          </p:cNvSpPr>
          <p:nvPr>
            <p:ph type="sldNum" sz="quarter" idx="12"/>
          </p:nvPr>
        </p:nvSpPr>
        <p:spPr/>
        <p:txBody>
          <a:bodyPr>
            <a:normAutofit fontScale="85000" lnSpcReduction="20000"/>
          </a:bodyPr>
          <a:lstStyle/>
          <a:p>
            <a:fld id="{B6F15528-21DE-4FAA-801E-634DDDAF4B2B}"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content</a:t>
            </a:r>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2</a:t>
            </a:fld>
            <a:endParaRPr lang="en-US"/>
          </a:p>
        </p:txBody>
      </p:sp>
      <p:sp>
        <p:nvSpPr>
          <p:cNvPr id="4" name="Content Placeholder 3"/>
          <p:cNvSpPr>
            <a:spLocks noGrp="1"/>
          </p:cNvSpPr>
          <p:nvPr>
            <p:ph sz="quarter" idx="1"/>
          </p:nvPr>
        </p:nvSpPr>
        <p:spPr>
          <a:xfrm>
            <a:off x="612648" y="1600200"/>
            <a:ext cx="8153400" cy="5029200"/>
          </a:xfrm>
        </p:spPr>
        <p:txBody>
          <a:bodyPr>
            <a:normAutofit/>
          </a:bodyPr>
          <a:lstStyle/>
          <a:p>
            <a:pPr marL="0" indent="0" algn="just">
              <a:buClrTx/>
              <a:buSzPct val="100000"/>
              <a:buNone/>
            </a:pPr>
            <a:endParaRPr lang="en-US" b="1" dirty="0">
              <a:solidFill>
                <a:srgbClr val="FF0000"/>
              </a:solidFill>
              <a:latin typeface="Times New Roman" pitchFamily="18" charset="0"/>
              <a:cs typeface="Times New Roman" pitchFamily="18" charset="0"/>
            </a:endParaRPr>
          </a:p>
          <a:p>
            <a:pPr marL="0" indent="0">
              <a:buNone/>
            </a:pP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1616242840"/>
              </p:ext>
            </p:extLst>
          </p:nvPr>
        </p:nvGraphicFramePr>
        <p:xfrm>
          <a:off x="1031748" y="2232649"/>
          <a:ext cx="7315200" cy="3887005"/>
        </p:xfrm>
        <a:graphic>
          <a:graphicData uri="http://schemas.openxmlformats.org/drawingml/2006/table">
            <a:tbl>
              <a:tblPr>
                <a:tableStyleId>{5C22544A-7EE6-4342-B048-85BDC9FD1C3A}</a:tableStyleId>
              </a:tblPr>
              <a:tblGrid>
                <a:gridCol w="422670">
                  <a:extLst>
                    <a:ext uri="{9D8B030D-6E8A-4147-A177-3AD203B41FA5}">
                      <a16:colId xmlns:a16="http://schemas.microsoft.com/office/drawing/2014/main" val="20000"/>
                    </a:ext>
                  </a:extLst>
                </a:gridCol>
                <a:gridCol w="5945875">
                  <a:extLst>
                    <a:ext uri="{9D8B030D-6E8A-4147-A177-3AD203B41FA5}">
                      <a16:colId xmlns:a16="http://schemas.microsoft.com/office/drawing/2014/main" val="20001"/>
                    </a:ext>
                  </a:extLst>
                </a:gridCol>
                <a:gridCol w="946655">
                  <a:extLst>
                    <a:ext uri="{9D8B030D-6E8A-4147-A177-3AD203B41FA5}">
                      <a16:colId xmlns:a16="http://schemas.microsoft.com/office/drawing/2014/main" val="20002"/>
                    </a:ext>
                  </a:extLst>
                </a:gridCol>
              </a:tblGrid>
              <a:tr h="281875">
                <a:tc>
                  <a:txBody>
                    <a:bodyPr/>
                    <a:lstStyle/>
                    <a:p>
                      <a:pPr>
                        <a:spcAft>
                          <a:spcPts val="0"/>
                        </a:spcAft>
                      </a:pPr>
                      <a:r>
                        <a:rPr lang="en-IN" sz="2000" dirty="0">
                          <a:effectLst/>
                          <a:latin typeface="Times New Roman" panose="02020603050405020304" pitchFamily="18" charset="0"/>
                          <a:cs typeface="Times New Roman" panose="02020603050405020304" pitchFamily="18" charset="0"/>
                        </a:rPr>
                        <a:t>1</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IN" sz="2000" b="1" dirty="0">
                          <a:effectLst/>
                          <a:latin typeface="Times New Roman" panose="02020603050405020304" pitchFamily="18" charset="0"/>
                          <a:cs typeface="Times New Roman" panose="02020603050405020304" pitchFamily="18" charset="0"/>
                        </a:rPr>
                        <a:t>Introduction to Management </a:t>
                      </a:r>
                      <a:endPar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2000">
                          <a:effectLst/>
                          <a:latin typeface="Times New Roman" panose="02020603050405020304" pitchFamily="18" charset="0"/>
                          <a:cs typeface="Times New Roman" panose="02020603050405020304" pitchFamily="18" charset="0"/>
                        </a:rPr>
                        <a:t>01</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281875">
                <a:tc>
                  <a:txBody>
                    <a:bodyPr/>
                    <a:lstStyle/>
                    <a:p>
                      <a:pPr>
                        <a:spcAft>
                          <a:spcPts val="0"/>
                        </a:spcAft>
                      </a:pPr>
                      <a:r>
                        <a:rPr lang="en-IN" sz="2000">
                          <a:effectLst/>
                          <a:latin typeface="Times New Roman" panose="02020603050405020304" pitchFamily="18" charset="0"/>
                          <a:cs typeface="Times New Roman" panose="02020603050405020304" pitchFamily="18" charset="0"/>
                        </a:rPr>
                        <a:t>2</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IN" sz="2000" b="1" dirty="0">
                          <a:effectLst/>
                          <a:latin typeface="Times New Roman" panose="02020603050405020304" pitchFamily="18" charset="0"/>
                          <a:cs typeface="Times New Roman" panose="02020603050405020304" pitchFamily="18" charset="0"/>
                        </a:rPr>
                        <a:t>Need for Management</a:t>
                      </a:r>
                      <a:endPar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2000">
                          <a:effectLst/>
                          <a:latin typeface="Times New Roman" panose="02020603050405020304" pitchFamily="18" charset="0"/>
                          <a:cs typeface="Times New Roman" panose="02020603050405020304" pitchFamily="18" charset="0"/>
                        </a:rPr>
                        <a:t>02</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281875">
                <a:tc>
                  <a:txBody>
                    <a:bodyPr/>
                    <a:lstStyle/>
                    <a:p>
                      <a:pPr>
                        <a:spcAft>
                          <a:spcPts val="0"/>
                        </a:spcAft>
                      </a:pPr>
                      <a:r>
                        <a:rPr lang="en-IN" sz="2000">
                          <a:effectLst/>
                          <a:latin typeface="Times New Roman" panose="02020603050405020304" pitchFamily="18" charset="0"/>
                          <a:cs typeface="Times New Roman" panose="02020603050405020304" pitchFamily="18" charset="0"/>
                        </a:rPr>
                        <a:t>3</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IN" sz="2000" dirty="0">
                          <a:effectLst/>
                          <a:latin typeface="Times New Roman" panose="02020603050405020304" pitchFamily="18" charset="0"/>
                          <a:cs typeface="Times New Roman" panose="02020603050405020304" pitchFamily="18" charset="0"/>
                        </a:rPr>
                        <a:t>Various types of Management styles</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2000">
                          <a:effectLst/>
                          <a:latin typeface="Times New Roman" panose="02020603050405020304" pitchFamily="18" charset="0"/>
                          <a:cs typeface="Times New Roman" panose="02020603050405020304" pitchFamily="18" charset="0"/>
                        </a:rPr>
                        <a:t>03</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662951">
                <a:tc>
                  <a:txBody>
                    <a:bodyPr/>
                    <a:lstStyle/>
                    <a:p>
                      <a:pPr>
                        <a:spcAft>
                          <a:spcPts val="0"/>
                        </a:spcAft>
                      </a:pPr>
                      <a:r>
                        <a:rPr lang="en-IN" sz="2000">
                          <a:effectLst/>
                          <a:latin typeface="Times New Roman" panose="02020603050405020304" pitchFamily="18" charset="0"/>
                          <a:cs typeface="Times New Roman" panose="02020603050405020304" pitchFamily="18" charset="0"/>
                        </a:rPr>
                        <a:t>4</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IN" sz="2000" dirty="0">
                          <a:effectLst/>
                          <a:latin typeface="Times New Roman" panose="02020603050405020304" pitchFamily="18" charset="0"/>
                          <a:cs typeface="Times New Roman" panose="02020603050405020304" pitchFamily="18" charset="0"/>
                        </a:rPr>
                        <a:t>Vision, Mission, Corporate Objectives, various types of Corporate Strategies</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2000">
                          <a:effectLst/>
                          <a:latin typeface="Times New Roman" panose="02020603050405020304" pitchFamily="18" charset="0"/>
                          <a:cs typeface="Times New Roman" panose="02020603050405020304" pitchFamily="18" charset="0"/>
                        </a:rPr>
                        <a:t>02</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281875">
                <a:tc>
                  <a:txBody>
                    <a:bodyPr/>
                    <a:lstStyle/>
                    <a:p>
                      <a:pPr>
                        <a:spcAft>
                          <a:spcPts val="0"/>
                        </a:spcAft>
                      </a:pPr>
                      <a:r>
                        <a:rPr lang="en-IN" sz="2000">
                          <a:effectLst/>
                          <a:latin typeface="Times New Roman" panose="02020603050405020304" pitchFamily="18" charset="0"/>
                          <a:cs typeface="Times New Roman" panose="02020603050405020304" pitchFamily="18" charset="0"/>
                        </a:rPr>
                        <a:t>5</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IN" sz="2000" dirty="0">
                          <a:effectLst/>
                          <a:latin typeface="Times New Roman" panose="02020603050405020304" pitchFamily="18" charset="0"/>
                          <a:cs typeface="Times New Roman" panose="02020603050405020304" pitchFamily="18" charset="0"/>
                        </a:rPr>
                        <a:t>Business level strategies and its importance</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2000">
                          <a:effectLst/>
                          <a:latin typeface="Times New Roman" panose="02020603050405020304" pitchFamily="18" charset="0"/>
                          <a:cs typeface="Times New Roman" panose="02020603050405020304" pitchFamily="18" charset="0"/>
                        </a:rPr>
                        <a:t>02</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563749">
                <a:tc>
                  <a:txBody>
                    <a:bodyPr/>
                    <a:lstStyle/>
                    <a:p>
                      <a:pPr>
                        <a:spcAft>
                          <a:spcPts val="0"/>
                        </a:spcAft>
                      </a:pPr>
                      <a:r>
                        <a:rPr lang="en-IN" sz="2000">
                          <a:effectLst/>
                          <a:latin typeface="Times New Roman" panose="02020603050405020304" pitchFamily="18" charset="0"/>
                          <a:cs typeface="Times New Roman" panose="02020603050405020304" pitchFamily="18" charset="0"/>
                        </a:rPr>
                        <a:t>6</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IN" sz="2000" dirty="0">
                          <a:effectLst/>
                          <a:latin typeface="Times New Roman" panose="02020603050405020304" pitchFamily="18" charset="0"/>
                          <a:cs typeface="Times New Roman" panose="02020603050405020304" pitchFamily="18" charset="0"/>
                        </a:rPr>
                        <a:t>Functional level strategies and its importance in creating value for the customer.</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20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281875">
                <a:tc>
                  <a:txBody>
                    <a:bodyPr/>
                    <a:lstStyle/>
                    <a:p>
                      <a:pPr>
                        <a:spcAft>
                          <a:spcPts val="0"/>
                        </a:spcAft>
                      </a:pPr>
                      <a:r>
                        <a:rPr lang="en-IN" sz="2000">
                          <a:effectLst/>
                          <a:latin typeface="Times New Roman" panose="02020603050405020304" pitchFamily="18" charset="0"/>
                          <a:cs typeface="Times New Roman" panose="02020603050405020304" pitchFamily="18" charset="0"/>
                        </a:rPr>
                        <a:t>7</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IN" sz="2000" dirty="0">
                          <a:effectLst/>
                          <a:latin typeface="Times New Roman" panose="02020603050405020304" pitchFamily="18" charset="0"/>
                          <a:cs typeface="Times New Roman" panose="02020603050405020304" pitchFamily="18" charset="0"/>
                        </a:rPr>
                        <a:t>Communication Process</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2000">
                          <a:effectLst/>
                          <a:latin typeface="Times New Roman" panose="02020603050405020304" pitchFamily="18" charset="0"/>
                          <a:cs typeface="Times New Roman" panose="02020603050405020304" pitchFamily="18" charset="0"/>
                        </a:rPr>
                        <a:t>02</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6"/>
                  </a:ext>
                </a:extLst>
              </a:tr>
              <a:tr h="563749">
                <a:tc>
                  <a:txBody>
                    <a:bodyPr/>
                    <a:lstStyle/>
                    <a:p>
                      <a:pPr>
                        <a:spcAft>
                          <a:spcPts val="0"/>
                        </a:spcAft>
                      </a:pPr>
                      <a:r>
                        <a:rPr lang="en-IN" sz="2000">
                          <a:effectLst/>
                          <a:latin typeface="Times New Roman" panose="02020603050405020304" pitchFamily="18" charset="0"/>
                          <a:cs typeface="Times New Roman" panose="02020603050405020304" pitchFamily="18" charset="0"/>
                        </a:rPr>
                        <a:t>8</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spcAft>
                          <a:spcPts val="0"/>
                        </a:spcAft>
                      </a:pPr>
                      <a:r>
                        <a:rPr lang="en-IN" sz="2000" dirty="0">
                          <a:effectLst/>
                          <a:latin typeface="Times New Roman" panose="02020603050405020304" pitchFamily="18" charset="0"/>
                          <a:cs typeface="Times New Roman" panose="02020603050405020304" pitchFamily="18" charset="0"/>
                        </a:rPr>
                        <a:t>Development of cases by students; Corporate Planning and implementation requirements. </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2000">
                          <a:effectLst/>
                          <a:latin typeface="Times New Roman" panose="02020603050405020304" pitchFamily="18" charset="0"/>
                          <a:cs typeface="Times New Roman" panose="02020603050405020304" pitchFamily="18" charset="0"/>
                        </a:rPr>
                        <a:t>02</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7"/>
                  </a:ext>
                </a:extLst>
              </a:tr>
              <a:tr h="480854">
                <a:tc>
                  <a:txBody>
                    <a:bodyPr/>
                    <a:lstStyle/>
                    <a:p>
                      <a:pPr>
                        <a:spcAft>
                          <a:spcPts val="0"/>
                        </a:spcAft>
                      </a:pPr>
                      <a:r>
                        <a:rPr lang="en-IN" sz="20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3657600">
                        <a:spcAft>
                          <a:spcPts val="0"/>
                        </a:spcAft>
                      </a:pPr>
                      <a:r>
                        <a:rPr lang="en-IN" sz="2000" dirty="0">
                          <a:effectLst/>
                          <a:latin typeface="Times New Roman" panose="02020603050405020304" pitchFamily="18" charset="0"/>
                          <a:cs typeface="Times New Roman" panose="02020603050405020304" pitchFamily="18" charset="0"/>
                        </a:rPr>
                        <a:t>Total : </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en-IN" sz="2000" dirty="0">
                          <a:effectLst/>
                          <a:latin typeface="Times New Roman" panose="02020603050405020304" pitchFamily="18" charset="0"/>
                          <a:cs typeface="Times New Roman" panose="02020603050405020304" pitchFamily="18" charset="0"/>
                        </a:rPr>
                        <a:t>14 hrs.</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8"/>
                  </a:ext>
                </a:extLst>
              </a:tr>
            </a:tbl>
          </a:graphicData>
        </a:graphic>
      </p:graphicFrame>
      <p:sp>
        <p:nvSpPr>
          <p:cNvPr id="6" name="Rectangle 1"/>
          <p:cNvSpPr>
            <a:spLocks noChangeArrowheads="1"/>
          </p:cNvSpPr>
          <p:nvPr/>
        </p:nvSpPr>
        <p:spPr bwMode="auto">
          <a:xfrm>
            <a:off x="1371600" y="1584068"/>
            <a:ext cx="6705600"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1" i="0" u="sng" strike="noStrike" cap="none" normalizeH="0" baseline="0" dirty="0">
                <a:ln>
                  <a:noFill/>
                </a:ln>
                <a:solidFill>
                  <a:schemeClr val="tx1"/>
                </a:solidFill>
                <a:effectLst/>
                <a:latin typeface="Arial" panose="020B0604020202020204" pitchFamily="34" charset="0"/>
                <a:ea typeface="Times New Roman" panose="02020603050405020304" pitchFamily="18" charset="0"/>
              </a:rPr>
              <a:t>MANAGEMENT ( 3</a:t>
            </a:r>
            <a:r>
              <a:rPr kumimoji="0" lang="en-US" sz="2400" b="1" i="0" u="sng" strike="noStrike" cap="none" normalizeH="0" baseline="30000" dirty="0">
                <a:ln>
                  <a:noFill/>
                </a:ln>
                <a:solidFill>
                  <a:schemeClr val="tx1"/>
                </a:solidFill>
                <a:effectLst/>
                <a:latin typeface="Arial" panose="020B0604020202020204" pitchFamily="34" charset="0"/>
                <a:ea typeface="Times New Roman" panose="02020603050405020304" pitchFamily="18" charset="0"/>
              </a:rPr>
              <a:t>rd</a:t>
            </a:r>
            <a:r>
              <a:rPr kumimoji="0" lang="en-US" sz="2400" b="1" i="0" u="sng" strike="noStrike" cap="none" normalizeH="0" baseline="0" dirty="0">
                <a:ln>
                  <a:noFill/>
                </a:ln>
                <a:solidFill>
                  <a:schemeClr val="tx1"/>
                </a:solidFill>
                <a:effectLst/>
                <a:latin typeface="Arial" panose="020B0604020202020204" pitchFamily="34" charset="0"/>
                <a:ea typeface="Times New Roman" panose="02020603050405020304" pitchFamily="18" charset="0"/>
              </a:rPr>
              <a:t>  Module ) [ 1 credit ]</a:t>
            </a:r>
            <a:endParaRPr kumimoji="0" 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154330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8686800" cy="990600"/>
          </a:xfrm>
        </p:spPr>
        <p:txBody>
          <a:bodyPr/>
          <a:lstStyle/>
          <a:p>
            <a:r>
              <a:rPr lang="en-US" dirty="0">
                <a:solidFill>
                  <a:schemeClr val="tx1"/>
                </a:solidFill>
              </a:rPr>
              <a:t>Management - Introduction</a:t>
            </a:r>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3</a:t>
            </a:fld>
            <a:endParaRPr lang="en-US"/>
          </a:p>
        </p:txBody>
      </p:sp>
      <p:sp>
        <p:nvSpPr>
          <p:cNvPr id="5" name="Rectangle 4"/>
          <p:cNvSpPr/>
          <p:nvPr/>
        </p:nvSpPr>
        <p:spPr>
          <a:xfrm>
            <a:off x="533400" y="1600200"/>
            <a:ext cx="8153400" cy="4154984"/>
          </a:xfrm>
          <a:prstGeom prst="rect">
            <a:avLst/>
          </a:prstGeom>
        </p:spPr>
        <p:txBody>
          <a:bodyPr wrap="square">
            <a:spAutoFit/>
          </a:bodyPr>
          <a:lstStyle/>
          <a:p>
            <a:pPr marL="342900" indent="-342900" algn="just">
              <a:buFont typeface="Wingdings" pitchFamily="2" charset="2"/>
              <a:buChar char="Ø"/>
            </a:pPr>
            <a:r>
              <a:rPr lang="en-US" sz="2400" dirty="0">
                <a:latin typeface="Times New Roman" pitchFamily="18" charset="0"/>
                <a:cs typeface="Times New Roman" pitchFamily="18" charset="0"/>
              </a:rPr>
              <a:t>Management is a vital aspect of the economic life of man, which is an </a:t>
            </a:r>
            <a:r>
              <a:rPr lang="en-US" sz="2400" dirty="0" err="1">
                <a:latin typeface="Times New Roman" pitchFamily="18" charset="0"/>
                <a:cs typeface="Times New Roman" pitchFamily="18" charset="0"/>
              </a:rPr>
              <a:t>organised</a:t>
            </a:r>
            <a:r>
              <a:rPr lang="en-US" sz="2400" dirty="0">
                <a:latin typeface="Times New Roman" pitchFamily="18" charset="0"/>
                <a:cs typeface="Times New Roman" pitchFamily="18" charset="0"/>
              </a:rPr>
              <a:t> group activity.</a:t>
            </a:r>
          </a:p>
          <a:p>
            <a:pPr marL="342900" indent="-342900" algn="just">
              <a:buFont typeface="Wingdings" pitchFamily="2" charset="2"/>
              <a:buChar char="Ø"/>
            </a:pPr>
            <a:endParaRPr lang="en-US" sz="2400" dirty="0">
              <a:latin typeface="Times New Roman" pitchFamily="18" charset="0"/>
              <a:cs typeface="Times New Roman" pitchFamily="18" charset="0"/>
            </a:endParaRPr>
          </a:p>
          <a:p>
            <a:pPr marL="342900" indent="-342900" algn="just">
              <a:buFont typeface="Wingdings" pitchFamily="2" charset="2"/>
              <a:buChar char="Ø"/>
            </a:pPr>
            <a:endParaRPr lang="en-US" sz="2400" dirty="0">
              <a:latin typeface="Times New Roman" pitchFamily="18" charset="0"/>
              <a:cs typeface="Times New Roman" pitchFamily="18" charset="0"/>
            </a:endParaRPr>
          </a:p>
          <a:p>
            <a:pPr marL="342900" indent="-342900" algn="just">
              <a:buFont typeface="Wingdings" pitchFamily="2" charset="2"/>
              <a:buChar char="Ø"/>
            </a:pPr>
            <a:endParaRPr lang="en-US" sz="2400" dirty="0">
              <a:latin typeface="Times New Roman" pitchFamily="18" charset="0"/>
              <a:cs typeface="Times New Roman" pitchFamily="18" charset="0"/>
            </a:endParaRPr>
          </a:p>
          <a:p>
            <a:pPr algn="just"/>
            <a:endParaRPr lang="en-US" sz="2400" dirty="0">
              <a:latin typeface="Times New Roman" pitchFamily="18" charset="0"/>
              <a:cs typeface="Times New Roman" pitchFamily="18" charset="0"/>
            </a:endParaRPr>
          </a:p>
          <a:p>
            <a:pPr marL="342900" indent="-342900" algn="just">
              <a:buFont typeface="Wingdings" pitchFamily="2" charset="2"/>
              <a:buChar char="Ø"/>
            </a:pPr>
            <a:r>
              <a:rPr lang="en-US" sz="2400" dirty="0">
                <a:latin typeface="Times New Roman" pitchFamily="18" charset="0"/>
                <a:cs typeface="Times New Roman" pitchFamily="18" charset="0"/>
              </a:rPr>
              <a:t>A central directing and controlling agency is indispensable for a business concern.</a:t>
            </a:r>
          </a:p>
          <a:p>
            <a:pPr marL="342900" indent="-342900" algn="just">
              <a:buFont typeface="Wingdings" pitchFamily="2" charset="2"/>
              <a:buChar char="Ø"/>
            </a:pPr>
            <a:endParaRPr lang="en-US" sz="2400" dirty="0">
              <a:latin typeface="Times New Roman" pitchFamily="18" charset="0"/>
              <a:cs typeface="Times New Roman" pitchFamily="18" charset="0"/>
            </a:endParaRPr>
          </a:p>
          <a:p>
            <a:pPr algn="just"/>
            <a:endParaRPr lang="en-US" sz="2400" dirty="0">
              <a:latin typeface="Times New Roman" pitchFamily="18" charset="0"/>
              <a:cs typeface="Times New Roman" pitchFamily="18" charset="0"/>
            </a:endParaRPr>
          </a:p>
          <a:p>
            <a:pPr algn="just"/>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31108878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4</a:t>
            </a:fld>
            <a:endParaRPr lang="en-US"/>
          </a:p>
        </p:txBody>
      </p:sp>
      <p:pic>
        <p:nvPicPr>
          <p:cNvPr id="3" name="Picture 2"/>
          <p:cNvPicPr>
            <a:picLocks noChangeAspect="1"/>
          </p:cNvPicPr>
          <p:nvPr/>
        </p:nvPicPr>
        <p:blipFill>
          <a:blip r:embed="rId2"/>
          <a:stretch>
            <a:fillRect/>
          </a:stretch>
        </p:blipFill>
        <p:spPr>
          <a:xfrm>
            <a:off x="0" y="0"/>
            <a:ext cx="9055049" cy="6858000"/>
          </a:xfrm>
          <a:prstGeom prst="rect">
            <a:avLst/>
          </a:prstGeom>
        </p:spPr>
      </p:pic>
      <p:sp>
        <p:nvSpPr>
          <p:cNvPr id="4" name="Rectangle 3"/>
          <p:cNvSpPr/>
          <p:nvPr/>
        </p:nvSpPr>
        <p:spPr>
          <a:xfrm>
            <a:off x="3352800" y="6019800"/>
            <a:ext cx="205740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140786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8686800" cy="990600"/>
          </a:xfrm>
        </p:spPr>
        <p:txBody>
          <a:bodyPr/>
          <a:lstStyle/>
          <a:p>
            <a:r>
              <a:rPr lang="en-US" dirty="0">
                <a:solidFill>
                  <a:schemeClr val="tx1"/>
                </a:solidFill>
              </a:rPr>
              <a:t>Management - Definition</a:t>
            </a:r>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5</a:t>
            </a:fld>
            <a:endParaRPr lang="en-US"/>
          </a:p>
        </p:txBody>
      </p:sp>
      <p:sp>
        <p:nvSpPr>
          <p:cNvPr id="5" name="Rectangle 4"/>
          <p:cNvSpPr/>
          <p:nvPr/>
        </p:nvSpPr>
        <p:spPr>
          <a:xfrm>
            <a:off x="152400" y="1524000"/>
            <a:ext cx="8991600" cy="461665"/>
          </a:xfrm>
          <a:prstGeom prst="rect">
            <a:avLst/>
          </a:prstGeom>
        </p:spPr>
        <p:txBody>
          <a:bodyPr wrap="square">
            <a:spAutoFit/>
          </a:bodyPr>
          <a:lstStyle/>
          <a:p>
            <a:pPr marL="342900" indent="-342900" algn="just">
              <a:buFont typeface="Wingdings" pitchFamily="2" charset="2"/>
              <a:buChar char="v"/>
            </a:pPr>
            <a:endParaRPr lang="en-US" sz="2400" dirty="0">
              <a:solidFill>
                <a:prstClr val="black"/>
              </a:solidFill>
              <a:latin typeface="Times New Roman" pitchFamily="18" charset="0"/>
              <a:cs typeface="Times New Roman" pitchFamily="18" charset="0"/>
            </a:endParaRPr>
          </a:p>
        </p:txBody>
      </p:sp>
      <p:sp>
        <p:nvSpPr>
          <p:cNvPr id="4" name="Rectangle 3"/>
          <p:cNvSpPr/>
          <p:nvPr/>
        </p:nvSpPr>
        <p:spPr>
          <a:xfrm>
            <a:off x="533400" y="1985665"/>
            <a:ext cx="7924800" cy="1785104"/>
          </a:xfrm>
          <a:prstGeom prst="rect">
            <a:avLst/>
          </a:prstGeom>
        </p:spPr>
        <p:txBody>
          <a:bodyPr wrap="square">
            <a:spAutoFit/>
          </a:bodyPr>
          <a:lstStyle/>
          <a:p>
            <a:pPr algn="ctr"/>
            <a:r>
              <a:rPr lang="en-US" sz="2800" dirty="0">
                <a:solidFill>
                  <a:prstClr val="black"/>
                </a:solidFill>
                <a:latin typeface="Times New Roman" pitchFamily="18" charset="0"/>
                <a:cs typeface="Times New Roman" pitchFamily="18" charset="0"/>
              </a:rPr>
              <a:t>Management is the “art of getting things done through other people”</a:t>
            </a:r>
          </a:p>
          <a:p>
            <a:endParaRPr lang="en-US" dirty="0">
              <a:solidFill>
                <a:srgbClr val="202124"/>
              </a:solidFill>
              <a:latin typeface="arial"/>
            </a:endParaRPr>
          </a:p>
          <a:p>
            <a:endParaRPr lang="en-US" dirty="0">
              <a:solidFill>
                <a:srgbClr val="202124"/>
              </a:solidFill>
              <a:latin typeface="arial"/>
            </a:endParaRPr>
          </a:p>
          <a:p>
            <a:r>
              <a:rPr lang="en-US" dirty="0">
                <a:solidFill>
                  <a:srgbClr val="202124"/>
                </a:solidFill>
                <a:latin typeface="arial"/>
              </a:rPr>
              <a:t>- </a:t>
            </a:r>
            <a:r>
              <a:rPr lang="en-US" b="1" dirty="0">
                <a:solidFill>
                  <a:srgbClr val="202124"/>
                </a:solidFill>
                <a:latin typeface="arial"/>
              </a:rPr>
              <a:t>Mary</a:t>
            </a:r>
            <a:r>
              <a:rPr lang="en-US" dirty="0">
                <a:solidFill>
                  <a:srgbClr val="202124"/>
                </a:solidFill>
                <a:latin typeface="arial"/>
              </a:rPr>
              <a:t>. </a:t>
            </a:r>
            <a:r>
              <a:rPr lang="en-US" b="1" dirty="0">
                <a:solidFill>
                  <a:srgbClr val="202124"/>
                </a:solidFill>
                <a:latin typeface="arial"/>
              </a:rPr>
              <a:t>Parker Follett-</a:t>
            </a:r>
            <a:r>
              <a:rPr lang="en-US" dirty="0">
                <a:solidFill>
                  <a:srgbClr val="202124"/>
                </a:solidFill>
                <a:latin typeface="arial"/>
              </a:rPr>
              <a:t>. </a:t>
            </a:r>
            <a:endParaRPr lang="en-US" dirty="0">
              <a:solidFill>
                <a:prstClr val="black"/>
              </a:solidFill>
            </a:endParaRPr>
          </a:p>
        </p:txBody>
      </p:sp>
    </p:spTree>
    <p:extLst>
      <p:ext uri="{BB962C8B-B14F-4D97-AF65-F5344CB8AC3E}">
        <p14:creationId xmlns:p14="http://schemas.microsoft.com/office/powerpoint/2010/main" val="13209378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47E1D-3BC1-15B8-B0DD-B620C95029D9}"/>
              </a:ext>
            </a:extLst>
          </p:cNvPr>
          <p:cNvSpPr>
            <a:spLocks noGrp="1"/>
          </p:cNvSpPr>
          <p:nvPr>
            <p:ph type="title"/>
          </p:nvPr>
        </p:nvSpPr>
        <p:spPr/>
        <p:txBody>
          <a:bodyPr/>
          <a:lstStyle/>
          <a:p>
            <a:r>
              <a:rPr lang="en-IN" b="1" dirty="0">
                <a:solidFill>
                  <a:schemeClr val="tx1"/>
                </a:solidFill>
              </a:rPr>
              <a:t>Case Studies</a:t>
            </a:r>
          </a:p>
        </p:txBody>
      </p:sp>
      <p:sp>
        <p:nvSpPr>
          <p:cNvPr id="3" name="Slide Number Placeholder 2">
            <a:extLst>
              <a:ext uri="{FF2B5EF4-FFF2-40B4-BE49-F238E27FC236}">
                <a16:creationId xmlns:a16="http://schemas.microsoft.com/office/drawing/2014/main" id="{85DE8F24-FDC1-3B7E-246A-40F553875C0D}"/>
              </a:ext>
            </a:extLst>
          </p:cNvPr>
          <p:cNvSpPr>
            <a:spLocks noGrp="1"/>
          </p:cNvSpPr>
          <p:nvPr>
            <p:ph type="sldNum" sz="quarter" idx="12"/>
          </p:nvPr>
        </p:nvSpPr>
        <p:spPr/>
        <p:txBody>
          <a:bodyPr/>
          <a:lstStyle/>
          <a:p>
            <a:fld id="{B6F15528-21DE-4FAA-801E-634DDDAF4B2B}" type="slidenum">
              <a:rPr lang="en-US" smtClean="0"/>
              <a:pPr/>
              <a:t>6</a:t>
            </a:fld>
            <a:endParaRPr lang="en-US"/>
          </a:p>
        </p:txBody>
      </p:sp>
      <p:sp>
        <p:nvSpPr>
          <p:cNvPr id="4" name="Content Placeholder 3">
            <a:extLst>
              <a:ext uri="{FF2B5EF4-FFF2-40B4-BE49-F238E27FC236}">
                <a16:creationId xmlns:a16="http://schemas.microsoft.com/office/drawing/2014/main" id="{5CBEC8B7-95E5-BC92-154C-3D9BBE39C695}"/>
              </a:ext>
            </a:extLst>
          </p:cNvPr>
          <p:cNvSpPr>
            <a:spLocks noGrp="1"/>
          </p:cNvSpPr>
          <p:nvPr>
            <p:ph sz="quarter" idx="1"/>
          </p:nvPr>
        </p:nvSpPr>
        <p:spPr>
          <a:xfrm>
            <a:off x="0" y="1600200"/>
            <a:ext cx="9144000" cy="5257800"/>
          </a:xfrm>
        </p:spPr>
        <p:txBody>
          <a:bodyPr>
            <a:normAutofit fontScale="47500" lnSpcReduction="20000"/>
          </a:bodyPr>
          <a:lstStyle/>
          <a:p>
            <a:pPr marL="0" indent="0">
              <a:buNone/>
            </a:pPr>
            <a:r>
              <a:rPr lang="en-US" sz="5000" b="1" dirty="0">
                <a:latin typeface="Arial Narrow" panose="020B0606020202030204" pitchFamily="34" charset="0"/>
              </a:rPr>
              <a:t>1. Google's Project Aristotle</a:t>
            </a:r>
          </a:p>
          <a:p>
            <a:r>
              <a:rPr lang="en-US" sz="5000" b="1" dirty="0">
                <a:latin typeface="Arial Narrow" panose="020B0606020202030204" pitchFamily="34" charset="0"/>
              </a:rPr>
              <a:t>Overview:</a:t>
            </a:r>
            <a:r>
              <a:rPr lang="en-US" sz="5000" dirty="0">
                <a:latin typeface="Arial Narrow" panose="020B0606020202030204" pitchFamily="34" charset="0"/>
              </a:rPr>
              <a:t> Google's Project Aristotle was a research initiative aimed at understanding what makes teams successful. The study revealed that psychological safety—where team members feel safe to take risks and be vulnerable—was the most crucial factor in high-performing teams.</a:t>
            </a:r>
          </a:p>
          <a:p>
            <a:r>
              <a:rPr lang="en-US" sz="5000" b="1" dirty="0">
                <a:latin typeface="Arial Narrow" panose="020B0606020202030204" pitchFamily="34" charset="0"/>
              </a:rPr>
              <a:t>Case Study:</a:t>
            </a:r>
            <a:r>
              <a:rPr lang="en-US" sz="5000" dirty="0">
                <a:latin typeface="Arial Narrow" panose="020B0606020202030204" pitchFamily="34" charset="0"/>
              </a:rPr>
              <a:t> Google found that the best teams were not necessarily the ones with the most star performers but those where team members felt comfortable speaking up, taking risks, and collaborating openly. This insight led to changes in how Google managed its teams, focusing on creating environments that fostered trust and open communication.</a:t>
            </a:r>
          </a:p>
          <a:p>
            <a:r>
              <a:rPr lang="en-US" sz="5000" b="1" dirty="0">
                <a:latin typeface="Arial Narrow" panose="020B0606020202030204" pitchFamily="34" charset="0"/>
              </a:rPr>
              <a:t>Key Takeaway:</a:t>
            </a:r>
            <a:r>
              <a:rPr lang="en-US" sz="5000" dirty="0">
                <a:latin typeface="Arial Narrow" panose="020B0606020202030204" pitchFamily="34" charset="0"/>
              </a:rPr>
              <a:t> Effective management involves creating a supportive environment where people can work together effectively. Managers need to cultivate a culture where team members feel empowered and valued, rather than just focusing on individual performance.</a:t>
            </a:r>
          </a:p>
          <a:p>
            <a:pPr marL="0" indent="0">
              <a:buNone/>
            </a:pPr>
            <a:endParaRPr lang="en-IN" dirty="0"/>
          </a:p>
        </p:txBody>
      </p:sp>
    </p:spTree>
    <p:extLst>
      <p:ext uri="{BB962C8B-B14F-4D97-AF65-F5344CB8AC3E}">
        <p14:creationId xmlns:p14="http://schemas.microsoft.com/office/powerpoint/2010/main" val="4628403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43841B4-BC42-FD1F-50C1-2B0E497F9F1D}"/>
              </a:ext>
            </a:extLst>
          </p:cNvPr>
          <p:cNvSpPr>
            <a:spLocks noGrp="1"/>
          </p:cNvSpPr>
          <p:nvPr>
            <p:ph type="sldNum" sz="quarter" idx="12"/>
          </p:nvPr>
        </p:nvSpPr>
        <p:spPr/>
        <p:txBody>
          <a:bodyPr/>
          <a:lstStyle/>
          <a:p>
            <a:fld id="{B6F15528-21DE-4FAA-801E-634DDDAF4B2B}" type="slidenum">
              <a:rPr lang="en-US" smtClean="0"/>
              <a:pPr/>
              <a:t>7</a:t>
            </a:fld>
            <a:endParaRPr lang="en-US"/>
          </a:p>
        </p:txBody>
      </p:sp>
      <p:sp>
        <p:nvSpPr>
          <p:cNvPr id="4" name="Content Placeholder 3">
            <a:extLst>
              <a:ext uri="{FF2B5EF4-FFF2-40B4-BE49-F238E27FC236}">
                <a16:creationId xmlns:a16="http://schemas.microsoft.com/office/drawing/2014/main" id="{EE75C8DA-F593-43BF-CD50-5D0EF03D9218}"/>
              </a:ext>
            </a:extLst>
          </p:cNvPr>
          <p:cNvSpPr>
            <a:spLocks noGrp="1"/>
          </p:cNvSpPr>
          <p:nvPr>
            <p:ph sz="quarter" idx="1"/>
          </p:nvPr>
        </p:nvSpPr>
        <p:spPr>
          <a:xfrm>
            <a:off x="612648" y="1600200"/>
            <a:ext cx="8153400" cy="5181600"/>
          </a:xfrm>
        </p:spPr>
        <p:txBody>
          <a:bodyPr>
            <a:normAutofit fontScale="77500" lnSpcReduction="20000"/>
          </a:bodyPr>
          <a:lstStyle/>
          <a:p>
            <a:pPr marL="0" indent="0">
              <a:buNone/>
            </a:pPr>
            <a:r>
              <a:rPr lang="en-US" sz="3200" b="1" dirty="0">
                <a:latin typeface="Arial Narrow" panose="020B0606020202030204" pitchFamily="34" charset="0"/>
              </a:rPr>
              <a:t>2. Southwest Airlines' Management Style</a:t>
            </a:r>
          </a:p>
          <a:p>
            <a:r>
              <a:rPr lang="en-US" sz="3200" b="1" dirty="0">
                <a:latin typeface="Arial Narrow" panose="020B0606020202030204" pitchFamily="34" charset="0"/>
              </a:rPr>
              <a:t>Overview:</a:t>
            </a:r>
            <a:r>
              <a:rPr lang="en-US" sz="3200" dirty="0">
                <a:latin typeface="Arial Narrow" panose="020B0606020202030204" pitchFamily="34" charset="0"/>
              </a:rPr>
              <a:t> Southwest Airlines is known for its unique management style and company culture, which emphasize employee empowerment and customer service.</a:t>
            </a:r>
          </a:p>
          <a:p>
            <a:r>
              <a:rPr lang="en-US" sz="3200" b="1" dirty="0">
                <a:latin typeface="Arial Narrow" panose="020B0606020202030204" pitchFamily="34" charset="0"/>
              </a:rPr>
              <a:t>Case Study:</a:t>
            </a:r>
            <a:r>
              <a:rPr lang="en-US" sz="3200" dirty="0">
                <a:latin typeface="Arial Narrow" panose="020B0606020202030204" pitchFamily="34" charset="0"/>
              </a:rPr>
              <a:t> Southwest Airlines' management approach includes hiring for attitude, training for skills, and providing employees with the freedom to make decisions that improve customer service. The airline's leaders empower employees to go above and beyond to satisfy customers, which has resulted in high employee morale and excellent customer service.</a:t>
            </a:r>
          </a:p>
          <a:p>
            <a:r>
              <a:rPr lang="en-US" sz="3200" b="1" dirty="0">
                <a:latin typeface="Arial Narrow" panose="020B0606020202030204" pitchFamily="34" charset="0"/>
              </a:rPr>
              <a:t>Key Takeaway:</a:t>
            </a:r>
            <a:r>
              <a:rPr lang="en-US" sz="3200" dirty="0">
                <a:latin typeface="Arial Narrow" panose="020B0606020202030204" pitchFamily="34" charset="0"/>
              </a:rPr>
              <a:t> Effective management involves empowering employees to make decisions and take ownership of their work. By trusting employees and giving them the tools and authority to act, managers can achieve higher levels of performance and satisfaction.</a:t>
            </a:r>
          </a:p>
          <a:p>
            <a:endParaRPr lang="en-IN" dirty="0"/>
          </a:p>
        </p:txBody>
      </p:sp>
    </p:spTree>
    <p:extLst>
      <p:ext uri="{BB962C8B-B14F-4D97-AF65-F5344CB8AC3E}">
        <p14:creationId xmlns:p14="http://schemas.microsoft.com/office/powerpoint/2010/main" val="4565386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089AA42-56A7-B8B9-3C29-D731E87A35F1}"/>
              </a:ext>
            </a:extLst>
          </p:cNvPr>
          <p:cNvSpPr>
            <a:spLocks noGrp="1"/>
          </p:cNvSpPr>
          <p:nvPr>
            <p:ph type="sldNum" sz="quarter" idx="12"/>
          </p:nvPr>
        </p:nvSpPr>
        <p:spPr/>
        <p:txBody>
          <a:bodyPr/>
          <a:lstStyle/>
          <a:p>
            <a:fld id="{B6F15528-21DE-4FAA-801E-634DDDAF4B2B}" type="slidenum">
              <a:rPr lang="en-US" smtClean="0"/>
              <a:pPr/>
              <a:t>8</a:t>
            </a:fld>
            <a:endParaRPr lang="en-US"/>
          </a:p>
        </p:txBody>
      </p:sp>
      <p:sp>
        <p:nvSpPr>
          <p:cNvPr id="4" name="Content Placeholder 3">
            <a:extLst>
              <a:ext uri="{FF2B5EF4-FFF2-40B4-BE49-F238E27FC236}">
                <a16:creationId xmlns:a16="http://schemas.microsoft.com/office/drawing/2014/main" id="{8F5BDE50-B2D9-815F-527C-1D64648DCD8A}"/>
              </a:ext>
            </a:extLst>
          </p:cNvPr>
          <p:cNvSpPr>
            <a:spLocks noGrp="1"/>
          </p:cNvSpPr>
          <p:nvPr>
            <p:ph sz="quarter" idx="1"/>
          </p:nvPr>
        </p:nvSpPr>
        <p:spPr>
          <a:xfrm>
            <a:off x="228600" y="1600200"/>
            <a:ext cx="8686800" cy="4953000"/>
          </a:xfrm>
        </p:spPr>
        <p:txBody>
          <a:bodyPr>
            <a:normAutofit fontScale="85000" lnSpcReduction="20000"/>
          </a:bodyPr>
          <a:lstStyle/>
          <a:p>
            <a:pPr marL="0" indent="0">
              <a:buNone/>
            </a:pPr>
            <a:r>
              <a:rPr lang="en-US" b="1" dirty="0"/>
              <a:t>3. </a:t>
            </a:r>
            <a:r>
              <a:rPr lang="en-US" sz="3100" b="1" dirty="0">
                <a:latin typeface="Arial Narrow" panose="020B0606020202030204" pitchFamily="34" charset="0"/>
              </a:rPr>
              <a:t>Toyota's Lean Manufacturing System</a:t>
            </a:r>
          </a:p>
          <a:p>
            <a:r>
              <a:rPr lang="en-US" sz="3100" b="1" dirty="0">
                <a:latin typeface="Arial Narrow" panose="020B0606020202030204" pitchFamily="34" charset="0"/>
              </a:rPr>
              <a:t>Overview:</a:t>
            </a:r>
            <a:r>
              <a:rPr lang="en-US" sz="3100" dirty="0">
                <a:latin typeface="Arial Narrow" panose="020B0606020202030204" pitchFamily="34" charset="0"/>
              </a:rPr>
              <a:t> Toyota's lean manufacturing system, also known as the Toyota Production System (TPS), is a management philosophy that focuses on continuous improvement and efficiency.</a:t>
            </a:r>
          </a:p>
          <a:p>
            <a:r>
              <a:rPr lang="en-US" sz="3100" b="1" dirty="0">
                <a:latin typeface="Arial Narrow" panose="020B0606020202030204" pitchFamily="34" charset="0"/>
              </a:rPr>
              <a:t>Case Study:</a:t>
            </a:r>
            <a:r>
              <a:rPr lang="en-US" sz="3100" dirty="0">
                <a:latin typeface="Arial Narrow" panose="020B0606020202030204" pitchFamily="34" charset="0"/>
              </a:rPr>
              <a:t> Toyota's approach involves involving all employees in the process of identifying and solving problems. Managers at Toyota encourage team members to suggest improvements and participate in problem-solving, which has led to significant gains in efficiency and quality.</a:t>
            </a:r>
          </a:p>
          <a:p>
            <a:r>
              <a:rPr lang="en-US" sz="3100" b="1" dirty="0">
                <a:latin typeface="Arial Narrow" panose="020B0606020202030204" pitchFamily="34" charset="0"/>
              </a:rPr>
              <a:t>Key Takeaway:</a:t>
            </a:r>
            <a:r>
              <a:rPr lang="en-US" sz="3100" dirty="0">
                <a:latin typeface="Arial Narrow" panose="020B0606020202030204" pitchFamily="34" charset="0"/>
              </a:rPr>
              <a:t> Management that involves employees in the decision-making process and values their input can drive significant improvements in performance. By leveraging the collective knowledge and experience of the team, managers can achieve better results and foster a culture of continuous improvement.</a:t>
            </a:r>
          </a:p>
          <a:p>
            <a:endParaRPr lang="en-IN" dirty="0"/>
          </a:p>
        </p:txBody>
      </p:sp>
    </p:spTree>
    <p:extLst>
      <p:ext uri="{BB962C8B-B14F-4D97-AF65-F5344CB8AC3E}">
        <p14:creationId xmlns:p14="http://schemas.microsoft.com/office/powerpoint/2010/main" val="3481747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8686800" cy="990600"/>
          </a:xfrm>
        </p:spPr>
        <p:txBody>
          <a:bodyPr/>
          <a:lstStyle/>
          <a:p>
            <a:r>
              <a:rPr lang="en-US" dirty="0">
                <a:solidFill>
                  <a:schemeClr val="tx1"/>
                </a:solidFill>
              </a:rPr>
              <a:t>Management - Definition</a:t>
            </a:r>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9</a:t>
            </a:fld>
            <a:endParaRPr lang="en-US"/>
          </a:p>
        </p:txBody>
      </p:sp>
      <p:sp>
        <p:nvSpPr>
          <p:cNvPr id="5" name="Rectangle 4"/>
          <p:cNvSpPr/>
          <p:nvPr/>
        </p:nvSpPr>
        <p:spPr>
          <a:xfrm>
            <a:off x="228600" y="1600200"/>
            <a:ext cx="8686800" cy="4524315"/>
          </a:xfrm>
          <a:prstGeom prst="rect">
            <a:avLst/>
          </a:prstGeom>
        </p:spPr>
        <p:txBody>
          <a:bodyPr wrap="square">
            <a:spAutoFit/>
          </a:bodyPr>
          <a:lstStyle/>
          <a:p>
            <a:pPr marL="342900" indent="-342900" algn="just">
              <a:buFont typeface="Wingdings" pitchFamily="2" charset="2"/>
              <a:buChar char="v"/>
            </a:pPr>
            <a:r>
              <a:rPr lang="en-US" sz="2400" dirty="0">
                <a:solidFill>
                  <a:prstClr val="black"/>
                </a:solidFill>
                <a:latin typeface="Times New Roman" pitchFamily="18" charset="0"/>
                <a:cs typeface="Times New Roman" pitchFamily="18" charset="0"/>
              </a:rPr>
              <a:t>According to James L Lundy - "Management is principally the task of planning, coordinating, motivating and controlling the efforts of others towards a specific objective".</a:t>
            </a:r>
          </a:p>
          <a:p>
            <a:pPr algn="just"/>
            <a:endParaRPr lang="en-US" sz="2400" dirty="0">
              <a:solidFill>
                <a:prstClr val="black"/>
              </a:solidFill>
              <a:latin typeface="Times New Roman" pitchFamily="18" charset="0"/>
              <a:cs typeface="Times New Roman" pitchFamily="18" charset="0"/>
            </a:endParaRPr>
          </a:p>
          <a:p>
            <a:pPr algn="just"/>
            <a:endParaRPr lang="en-US" sz="2400" dirty="0">
              <a:solidFill>
                <a:prstClr val="black"/>
              </a:solidFill>
              <a:latin typeface="Times New Roman" pitchFamily="18" charset="0"/>
              <a:cs typeface="Times New Roman" pitchFamily="18" charset="0"/>
            </a:endParaRPr>
          </a:p>
          <a:p>
            <a:pPr marL="342900" indent="-342900" algn="just">
              <a:buFont typeface="Wingdings" pitchFamily="2" charset="2"/>
              <a:buChar char="v"/>
            </a:pPr>
            <a:r>
              <a:rPr lang="en-US" sz="2400" dirty="0">
                <a:solidFill>
                  <a:prstClr val="black"/>
                </a:solidFill>
                <a:latin typeface="Times New Roman" pitchFamily="18" charset="0"/>
                <a:cs typeface="Times New Roman" pitchFamily="18" charset="0"/>
              </a:rPr>
              <a:t>In the words of Henry </a:t>
            </a:r>
            <a:r>
              <a:rPr lang="en-US" sz="2400" dirty="0" err="1">
                <a:solidFill>
                  <a:prstClr val="black"/>
                </a:solidFill>
                <a:latin typeface="Times New Roman" pitchFamily="18" charset="0"/>
                <a:cs typeface="Times New Roman" pitchFamily="18" charset="0"/>
              </a:rPr>
              <a:t>Fayol</a:t>
            </a:r>
            <a:r>
              <a:rPr lang="en-US" sz="2400" dirty="0">
                <a:solidFill>
                  <a:prstClr val="black"/>
                </a:solidFill>
                <a:latin typeface="Times New Roman" pitchFamily="18" charset="0"/>
                <a:cs typeface="Times New Roman" pitchFamily="18" charset="0"/>
              </a:rPr>
              <a:t> - "To manage is to forecast and to plan, to </a:t>
            </a:r>
            <a:r>
              <a:rPr lang="en-US" sz="2400" dirty="0" err="1">
                <a:solidFill>
                  <a:prstClr val="black"/>
                </a:solidFill>
                <a:latin typeface="Times New Roman" pitchFamily="18" charset="0"/>
                <a:cs typeface="Times New Roman" pitchFamily="18" charset="0"/>
              </a:rPr>
              <a:t>organise</a:t>
            </a:r>
            <a:r>
              <a:rPr lang="en-US" sz="2400" dirty="0">
                <a:solidFill>
                  <a:prstClr val="black"/>
                </a:solidFill>
                <a:latin typeface="Times New Roman" pitchFamily="18" charset="0"/>
                <a:cs typeface="Times New Roman" pitchFamily="18" charset="0"/>
              </a:rPr>
              <a:t>, to command, to co-ordinate and to control".</a:t>
            </a:r>
          </a:p>
          <a:p>
            <a:pPr marL="342900" indent="-342900" algn="just">
              <a:buFont typeface="Wingdings" pitchFamily="2" charset="2"/>
              <a:buChar char="v"/>
            </a:pPr>
            <a:endParaRPr lang="en-US" sz="2400" dirty="0">
              <a:solidFill>
                <a:prstClr val="black"/>
              </a:solidFill>
              <a:latin typeface="Times New Roman" pitchFamily="18" charset="0"/>
              <a:cs typeface="Times New Roman" pitchFamily="18" charset="0"/>
            </a:endParaRPr>
          </a:p>
          <a:p>
            <a:pPr algn="just"/>
            <a:endParaRPr lang="en-US" sz="2400" dirty="0">
              <a:solidFill>
                <a:prstClr val="black"/>
              </a:solidFill>
              <a:latin typeface="Times New Roman" pitchFamily="18" charset="0"/>
              <a:cs typeface="Times New Roman" pitchFamily="18" charset="0"/>
            </a:endParaRPr>
          </a:p>
          <a:p>
            <a:pPr marL="342900" indent="-342900" algn="just">
              <a:buFont typeface="Wingdings" pitchFamily="2" charset="2"/>
              <a:buChar char="v"/>
            </a:pPr>
            <a:r>
              <a:rPr lang="en-US" sz="2400" dirty="0">
                <a:solidFill>
                  <a:prstClr val="black"/>
                </a:solidFill>
                <a:latin typeface="Times New Roman" pitchFamily="18" charset="0"/>
                <a:cs typeface="Times New Roman" pitchFamily="18" charset="0"/>
              </a:rPr>
              <a:t>According to Peter F </a:t>
            </a:r>
            <a:r>
              <a:rPr lang="en-US" sz="2400" dirty="0" err="1">
                <a:solidFill>
                  <a:prstClr val="black"/>
                </a:solidFill>
                <a:latin typeface="Times New Roman" pitchFamily="18" charset="0"/>
                <a:cs typeface="Times New Roman" pitchFamily="18" charset="0"/>
              </a:rPr>
              <a:t>Drucker</a:t>
            </a:r>
            <a:r>
              <a:rPr lang="en-US" sz="2400" dirty="0">
                <a:solidFill>
                  <a:prstClr val="black"/>
                </a:solidFill>
                <a:latin typeface="Times New Roman" pitchFamily="18" charset="0"/>
                <a:cs typeface="Times New Roman" pitchFamily="18" charset="0"/>
              </a:rPr>
              <a:t> - "Management is a multi-purpose organ that manages a business and manages managers and manages worker and work".</a:t>
            </a:r>
          </a:p>
        </p:txBody>
      </p:sp>
    </p:spTree>
    <p:extLst>
      <p:ext uri="{BB962C8B-B14F-4D97-AF65-F5344CB8AC3E}">
        <p14:creationId xmlns:p14="http://schemas.microsoft.com/office/powerpoint/2010/main" val="41815569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10</a:t>
            </a:fld>
            <a:endParaRPr lang="en-US"/>
          </a:p>
        </p:txBody>
      </p:sp>
      <p:pic>
        <p:nvPicPr>
          <p:cNvPr id="3" name="Picture 2"/>
          <p:cNvPicPr>
            <a:picLocks noChangeAspect="1"/>
          </p:cNvPicPr>
          <p:nvPr/>
        </p:nvPicPr>
        <p:blipFill rotWithShape="1">
          <a:blip r:embed="rId2"/>
          <a:srcRect b="6078"/>
          <a:stretch/>
        </p:blipFill>
        <p:spPr>
          <a:xfrm>
            <a:off x="0" y="457201"/>
            <a:ext cx="9111799" cy="6172200"/>
          </a:xfrm>
          <a:prstGeom prst="rect">
            <a:avLst/>
          </a:prstGeom>
        </p:spPr>
      </p:pic>
      <p:sp>
        <p:nvSpPr>
          <p:cNvPr id="4" name="Rectangle 3"/>
          <p:cNvSpPr/>
          <p:nvPr/>
        </p:nvSpPr>
        <p:spPr>
          <a:xfrm>
            <a:off x="0" y="4724400"/>
            <a:ext cx="1447800" cy="381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5092574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11</a:t>
            </a:fld>
            <a:endParaRPr lang="en-US"/>
          </a:p>
        </p:txBody>
      </p:sp>
      <p:pic>
        <p:nvPicPr>
          <p:cNvPr id="3" name="Picture 2"/>
          <p:cNvPicPr>
            <a:picLocks noChangeAspect="1"/>
          </p:cNvPicPr>
          <p:nvPr/>
        </p:nvPicPr>
        <p:blipFill>
          <a:blip r:embed="rId2"/>
          <a:stretch>
            <a:fillRect/>
          </a:stretch>
        </p:blipFill>
        <p:spPr>
          <a:xfrm>
            <a:off x="-4576" y="381000"/>
            <a:ext cx="9153152" cy="6095999"/>
          </a:xfrm>
          <a:prstGeom prst="rect">
            <a:avLst/>
          </a:prstGeom>
        </p:spPr>
      </p:pic>
    </p:spTree>
    <p:extLst>
      <p:ext uri="{BB962C8B-B14F-4D97-AF65-F5344CB8AC3E}">
        <p14:creationId xmlns:p14="http://schemas.microsoft.com/office/powerpoint/2010/main" val="8949928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12</a:t>
            </a:fld>
            <a:endParaRPr lang="en-US"/>
          </a:p>
        </p:txBody>
      </p:sp>
      <p:pic>
        <p:nvPicPr>
          <p:cNvPr id="3" name="Picture 2"/>
          <p:cNvPicPr>
            <a:picLocks noChangeAspect="1"/>
          </p:cNvPicPr>
          <p:nvPr/>
        </p:nvPicPr>
        <p:blipFill>
          <a:blip r:embed="rId2"/>
          <a:stretch>
            <a:fillRect/>
          </a:stretch>
        </p:blipFill>
        <p:spPr>
          <a:xfrm>
            <a:off x="38100" y="32656"/>
            <a:ext cx="9078686" cy="6825344"/>
          </a:xfrm>
          <a:prstGeom prst="rect">
            <a:avLst/>
          </a:prstGeom>
        </p:spPr>
      </p:pic>
    </p:spTree>
    <p:extLst>
      <p:ext uri="{BB962C8B-B14F-4D97-AF65-F5344CB8AC3E}">
        <p14:creationId xmlns:p14="http://schemas.microsoft.com/office/powerpoint/2010/main" val="8172539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B1802-2DD8-EAB9-F4B8-54FFF750E6B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D113C8C-A63A-A018-C156-E5F96D24C07E}"/>
              </a:ext>
            </a:extLst>
          </p:cNvPr>
          <p:cNvSpPr>
            <a:spLocks noGrp="1"/>
          </p:cNvSpPr>
          <p:nvPr>
            <p:ph type="title"/>
          </p:nvPr>
        </p:nvSpPr>
        <p:spPr>
          <a:xfrm>
            <a:off x="609600" y="457200"/>
            <a:ext cx="8077200" cy="685800"/>
          </a:xfrm>
        </p:spPr>
        <p:txBody>
          <a:bodyPr>
            <a:normAutofit fontScale="90000"/>
          </a:bodyPr>
          <a:lstStyle/>
          <a:p>
            <a:r>
              <a:rPr lang="en-US" sz="2200" b="0" i="0" dirty="0">
                <a:solidFill>
                  <a:srgbClr val="0D0D0D"/>
                </a:solidFill>
                <a:effectLst/>
                <a:latin typeface="Söhne"/>
              </a:rPr>
              <a:t>Let's explore examples and a case study that illustrates each of the characteristics of management you mentioned:</a:t>
            </a:r>
            <a:br>
              <a:rPr lang="en-US" b="0" i="0" dirty="0">
                <a:solidFill>
                  <a:srgbClr val="0D0D0D"/>
                </a:solidFill>
                <a:effectLst/>
                <a:latin typeface="Söhne"/>
              </a:rPr>
            </a:br>
            <a:endParaRPr lang="en-IN" dirty="0"/>
          </a:p>
        </p:txBody>
      </p:sp>
      <p:sp>
        <p:nvSpPr>
          <p:cNvPr id="2" name="Slide Number Placeholder 1">
            <a:extLst>
              <a:ext uri="{FF2B5EF4-FFF2-40B4-BE49-F238E27FC236}">
                <a16:creationId xmlns:a16="http://schemas.microsoft.com/office/drawing/2014/main" id="{880EC755-B500-4969-676E-82D21058FD55}"/>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13</a:t>
            </a:fld>
            <a:endParaRPr lang="en-US"/>
          </a:p>
        </p:txBody>
      </p:sp>
      <p:sp>
        <p:nvSpPr>
          <p:cNvPr id="4" name="Content Placeholder 3">
            <a:extLst>
              <a:ext uri="{FF2B5EF4-FFF2-40B4-BE49-F238E27FC236}">
                <a16:creationId xmlns:a16="http://schemas.microsoft.com/office/drawing/2014/main" id="{EF663F18-70ED-198C-7A20-2319789EDE58}"/>
              </a:ext>
            </a:extLst>
          </p:cNvPr>
          <p:cNvSpPr>
            <a:spLocks noGrp="1"/>
          </p:cNvSpPr>
          <p:nvPr>
            <p:ph sz="quarter" idx="1"/>
          </p:nvPr>
        </p:nvSpPr>
        <p:spPr>
          <a:xfrm>
            <a:off x="609600" y="1752600"/>
            <a:ext cx="8153400" cy="4419600"/>
          </a:xfrm>
        </p:spPr>
        <p:txBody>
          <a:bodyPr>
            <a:normAutofit fontScale="55000" lnSpcReduction="20000"/>
          </a:bodyPr>
          <a:lstStyle/>
          <a:p>
            <a:pPr algn="l">
              <a:buFont typeface="+mj-lt"/>
              <a:buAutoNum type="arabicPeriod"/>
            </a:pPr>
            <a:r>
              <a:rPr lang="en-US" b="1" i="0" dirty="0">
                <a:solidFill>
                  <a:srgbClr val="0D0D0D"/>
                </a:solidFill>
                <a:effectLst/>
                <a:latin typeface="Söhne"/>
              </a:rPr>
              <a:t>Management is Goal-Oriented:</a:t>
            </a:r>
            <a:endParaRPr lang="en-US" b="0" i="0" dirty="0">
              <a:solidFill>
                <a:srgbClr val="0D0D0D"/>
              </a:solidFill>
              <a:effectLst/>
              <a:latin typeface="Söhne"/>
            </a:endParaRPr>
          </a:p>
          <a:p>
            <a:pPr marL="457200" lvl="1" indent="0" algn="l">
              <a:buNone/>
            </a:pPr>
            <a:r>
              <a:rPr lang="en-US" b="0" i="0" dirty="0">
                <a:solidFill>
                  <a:srgbClr val="0D0D0D"/>
                </a:solidFill>
                <a:effectLst/>
                <a:latin typeface="Söhne"/>
              </a:rPr>
              <a:t>Example: A retail company sets a goal to increase its market share by 15% in the next fiscal year. Management works on strategies such as launching new marketing campaigns, improving customer service, and optimizing inventory to achieve this goal.</a:t>
            </a:r>
          </a:p>
          <a:p>
            <a:pPr algn="l">
              <a:buFont typeface="+mj-lt"/>
              <a:buAutoNum type="arabicPeriod"/>
            </a:pPr>
            <a:r>
              <a:rPr lang="en-US" b="1" i="0" dirty="0">
                <a:solidFill>
                  <a:srgbClr val="0D0D0D"/>
                </a:solidFill>
                <a:effectLst/>
                <a:latin typeface="Söhne"/>
              </a:rPr>
              <a:t>Management is a Universal Activity:</a:t>
            </a:r>
            <a:endParaRPr lang="en-US" b="0" i="0" dirty="0">
              <a:solidFill>
                <a:srgbClr val="0D0D0D"/>
              </a:solidFill>
              <a:effectLst/>
              <a:latin typeface="Söhne"/>
            </a:endParaRPr>
          </a:p>
          <a:p>
            <a:pPr marL="457200" lvl="1" indent="0" algn="l">
              <a:buNone/>
            </a:pPr>
            <a:r>
              <a:rPr lang="en-US" b="0" i="0" dirty="0">
                <a:solidFill>
                  <a:srgbClr val="0D0D0D"/>
                </a:solidFill>
                <a:effectLst/>
                <a:latin typeface="Söhne"/>
              </a:rPr>
              <a:t>Example: The principles of management are applicable in various industries and geographical locations. For instance, the principles of planning, organizing, leading, and controlling are universal and can be applied in a manufacturing plant in Asia as well as a tech startup in North America.</a:t>
            </a:r>
          </a:p>
          <a:p>
            <a:pPr algn="l">
              <a:buFont typeface="+mj-lt"/>
              <a:buAutoNum type="arabicPeriod"/>
            </a:pPr>
            <a:r>
              <a:rPr lang="en-US" b="1" i="0" dirty="0">
                <a:solidFill>
                  <a:srgbClr val="0D0D0D"/>
                </a:solidFill>
                <a:effectLst/>
                <a:latin typeface="Söhne"/>
              </a:rPr>
              <a:t>Management is a Continuous Process:</a:t>
            </a:r>
            <a:endParaRPr lang="en-US" b="0" i="0" dirty="0">
              <a:solidFill>
                <a:srgbClr val="0D0D0D"/>
              </a:solidFill>
              <a:effectLst/>
              <a:latin typeface="Söhne"/>
            </a:endParaRPr>
          </a:p>
          <a:p>
            <a:pPr marL="457200" lvl="1" indent="0" algn="l">
              <a:buNone/>
            </a:pPr>
            <a:r>
              <a:rPr lang="en-US" b="0" i="0" dirty="0">
                <a:solidFill>
                  <a:srgbClr val="0D0D0D"/>
                </a:solidFill>
                <a:effectLst/>
                <a:latin typeface="Söhne"/>
              </a:rPr>
              <a:t>Example: In a software development company, project managers continuously plan, execute, monitor, and adapt their processes to meet changing client requirements and market demands. This ongoing cycle is a continuous management process.</a:t>
            </a:r>
          </a:p>
          <a:p>
            <a:pPr algn="l">
              <a:buFont typeface="+mj-lt"/>
              <a:buAutoNum type="arabicPeriod"/>
            </a:pPr>
            <a:r>
              <a:rPr lang="en-US" b="1" i="0" dirty="0">
                <a:solidFill>
                  <a:srgbClr val="0D0D0D"/>
                </a:solidFill>
                <a:effectLst/>
                <a:latin typeface="Söhne"/>
              </a:rPr>
              <a:t>Management is Dynamic and Not Static:</a:t>
            </a:r>
            <a:endParaRPr lang="en-US" b="0" i="0" dirty="0">
              <a:solidFill>
                <a:srgbClr val="0D0D0D"/>
              </a:solidFill>
              <a:effectLst/>
              <a:latin typeface="Söhne"/>
            </a:endParaRPr>
          </a:p>
          <a:p>
            <a:pPr marL="457200" lvl="1" indent="0" algn="l">
              <a:buNone/>
            </a:pPr>
            <a:r>
              <a:rPr lang="en-US" b="0" i="0" dirty="0">
                <a:solidFill>
                  <a:srgbClr val="0D0D0D"/>
                </a:solidFill>
                <a:effectLst/>
                <a:latin typeface="Söhne"/>
              </a:rPr>
              <a:t>Example: An e-commerce company regularly adapts its business strategies based on changes in consumer behavior, technological advancements, and competitive landscape. The management team needs to be dynamic and responsive to external factors.</a:t>
            </a:r>
          </a:p>
          <a:p>
            <a:pPr algn="l">
              <a:buFont typeface="+mj-lt"/>
              <a:buAutoNum type="arabicPeriod"/>
            </a:pPr>
            <a:r>
              <a:rPr lang="en-US" b="1" i="0" dirty="0">
                <a:solidFill>
                  <a:srgbClr val="0D0D0D"/>
                </a:solidFill>
                <a:effectLst/>
                <a:latin typeface="Söhne"/>
              </a:rPr>
              <a:t>Management is a Science as well as an Art:</a:t>
            </a:r>
            <a:endParaRPr lang="en-US" b="0" i="0" dirty="0">
              <a:solidFill>
                <a:srgbClr val="0D0D0D"/>
              </a:solidFill>
              <a:effectLst/>
              <a:latin typeface="Söhne"/>
            </a:endParaRPr>
          </a:p>
          <a:p>
            <a:pPr marL="457200" lvl="1" indent="0" algn="l">
              <a:buNone/>
            </a:pPr>
            <a:r>
              <a:rPr lang="en-US" b="0" i="0" dirty="0">
                <a:solidFill>
                  <a:srgbClr val="0D0D0D"/>
                </a:solidFill>
                <a:effectLst/>
                <a:latin typeface="Söhne"/>
              </a:rPr>
              <a:t>Example: The application of management theories (science) combined with the creativity and intuition of managers (art) is evident in product development. The use of project management methodologies (science) alongside creative problem-solving (art) contributes to successful outcomes.</a:t>
            </a:r>
          </a:p>
          <a:p>
            <a:endParaRPr lang="en-IN" dirty="0"/>
          </a:p>
        </p:txBody>
      </p:sp>
    </p:spTree>
    <p:extLst>
      <p:ext uri="{BB962C8B-B14F-4D97-AF65-F5344CB8AC3E}">
        <p14:creationId xmlns:p14="http://schemas.microsoft.com/office/powerpoint/2010/main" val="21222245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29DE768-5A49-37BF-5AC3-0D349CB2A4D9}"/>
              </a:ext>
            </a:extLst>
          </p:cNvPr>
          <p:cNvSpPr>
            <a:spLocks noGrp="1"/>
          </p:cNvSpPr>
          <p:nvPr>
            <p:ph type="sldNum" sz="quarter" idx="12"/>
          </p:nvPr>
        </p:nvSpPr>
        <p:spPr/>
        <p:txBody>
          <a:bodyPr/>
          <a:lstStyle/>
          <a:p>
            <a:fld id="{B6F15528-21DE-4FAA-801E-634DDDAF4B2B}" type="slidenum">
              <a:rPr lang="en-US" smtClean="0"/>
              <a:pPr/>
              <a:t>14</a:t>
            </a:fld>
            <a:endParaRPr lang="en-US"/>
          </a:p>
        </p:txBody>
      </p:sp>
      <p:sp>
        <p:nvSpPr>
          <p:cNvPr id="5" name="Content Placeholder 4">
            <a:extLst>
              <a:ext uri="{FF2B5EF4-FFF2-40B4-BE49-F238E27FC236}">
                <a16:creationId xmlns:a16="http://schemas.microsoft.com/office/drawing/2014/main" id="{93457933-0A8C-C6F9-BACE-0C295E4040B6}"/>
              </a:ext>
            </a:extLst>
          </p:cNvPr>
          <p:cNvSpPr>
            <a:spLocks noGrp="1"/>
          </p:cNvSpPr>
          <p:nvPr>
            <p:ph sz="quarter" idx="1"/>
          </p:nvPr>
        </p:nvSpPr>
        <p:spPr>
          <a:xfrm>
            <a:off x="533400" y="1600200"/>
            <a:ext cx="8229600" cy="4800600"/>
          </a:xfrm>
        </p:spPr>
        <p:txBody>
          <a:bodyPr>
            <a:normAutofit fontScale="47500" lnSpcReduction="20000"/>
          </a:bodyPr>
          <a:lstStyle/>
          <a:p>
            <a:pPr marL="0" indent="0" algn="l">
              <a:buNone/>
            </a:pPr>
            <a:r>
              <a:rPr lang="en-US" b="1" i="0" dirty="0">
                <a:solidFill>
                  <a:schemeClr val="accent2"/>
                </a:solidFill>
                <a:effectLst/>
                <a:latin typeface="Söhne"/>
              </a:rPr>
              <a:t>6. </a:t>
            </a:r>
            <a:r>
              <a:rPr lang="en-US" b="1" i="0" dirty="0">
                <a:solidFill>
                  <a:srgbClr val="0D0D0D"/>
                </a:solidFill>
                <a:effectLst/>
                <a:latin typeface="Söhne"/>
              </a:rPr>
              <a:t>Management is a Profession:</a:t>
            </a:r>
            <a:endParaRPr lang="en-US" b="0" i="0" dirty="0">
              <a:solidFill>
                <a:srgbClr val="0D0D0D"/>
              </a:solidFill>
              <a:effectLst/>
              <a:latin typeface="Söhne"/>
            </a:endParaRPr>
          </a:p>
          <a:p>
            <a:pPr marL="457200" lvl="1" indent="0" algn="l">
              <a:buNone/>
            </a:pPr>
            <a:r>
              <a:rPr lang="en-US" b="0" i="0" dirty="0">
                <a:solidFill>
                  <a:srgbClr val="0D0D0D"/>
                </a:solidFill>
                <a:effectLst/>
                <a:latin typeface="Söhne"/>
              </a:rPr>
              <a:t>Example: Professional certifications such as Project Management Professional (PMP) or Certified Public Accountant (CPA) reflect the professionalization of management. Individuals holding these certifications are recognized as competent and qualified managers in their respective fields.</a:t>
            </a:r>
          </a:p>
          <a:p>
            <a:pPr marL="0" indent="0" algn="l">
              <a:buNone/>
            </a:pPr>
            <a:r>
              <a:rPr lang="en-US" b="1" i="0" dirty="0">
                <a:solidFill>
                  <a:schemeClr val="accent2"/>
                </a:solidFill>
                <a:effectLst/>
                <a:latin typeface="Söhne"/>
              </a:rPr>
              <a:t>7. </a:t>
            </a:r>
            <a:r>
              <a:rPr lang="en-US" b="1" i="0" dirty="0">
                <a:solidFill>
                  <a:srgbClr val="0D0D0D"/>
                </a:solidFill>
                <a:effectLst/>
                <a:latin typeface="Söhne"/>
              </a:rPr>
              <a:t>Management is a System of Authority:</a:t>
            </a:r>
            <a:endParaRPr lang="en-US" b="0" i="0" dirty="0">
              <a:solidFill>
                <a:srgbClr val="0D0D0D"/>
              </a:solidFill>
              <a:effectLst/>
              <a:latin typeface="Söhne"/>
            </a:endParaRPr>
          </a:p>
          <a:p>
            <a:pPr marL="457200" lvl="1" indent="0" algn="l">
              <a:buNone/>
            </a:pPr>
            <a:r>
              <a:rPr lang="en-US" b="0" i="0" dirty="0">
                <a:solidFill>
                  <a:srgbClr val="0D0D0D"/>
                </a:solidFill>
                <a:effectLst/>
                <a:latin typeface="Söhne"/>
              </a:rPr>
              <a:t>Example: In a military organization, there is a clear hierarchical structure with a chain of command. Orders flow from the top-down, and authority is delegated based on the organizational structure.</a:t>
            </a:r>
          </a:p>
          <a:p>
            <a:pPr marL="0" indent="0" algn="l">
              <a:buNone/>
            </a:pPr>
            <a:r>
              <a:rPr lang="en-US" b="1" i="0" dirty="0">
                <a:solidFill>
                  <a:schemeClr val="accent2"/>
                </a:solidFill>
                <a:effectLst/>
                <a:latin typeface="Söhne"/>
              </a:rPr>
              <a:t>8. </a:t>
            </a:r>
            <a:r>
              <a:rPr lang="en-US" b="1" i="0" dirty="0">
                <a:solidFill>
                  <a:srgbClr val="0D0D0D"/>
                </a:solidFill>
                <a:effectLst/>
                <a:latin typeface="Söhne"/>
              </a:rPr>
              <a:t>Management Involves Decision-Making:</a:t>
            </a:r>
            <a:endParaRPr lang="en-US" b="0" i="0" dirty="0">
              <a:solidFill>
                <a:srgbClr val="0D0D0D"/>
              </a:solidFill>
              <a:effectLst/>
              <a:latin typeface="Söhne"/>
            </a:endParaRPr>
          </a:p>
          <a:p>
            <a:pPr marL="457200" lvl="1" indent="0" algn="l">
              <a:buNone/>
            </a:pPr>
            <a:r>
              <a:rPr lang="en-US" b="0" i="0" dirty="0">
                <a:solidFill>
                  <a:srgbClr val="0D0D0D"/>
                </a:solidFill>
                <a:effectLst/>
                <a:latin typeface="Söhne"/>
              </a:rPr>
              <a:t>Example: A CEO deciding whether to invest in a new technology or expand into a new market involves strategic decision-making. This decision impacts the entire organization and requires careful consideration of risks and benefits.</a:t>
            </a:r>
          </a:p>
          <a:p>
            <a:pPr marL="0" indent="0" algn="l">
              <a:buNone/>
            </a:pPr>
            <a:r>
              <a:rPr lang="en-US" b="1" i="0" dirty="0">
                <a:solidFill>
                  <a:schemeClr val="accent2"/>
                </a:solidFill>
                <a:effectLst/>
                <a:latin typeface="Söhne"/>
              </a:rPr>
              <a:t>9. </a:t>
            </a:r>
            <a:r>
              <a:rPr lang="en-US" b="1" i="0" dirty="0">
                <a:solidFill>
                  <a:srgbClr val="0D0D0D"/>
                </a:solidFill>
                <a:effectLst/>
                <a:latin typeface="Söhne"/>
              </a:rPr>
              <a:t>Management Implies Good Leadership:</a:t>
            </a:r>
            <a:endParaRPr lang="en-US" b="0" i="0" dirty="0">
              <a:solidFill>
                <a:srgbClr val="0D0D0D"/>
              </a:solidFill>
              <a:effectLst/>
              <a:latin typeface="Söhne"/>
            </a:endParaRPr>
          </a:p>
          <a:p>
            <a:pPr marL="457200" lvl="1" indent="0" algn="l">
              <a:buNone/>
            </a:pPr>
            <a:r>
              <a:rPr lang="en-US" b="0" i="0" dirty="0">
                <a:solidFill>
                  <a:srgbClr val="0D0D0D"/>
                </a:solidFill>
                <a:effectLst/>
                <a:latin typeface="Söhne"/>
              </a:rPr>
              <a:t>Example: A team leader in a software development company provides guidance, motivation, and support to team members. Effective leadership ensures that the team stays focused, motivated, and delivers high-quality products.</a:t>
            </a:r>
          </a:p>
          <a:p>
            <a:pPr marL="0" indent="0" algn="l">
              <a:buNone/>
            </a:pPr>
            <a:r>
              <a:rPr lang="en-US" b="1" i="0" dirty="0">
                <a:solidFill>
                  <a:schemeClr val="accent2"/>
                </a:solidFill>
                <a:effectLst/>
                <a:latin typeface="Söhne"/>
              </a:rPr>
              <a:t>10. </a:t>
            </a:r>
            <a:r>
              <a:rPr lang="en-US" b="1" i="0" dirty="0">
                <a:solidFill>
                  <a:srgbClr val="0D0D0D"/>
                </a:solidFill>
                <a:effectLst/>
                <a:latin typeface="Söhne"/>
              </a:rPr>
              <a:t>Management is Intangible:</a:t>
            </a:r>
            <a:endParaRPr lang="en-US" b="0" i="0" dirty="0">
              <a:solidFill>
                <a:srgbClr val="0D0D0D"/>
              </a:solidFill>
              <a:effectLst/>
              <a:latin typeface="Söhne"/>
            </a:endParaRPr>
          </a:p>
          <a:p>
            <a:pPr marL="457200" lvl="1" indent="0" algn="l">
              <a:buNone/>
            </a:pPr>
            <a:r>
              <a:rPr lang="en-US" b="0" i="0" dirty="0">
                <a:solidFill>
                  <a:srgbClr val="0D0D0D"/>
                </a:solidFill>
                <a:effectLst/>
                <a:latin typeface="Söhne"/>
              </a:rPr>
              <a:t>Example: The effective coordination and communication within a virtual team are intangible aspects of management. These elements are crucial for the team's success but may not be physically observed.</a:t>
            </a:r>
          </a:p>
          <a:p>
            <a:pPr marL="0" indent="0" algn="l">
              <a:buNone/>
            </a:pPr>
            <a:r>
              <a:rPr lang="en-US" b="1" i="0" dirty="0">
                <a:solidFill>
                  <a:schemeClr val="accent2"/>
                </a:solidFill>
                <a:effectLst/>
                <a:latin typeface="Söhne"/>
              </a:rPr>
              <a:t>11. </a:t>
            </a:r>
            <a:r>
              <a:rPr lang="en-US" b="1" i="0" dirty="0">
                <a:solidFill>
                  <a:srgbClr val="0D0D0D"/>
                </a:solidFill>
                <a:effectLst/>
                <a:latin typeface="Söhne"/>
              </a:rPr>
              <a:t>Management is Required at Different Levels:</a:t>
            </a:r>
            <a:endParaRPr lang="en-US" b="0" i="0" dirty="0">
              <a:solidFill>
                <a:srgbClr val="0D0D0D"/>
              </a:solidFill>
              <a:effectLst/>
              <a:latin typeface="Söhne"/>
            </a:endParaRPr>
          </a:p>
          <a:p>
            <a:pPr marL="457200" lvl="1" indent="0" algn="l">
              <a:buNone/>
            </a:pPr>
            <a:r>
              <a:rPr lang="en-US" b="0" i="0" dirty="0">
                <a:solidFill>
                  <a:srgbClr val="0D0D0D"/>
                </a:solidFill>
                <a:effectLst/>
                <a:latin typeface="Söhne"/>
              </a:rPr>
              <a:t>Example: In a large manufacturing company, top-level executives focus on strategic decisions (e.g., expansion plans), middle-level managers coordinate activities within departments, and frontline supervisors ensure day-to-day operations run smoothly.</a:t>
            </a:r>
          </a:p>
          <a:p>
            <a:endParaRPr lang="en-IN" dirty="0"/>
          </a:p>
        </p:txBody>
      </p:sp>
    </p:spTree>
    <p:extLst>
      <p:ext uri="{BB962C8B-B14F-4D97-AF65-F5344CB8AC3E}">
        <p14:creationId xmlns:p14="http://schemas.microsoft.com/office/powerpoint/2010/main" val="3173639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37D58-82F9-4A19-1F01-678F7F4F09F3}"/>
              </a:ext>
            </a:extLst>
          </p:cNvPr>
          <p:cNvSpPr>
            <a:spLocks noGrp="1"/>
          </p:cNvSpPr>
          <p:nvPr>
            <p:ph type="title"/>
          </p:nvPr>
        </p:nvSpPr>
        <p:spPr>
          <a:xfrm>
            <a:off x="609600" y="228600"/>
            <a:ext cx="8077200" cy="1043622"/>
          </a:xfrm>
        </p:spPr>
        <p:txBody>
          <a:bodyPr>
            <a:noAutofit/>
          </a:bodyPr>
          <a:lstStyle/>
          <a:p>
            <a:r>
              <a:rPr lang="en-US" sz="3200" b="1" i="0" dirty="0">
                <a:solidFill>
                  <a:srgbClr val="0D0D0D"/>
                </a:solidFill>
                <a:effectLst/>
                <a:latin typeface="Söhne"/>
              </a:rPr>
              <a:t>Case Study: Dynamic Management in a Tech Startup:</a:t>
            </a:r>
            <a:endParaRPr lang="en-IN" sz="3200" dirty="0"/>
          </a:p>
        </p:txBody>
      </p:sp>
      <p:sp>
        <p:nvSpPr>
          <p:cNvPr id="3" name="Slide Number Placeholder 2">
            <a:extLst>
              <a:ext uri="{FF2B5EF4-FFF2-40B4-BE49-F238E27FC236}">
                <a16:creationId xmlns:a16="http://schemas.microsoft.com/office/drawing/2014/main" id="{178381C8-FB02-CBD9-8DC3-70733ADACDB2}"/>
              </a:ext>
            </a:extLst>
          </p:cNvPr>
          <p:cNvSpPr>
            <a:spLocks noGrp="1"/>
          </p:cNvSpPr>
          <p:nvPr>
            <p:ph type="sldNum" sz="quarter" idx="12"/>
          </p:nvPr>
        </p:nvSpPr>
        <p:spPr/>
        <p:txBody>
          <a:bodyPr/>
          <a:lstStyle/>
          <a:p>
            <a:fld id="{B6F15528-21DE-4FAA-801E-634DDDAF4B2B}" type="slidenum">
              <a:rPr lang="en-US" smtClean="0"/>
              <a:pPr/>
              <a:t>15</a:t>
            </a:fld>
            <a:endParaRPr lang="en-US"/>
          </a:p>
        </p:txBody>
      </p:sp>
      <p:sp>
        <p:nvSpPr>
          <p:cNvPr id="5" name="Content Placeholder 4">
            <a:extLst>
              <a:ext uri="{FF2B5EF4-FFF2-40B4-BE49-F238E27FC236}">
                <a16:creationId xmlns:a16="http://schemas.microsoft.com/office/drawing/2014/main" id="{D6496E83-7DA1-EB70-6FA7-1EECD8935930}"/>
              </a:ext>
            </a:extLst>
          </p:cNvPr>
          <p:cNvSpPr>
            <a:spLocks noGrp="1"/>
          </p:cNvSpPr>
          <p:nvPr>
            <p:ph sz="quarter" idx="1"/>
          </p:nvPr>
        </p:nvSpPr>
        <p:spPr>
          <a:xfrm>
            <a:off x="457200" y="1752600"/>
            <a:ext cx="8305800" cy="4419600"/>
          </a:xfrm>
        </p:spPr>
        <p:txBody>
          <a:bodyPr>
            <a:normAutofit fontScale="92500" lnSpcReduction="20000"/>
          </a:bodyPr>
          <a:lstStyle/>
          <a:p>
            <a:r>
              <a:rPr lang="en-US" b="0" i="0" dirty="0">
                <a:solidFill>
                  <a:srgbClr val="0D0D0D"/>
                </a:solidFill>
                <a:effectLst/>
                <a:latin typeface="Söhne"/>
              </a:rPr>
              <a:t>Consider a tech startup that aims to develop innovative software solutions. The CEO sets a goal to become a market leader within three years. The management team continuously adapts to the dynamic tech landscape, making decisions on product development, marketing strategies, and talent acquisition. The startup applies a combination of scientific methodologies (Agile project management) and artistic elements (creative problem-solving) to navigate uncertainties. Leadership is crucial for inspiring the team, and the startup's success relies on the continuous, intangible, and universal nature of effective management across different levels within the organization.</a:t>
            </a:r>
            <a:endParaRPr lang="en-IN" dirty="0"/>
          </a:p>
        </p:txBody>
      </p:sp>
    </p:spTree>
    <p:extLst>
      <p:ext uri="{BB962C8B-B14F-4D97-AF65-F5344CB8AC3E}">
        <p14:creationId xmlns:p14="http://schemas.microsoft.com/office/powerpoint/2010/main" val="17476803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u="sng" dirty="0">
                <a:solidFill>
                  <a:schemeClr val="tx1"/>
                </a:solidFill>
                <a:latin typeface="Times New Roman" pitchFamily="18" charset="0"/>
                <a:cs typeface="Times New Roman" pitchFamily="18" charset="0"/>
              </a:rPr>
              <a:t>CHARACTERISTICS  OF  MANAGEMENT</a:t>
            </a:r>
            <a:endParaRPr lang="en-US" sz="2800" dirty="0">
              <a:solidFill>
                <a:schemeClr val="tx1"/>
              </a:solidFill>
            </a:endParaRPr>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16</a:t>
            </a:fld>
            <a:endParaRPr lang="en-US"/>
          </a:p>
        </p:txBody>
      </p:sp>
      <p:sp>
        <p:nvSpPr>
          <p:cNvPr id="4" name="Rectangle 3"/>
          <p:cNvSpPr/>
          <p:nvPr/>
        </p:nvSpPr>
        <p:spPr>
          <a:xfrm>
            <a:off x="228600" y="1752600"/>
            <a:ext cx="8610600" cy="4050853"/>
          </a:xfrm>
          <a:prstGeom prst="rect">
            <a:avLst/>
          </a:prstGeom>
        </p:spPr>
        <p:txBody>
          <a:bodyPr wrap="square">
            <a:spAutoFit/>
          </a:bodyPr>
          <a:lstStyle/>
          <a:p>
            <a:pPr lvl="0" algn="just" fontAlgn="base">
              <a:lnSpc>
                <a:spcPct val="97000"/>
              </a:lnSpc>
              <a:spcBef>
                <a:spcPts val="600"/>
              </a:spcBef>
              <a:spcAft>
                <a:spcPct val="0"/>
              </a:spcAft>
            </a:pPr>
            <a:r>
              <a:rPr lang="en-US" sz="2000" b="1" i="1" dirty="0">
                <a:solidFill>
                  <a:prstClr val="black"/>
                </a:solidFill>
                <a:latin typeface="Times New Roman" pitchFamily="18" charset="0"/>
                <a:cs typeface="Times New Roman" pitchFamily="18" charset="0"/>
              </a:rPr>
              <a:t>Management  is  goal oriented: </a:t>
            </a:r>
          </a:p>
          <a:p>
            <a:pPr lvl="0" algn="just" fontAlgn="base">
              <a:lnSpc>
                <a:spcPct val="97000"/>
              </a:lnSpc>
              <a:spcBef>
                <a:spcPts val="600"/>
              </a:spcBef>
              <a:spcAft>
                <a:spcPct val="0"/>
              </a:spcAft>
            </a:pPr>
            <a:endParaRPr lang="en-US" sz="2000" b="1" i="1" dirty="0">
              <a:solidFill>
                <a:prstClr val="black"/>
              </a:solidFill>
              <a:latin typeface="Times New Roman" pitchFamily="18" charset="0"/>
              <a:cs typeface="Times New Roman" pitchFamily="18" charset="0"/>
            </a:endParaRPr>
          </a:p>
          <a:p>
            <a:pPr lvl="0" algn="just" fontAlgn="base">
              <a:lnSpc>
                <a:spcPct val="97000"/>
              </a:lnSpc>
              <a:spcBef>
                <a:spcPts val="600"/>
              </a:spcBef>
              <a:spcAft>
                <a:spcPct val="0"/>
              </a:spcAft>
            </a:pPr>
            <a:r>
              <a:rPr lang="en-US" sz="2000" dirty="0">
                <a:solidFill>
                  <a:prstClr val="black"/>
                </a:solidFill>
                <a:latin typeface="Times New Roman" pitchFamily="18" charset="0"/>
                <a:cs typeface="Times New Roman" pitchFamily="18" charset="0"/>
              </a:rPr>
              <a:t>Every managerial activity has certain objectives.</a:t>
            </a:r>
          </a:p>
          <a:p>
            <a:pPr lvl="0" algn="just" fontAlgn="base">
              <a:lnSpc>
                <a:spcPct val="97000"/>
              </a:lnSpc>
              <a:spcBef>
                <a:spcPts val="600"/>
              </a:spcBef>
              <a:spcAft>
                <a:spcPct val="0"/>
              </a:spcAft>
            </a:pPr>
            <a:endParaRPr lang="en-US" sz="2000" dirty="0">
              <a:solidFill>
                <a:prstClr val="black"/>
              </a:solidFill>
              <a:latin typeface="Times New Roman" pitchFamily="18" charset="0"/>
              <a:cs typeface="Times New Roman" pitchFamily="18" charset="0"/>
            </a:endParaRPr>
          </a:p>
          <a:p>
            <a:pPr lvl="0" algn="just" fontAlgn="base">
              <a:lnSpc>
                <a:spcPct val="97000"/>
              </a:lnSpc>
              <a:spcBef>
                <a:spcPts val="600"/>
              </a:spcBef>
              <a:spcAft>
                <a:spcPct val="0"/>
              </a:spcAft>
            </a:pPr>
            <a:r>
              <a:rPr lang="en-US" sz="2000" dirty="0">
                <a:solidFill>
                  <a:prstClr val="black"/>
                </a:solidFill>
                <a:latin typeface="Times New Roman" pitchFamily="18" charset="0"/>
                <a:cs typeface="Times New Roman" pitchFamily="18" charset="0"/>
              </a:rPr>
              <a:t>Management deals particularly with the actual directing of human efforts.</a:t>
            </a:r>
          </a:p>
          <a:p>
            <a:pPr lvl="0" algn="just" fontAlgn="base">
              <a:lnSpc>
                <a:spcPts val="1275"/>
              </a:lnSpc>
              <a:spcBef>
                <a:spcPts val="650"/>
              </a:spcBef>
              <a:spcAft>
                <a:spcPct val="0"/>
              </a:spcAft>
            </a:pPr>
            <a:endParaRPr lang="en-US" sz="2000" b="1" i="1" dirty="0">
              <a:solidFill>
                <a:prstClr val="black"/>
              </a:solidFill>
              <a:latin typeface="Times New Roman" pitchFamily="18" charset="0"/>
              <a:cs typeface="Times New Roman" pitchFamily="18" charset="0"/>
            </a:endParaRPr>
          </a:p>
          <a:p>
            <a:pPr lvl="0" algn="just" fontAlgn="base">
              <a:lnSpc>
                <a:spcPts val="1275"/>
              </a:lnSpc>
              <a:spcBef>
                <a:spcPts val="650"/>
              </a:spcBef>
              <a:spcAft>
                <a:spcPct val="0"/>
              </a:spcAft>
            </a:pPr>
            <a:r>
              <a:rPr lang="en-US" sz="2000" dirty="0">
                <a:solidFill>
                  <a:prstClr val="black"/>
                </a:solidFill>
                <a:latin typeface="Times New Roman" pitchFamily="18" charset="0"/>
                <a:cs typeface="Times New Roman" pitchFamily="18" charset="0"/>
              </a:rPr>
              <a:t>Management  is  a  purposeful  activity.</a:t>
            </a:r>
          </a:p>
          <a:p>
            <a:pPr lvl="0" algn="just" fontAlgn="base">
              <a:lnSpc>
                <a:spcPts val="1275"/>
              </a:lnSpc>
              <a:spcBef>
                <a:spcPts val="650"/>
              </a:spcBef>
              <a:spcAft>
                <a:spcPct val="0"/>
              </a:spcAft>
            </a:pPr>
            <a:endParaRPr lang="en-US" sz="2000" dirty="0">
              <a:solidFill>
                <a:prstClr val="black"/>
              </a:solidFill>
              <a:latin typeface="Times New Roman" pitchFamily="18" charset="0"/>
              <a:cs typeface="Times New Roman" pitchFamily="18" charset="0"/>
            </a:endParaRPr>
          </a:p>
          <a:p>
            <a:pPr lvl="0" algn="just" fontAlgn="base">
              <a:lnSpc>
                <a:spcPct val="150000"/>
              </a:lnSpc>
              <a:spcBef>
                <a:spcPts val="650"/>
              </a:spcBef>
              <a:spcAft>
                <a:spcPct val="0"/>
              </a:spcAft>
            </a:pPr>
            <a:r>
              <a:rPr lang="en-US" sz="2000" dirty="0">
                <a:solidFill>
                  <a:prstClr val="black"/>
                </a:solidFill>
                <a:latin typeface="Times New Roman" pitchFamily="18" charset="0"/>
                <a:cs typeface="Times New Roman" pitchFamily="18" charset="0"/>
              </a:rPr>
              <a:t>It  is concerned with the achievement of pre-determined objectives of an </a:t>
            </a:r>
            <a:r>
              <a:rPr lang="en-US" sz="2000" dirty="0" err="1">
                <a:solidFill>
                  <a:prstClr val="black"/>
                </a:solidFill>
                <a:latin typeface="Times New Roman" pitchFamily="18" charset="0"/>
                <a:cs typeface="Times New Roman" pitchFamily="18" charset="0"/>
              </a:rPr>
              <a:t>organisation</a:t>
            </a:r>
            <a:r>
              <a:rPr lang="en-US" sz="2000" dirty="0">
                <a:solidFill>
                  <a:prstClr val="black"/>
                </a:solidFill>
                <a:latin typeface="Times New Roman" pitchFamily="18" charset="0"/>
                <a:cs typeface="Times New Roman" pitchFamily="18" charset="0"/>
              </a:rPr>
              <a:t>.</a:t>
            </a:r>
          </a:p>
          <a:p>
            <a:pPr lvl="0" algn="just" fontAlgn="base">
              <a:lnSpc>
                <a:spcPct val="97000"/>
              </a:lnSpc>
              <a:spcBef>
                <a:spcPts val="600"/>
              </a:spcBef>
              <a:spcAft>
                <a:spcPct val="0"/>
              </a:spcAft>
            </a:pPr>
            <a:endParaRPr lang="en-US" sz="2000" dirty="0">
              <a:solidFill>
                <a:prstClr val="black"/>
              </a:solidFill>
              <a:latin typeface="Times New Roman" pitchFamily="18" charset="0"/>
              <a:cs typeface="Times New Roman" pitchFamily="18" charset="0"/>
            </a:endParaRPr>
          </a:p>
        </p:txBody>
      </p:sp>
    </p:spTree>
    <p:extLst>
      <p:ext uri="{BB962C8B-B14F-4D97-AF65-F5344CB8AC3E}">
        <p14:creationId xmlns:p14="http://schemas.microsoft.com/office/powerpoint/2010/main" val="38323848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u="sng" dirty="0">
                <a:solidFill>
                  <a:schemeClr val="tx1"/>
                </a:solidFill>
                <a:latin typeface="Times New Roman" pitchFamily="18" charset="0"/>
                <a:cs typeface="Times New Roman" pitchFamily="18" charset="0"/>
              </a:rPr>
              <a:t>CHARACTERISTICS  OF  MANAGEMENT</a:t>
            </a:r>
            <a:endParaRPr lang="en-US" sz="2800" dirty="0">
              <a:solidFill>
                <a:schemeClr val="tx1"/>
              </a:solidFill>
            </a:endParaRPr>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17</a:t>
            </a:fld>
            <a:endParaRPr lang="en-US"/>
          </a:p>
        </p:txBody>
      </p:sp>
      <p:sp>
        <p:nvSpPr>
          <p:cNvPr id="4" name="Rectangle 3"/>
          <p:cNvSpPr/>
          <p:nvPr/>
        </p:nvSpPr>
        <p:spPr>
          <a:xfrm>
            <a:off x="228600" y="1752600"/>
            <a:ext cx="8610600" cy="2751522"/>
          </a:xfrm>
          <a:prstGeom prst="rect">
            <a:avLst/>
          </a:prstGeom>
        </p:spPr>
        <p:txBody>
          <a:bodyPr wrap="square">
            <a:spAutoFit/>
          </a:bodyPr>
          <a:lstStyle/>
          <a:p>
            <a:pPr lvl="0" algn="just" fontAlgn="base">
              <a:lnSpc>
                <a:spcPct val="102000"/>
              </a:lnSpc>
              <a:spcBef>
                <a:spcPts val="588"/>
              </a:spcBef>
              <a:spcAft>
                <a:spcPct val="0"/>
              </a:spcAft>
            </a:pPr>
            <a:r>
              <a:rPr lang="en-US" sz="2000" b="1" i="1" dirty="0">
                <a:solidFill>
                  <a:prstClr val="black"/>
                </a:solidFill>
                <a:latin typeface="Times New Roman" pitchFamily="18" charset="0"/>
                <a:cs typeface="Times New Roman" pitchFamily="18" charset="0"/>
              </a:rPr>
              <a:t> Management is a universal activity: </a:t>
            </a:r>
          </a:p>
          <a:p>
            <a:pPr lvl="0" algn="just" fontAlgn="base">
              <a:lnSpc>
                <a:spcPct val="102000"/>
              </a:lnSpc>
              <a:spcBef>
                <a:spcPts val="588"/>
              </a:spcBef>
              <a:spcAft>
                <a:spcPct val="0"/>
              </a:spcAft>
            </a:pPr>
            <a:endParaRPr lang="en-US" sz="2000" b="1" i="1" dirty="0">
              <a:solidFill>
                <a:prstClr val="black"/>
              </a:solidFill>
              <a:latin typeface="Times New Roman" pitchFamily="18" charset="0"/>
              <a:cs typeface="Times New Roman" pitchFamily="18" charset="0"/>
            </a:endParaRPr>
          </a:p>
          <a:p>
            <a:pPr lvl="0" algn="just" fontAlgn="base">
              <a:lnSpc>
                <a:spcPct val="102000"/>
              </a:lnSpc>
              <a:spcBef>
                <a:spcPts val="588"/>
              </a:spcBef>
              <a:spcAft>
                <a:spcPct val="0"/>
              </a:spcAft>
            </a:pPr>
            <a:r>
              <a:rPr lang="en-US" sz="2000" dirty="0">
                <a:solidFill>
                  <a:prstClr val="black"/>
                </a:solidFill>
                <a:latin typeface="Times New Roman" pitchFamily="18" charset="0"/>
                <a:cs typeface="Times New Roman" pitchFamily="18" charset="0"/>
              </a:rPr>
              <a:t>Management does not apply to business undertakings only.</a:t>
            </a:r>
          </a:p>
          <a:p>
            <a:pPr lvl="0" algn="just" fontAlgn="base">
              <a:lnSpc>
                <a:spcPct val="102000"/>
              </a:lnSpc>
              <a:spcBef>
                <a:spcPts val="588"/>
              </a:spcBef>
              <a:spcAft>
                <a:spcPct val="0"/>
              </a:spcAft>
            </a:pPr>
            <a:endParaRPr lang="en-US" sz="2000" dirty="0">
              <a:solidFill>
                <a:prstClr val="black"/>
              </a:solidFill>
              <a:latin typeface="Times New Roman" pitchFamily="18" charset="0"/>
              <a:cs typeface="Times New Roman" pitchFamily="18" charset="0"/>
            </a:endParaRPr>
          </a:p>
          <a:p>
            <a:pPr lvl="0" algn="just" fontAlgn="base">
              <a:lnSpc>
                <a:spcPct val="102000"/>
              </a:lnSpc>
              <a:spcBef>
                <a:spcPts val="588"/>
              </a:spcBef>
              <a:spcAft>
                <a:spcPct val="0"/>
              </a:spcAft>
            </a:pPr>
            <a:r>
              <a:rPr lang="en-US" sz="2000" dirty="0">
                <a:solidFill>
                  <a:prstClr val="black"/>
                </a:solidFill>
                <a:latin typeface="Times New Roman" pitchFamily="18" charset="0"/>
                <a:cs typeface="Times New Roman" pitchFamily="18" charset="0"/>
              </a:rPr>
              <a:t>It applies to political, social, religious, and educational institutions also. </a:t>
            </a:r>
          </a:p>
          <a:p>
            <a:pPr lvl="0" algn="just" fontAlgn="base">
              <a:lnSpc>
                <a:spcPct val="102000"/>
              </a:lnSpc>
              <a:spcBef>
                <a:spcPts val="588"/>
              </a:spcBef>
              <a:spcAft>
                <a:spcPct val="0"/>
              </a:spcAft>
            </a:pPr>
            <a:endParaRPr lang="en-US" sz="2000" dirty="0">
              <a:solidFill>
                <a:prstClr val="black"/>
              </a:solidFill>
              <a:latin typeface="Times New Roman" pitchFamily="18" charset="0"/>
              <a:cs typeface="Times New Roman" pitchFamily="18" charset="0"/>
            </a:endParaRPr>
          </a:p>
          <a:p>
            <a:pPr lvl="0" algn="just" fontAlgn="base">
              <a:lnSpc>
                <a:spcPct val="102000"/>
              </a:lnSpc>
              <a:spcBef>
                <a:spcPts val="588"/>
              </a:spcBef>
              <a:spcAft>
                <a:spcPct val="0"/>
              </a:spcAft>
            </a:pPr>
            <a:endParaRPr lang="en-US" sz="2000" dirty="0">
              <a:solidFill>
                <a:prstClr val="black"/>
              </a:solidFill>
              <a:latin typeface="Times New Roman" pitchFamily="18" charset="0"/>
              <a:cs typeface="Times New Roman" pitchFamily="18" charset="0"/>
            </a:endParaRPr>
          </a:p>
        </p:txBody>
      </p:sp>
    </p:spTree>
    <p:extLst>
      <p:ext uri="{BB962C8B-B14F-4D97-AF65-F5344CB8AC3E}">
        <p14:creationId xmlns:p14="http://schemas.microsoft.com/office/powerpoint/2010/main" val="1582793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u="sng" dirty="0">
                <a:solidFill>
                  <a:schemeClr val="tx1"/>
                </a:solidFill>
                <a:latin typeface="Times New Roman" pitchFamily="18" charset="0"/>
                <a:cs typeface="Times New Roman" pitchFamily="18" charset="0"/>
              </a:rPr>
              <a:t>CHARACTERISTICS  OF  MANAGEMENT</a:t>
            </a:r>
            <a:endParaRPr lang="en-US" sz="2800" dirty="0">
              <a:solidFill>
                <a:schemeClr val="tx1"/>
              </a:solidFill>
            </a:endParaRPr>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18</a:t>
            </a:fld>
            <a:endParaRPr lang="en-US"/>
          </a:p>
        </p:txBody>
      </p:sp>
      <p:sp>
        <p:nvSpPr>
          <p:cNvPr id="4" name="Rectangle 3"/>
          <p:cNvSpPr/>
          <p:nvPr/>
        </p:nvSpPr>
        <p:spPr>
          <a:xfrm>
            <a:off x="228600" y="1752600"/>
            <a:ext cx="8610600" cy="3847207"/>
          </a:xfrm>
          <a:prstGeom prst="rect">
            <a:avLst/>
          </a:prstGeom>
        </p:spPr>
        <p:txBody>
          <a:bodyPr wrap="square">
            <a:spAutoFit/>
          </a:bodyPr>
          <a:lstStyle/>
          <a:p>
            <a:pPr algn="just" fontAlgn="base">
              <a:lnSpc>
                <a:spcPct val="95000"/>
              </a:lnSpc>
              <a:spcBef>
                <a:spcPts val="600"/>
              </a:spcBef>
              <a:spcAft>
                <a:spcPct val="0"/>
              </a:spcAft>
            </a:pPr>
            <a:r>
              <a:rPr lang="en-US" sz="2000" b="1" i="1" dirty="0">
                <a:solidFill>
                  <a:prstClr val="black"/>
                </a:solidFill>
                <a:latin typeface="Times New Roman" pitchFamily="18" charset="0"/>
                <a:cs typeface="Times New Roman" pitchFamily="18" charset="0"/>
              </a:rPr>
              <a:t> Management is a continuous process:</a:t>
            </a:r>
          </a:p>
          <a:p>
            <a:pPr algn="just" fontAlgn="base">
              <a:lnSpc>
                <a:spcPct val="95000"/>
              </a:lnSpc>
              <a:spcBef>
                <a:spcPts val="600"/>
              </a:spcBef>
              <a:spcAft>
                <a:spcPct val="0"/>
              </a:spcAft>
            </a:pPr>
            <a:endParaRPr lang="en-US" sz="2000" b="1" i="1" dirty="0">
              <a:solidFill>
                <a:prstClr val="black"/>
              </a:solidFill>
              <a:latin typeface="Times New Roman" pitchFamily="18" charset="0"/>
              <a:cs typeface="Times New Roman" pitchFamily="18" charset="0"/>
            </a:endParaRPr>
          </a:p>
          <a:p>
            <a:pPr algn="just" fontAlgn="base">
              <a:lnSpc>
                <a:spcPct val="95000"/>
              </a:lnSpc>
              <a:spcBef>
                <a:spcPts val="600"/>
              </a:spcBef>
              <a:spcAft>
                <a:spcPct val="0"/>
              </a:spcAft>
            </a:pPr>
            <a:r>
              <a:rPr lang="en-US" sz="2000" dirty="0">
                <a:solidFill>
                  <a:prstClr val="black"/>
                </a:solidFill>
                <a:latin typeface="Times New Roman" pitchFamily="18" charset="0"/>
                <a:cs typeface="Times New Roman" pitchFamily="18" charset="0"/>
              </a:rPr>
              <a:t>Management is a process, function or activity.</a:t>
            </a:r>
          </a:p>
          <a:p>
            <a:pPr algn="just" fontAlgn="base">
              <a:lnSpc>
                <a:spcPct val="95000"/>
              </a:lnSpc>
              <a:spcBef>
                <a:spcPts val="600"/>
              </a:spcBef>
              <a:spcAft>
                <a:spcPct val="0"/>
              </a:spcAft>
            </a:pPr>
            <a:endParaRPr lang="en-US" sz="2000" dirty="0">
              <a:solidFill>
                <a:prstClr val="black"/>
              </a:solidFill>
              <a:latin typeface="Times New Roman" pitchFamily="18" charset="0"/>
              <a:cs typeface="Times New Roman" pitchFamily="18" charset="0"/>
            </a:endParaRPr>
          </a:p>
          <a:p>
            <a:pPr algn="just" fontAlgn="base">
              <a:lnSpc>
                <a:spcPct val="95000"/>
              </a:lnSpc>
              <a:spcBef>
                <a:spcPts val="600"/>
              </a:spcBef>
              <a:spcAft>
                <a:spcPct val="0"/>
              </a:spcAft>
            </a:pPr>
            <a:r>
              <a:rPr lang="en-US" sz="2000" dirty="0">
                <a:solidFill>
                  <a:prstClr val="black"/>
                </a:solidFill>
                <a:latin typeface="Times New Roman" pitchFamily="18" charset="0"/>
                <a:cs typeface="Times New Roman" pitchFamily="18" charset="0"/>
              </a:rPr>
              <a:t>This process continues till the objectives set by administration are actually achieved.</a:t>
            </a:r>
          </a:p>
          <a:p>
            <a:pPr algn="just" fontAlgn="base">
              <a:lnSpc>
                <a:spcPct val="95000"/>
              </a:lnSpc>
              <a:spcBef>
                <a:spcPts val="600"/>
              </a:spcBef>
              <a:spcAft>
                <a:spcPct val="0"/>
              </a:spcAft>
            </a:pPr>
            <a:endParaRPr lang="en-US" sz="2000" dirty="0">
              <a:solidFill>
                <a:prstClr val="black"/>
              </a:solidFill>
              <a:latin typeface="Times New Roman" pitchFamily="18" charset="0"/>
              <a:cs typeface="Times New Roman" pitchFamily="18" charset="0"/>
            </a:endParaRPr>
          </a:p>
          <a:p>
            <a:pPr algn="just" fontAlgn="base">
              <a:lnSpc>
                <a:spcPct val="95000"/>
              </a:lnSpc>
              <a:spcBef>
                <a:spcPts val="600"/>
              </a:spcBef>
              <a:spcAft>
                <a:spcPct val="0"/>
              </a:spcAft>
            </a:pPr>
            <a:endParaRPr lang="en-US" sz="2000" dirty="0">
              <a:solidFill>
                <a:prstClr val="black"/>
              </a:solidFill>
              <a:latin typeface="Times New Roman" pitchFamily="18" charset="0"/>
              <a:cs typeface="Times New Roman" pitchFamily="18" charset="0"/>
            </a:endParaRPr>
          </a:p>
          <a:p>
            <a:pPr algn="just" fontAlgn="base">
              <a:lnSpc>
                <a:spcPct val="95000"/>
              </a:lnSpc>
              <a:spcBef>
                <a:spcPts val="600"/>
              </a:spcBef>
              <a:spcAft>
                <a:spcPct val="0"/>
              </a:spcAft>
            </a:pPr>
            <a:r>
              <a:rPr lang="en-US" sz="2000" dirty="0">
                <a:solidFill>
                  <a:prstClr val="black"/>
                </a:solidFill>
                <a:latin typeface="Times New Roman" pitchFamily="18" charset="0"/>
                <a:cs typeface="Times New Roman" pitchFamily="18" charset="0"/>
              </a:rPr>
              <a:t>"Management is a social process involving co-ordination of human and material resources  through  the  functions  of  planning,  </a:t>
            </a:r>
            <a:r>
              <a:rPr lang="en-US" sz="2000" dirty="0" err="1">
                <a:solidFill>
                  <a:prstClr val="black"/>
                </a:solidFill>
                <a:latin typeface="Times New Roman" pitchFamily="18" charset="0"/>
                <a:cs typeface="Times New Roman" pitchFamily="18" charset="0"/>
              </a:rPr>
              <a:t>organising</a:t>
            </a:r>
            <a:r>
              <a:rPr lang="en-US" sz="2000" dirty="0">
                <a:solidFill>
                  <a:prstClr val="black"/>
                </a:solidFill>
                <a:latin typeface="Times New Roman" pitchFamily="18" charset="0"/>
                <a:cs typeface="Times New Roman" pitchFamily="18" charset="0"/>
              </a:rPr>
              <a:t>,  staffing,  leading  and controlling in order to accomplish stated objectives".</a:t>
            </a:r>
          </a:p>
        </p:txBody>
      </p:sp>
    </p:spTree>
    <p:extLst>
      <p:ext uri="{BB962C8B-B14F-4D97-AF65-F5344CB8AC3E}">
        <p14:creationId xmlns:p14="http://schemas.microsoft.com/office/powerpoint/2010/main" val="29909341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u="sng" dirty="0">
                <a:solidFill>
                  <a:schemeClr val="tx1"/>
                </a:solidFill>
                <a:latin typeface="Times New Roman" pitchFamily="18" charset="0"/>
                <a:cs typeface="Times New Roman" pitchFamily="18" charset="0"/>
              </a:rPr>
              <a:t>CHARACTERISTICS  OF  MANAGEMENT</a:t>
            </a:r>
            <a:endParaRPr lang="en-US" sz="2800" dirty="0">
              <a:solidFill>
                <a:schemeClr val="tx1"/>
              </a:solidFill>
            </a:endParaRPr>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19</a:t>
            </a:fld>
            <a:endParaRPr lang="en-US"/>
          </a:p>
        </p:txBody>
      </p:sp>
      <p:sp>
        <p:nvSpPr>
          <p:cNvPr id="4" name="Rectangle 3"/>
          <p:cNvSpPr/>
          <p:nvPr/>
        </p:nvSpPr>
        <p:spPr>
          <a:xfrm>
            <a:off x="228600" y="1752600"/>
            <a:ext cx="8610600" cy="3444533"/>
          </a:xfrm>
          <a:prstGeom prst="rect">
            <a:avLst/>
          </a:prstGeom>
        </p:spPr>
        <p:txBody>
          <a:bodyPr wrap="square">
            <a:spAutoFit/>
          </a:bodyPr>
          <a:lstStyle/>
          <a:p>
            <a:pPr lvl="0" algn="just" fontAlgn="base">
              <a:lnSpc>
                <a:spcPts val="1275"/>
              </a:lnSpc>
              <a:spcBef>
                <a:spcPts val="625"/>
              </a:spcBef>
              <a:spcAft>
                <a:spcPct val="0"/>
              </a:spcAft>
            </a:pPr>
            <a:r>
              <a:rPr lang="en-US" sz="2000" b="1" i="1" dirty="0">
                <a:solidFill>
                  <a:prstClr val="black"/>
                </a:solidFill>
                <a:latin typeface="Times New Roman" pitchFamily="18" charset="0"/>
                <a:cs typeface="Times New Roman" pitchFamily="18" charset="0"/>
              </a:rPr>
              <a:t> Management  is  dynamic  and  not  static: </a:t>
            </a:r>
          </a:p>
          <a:p>
            <a:pPr lvl="0" algn="just" fontAlgn="base">
              <a:lnSpc>
                <a:spcPts val="1275"/>
              </a:lnSpc>
              <a:spcBef>
                <a:spcPts val="625"/>
              </a:spcBef>
              <a:spcAft>
                <a:spcPct val="0"/>
              </a:spcAft>
              <a:buFont typeface="Times New Roman" pitchFamily="18" charset="0"/>
              <a:buAutoNum type="arabicPeriod" startAt="10"/>
            </a:pPr>
            <a:endParaRPr lang="en-US" sz="2000" b="1" i="1" dirty="0">
              <a:solidFill>
                <a:prstClr val="black"/>
              </a:solidFill>
              <a:latin typeface="Times New Roman" pitchFamily="18" charset="0"/>
              <a:cs typeface="Times New Roman" pitchFamily="18" charset="0"/>
            </a:endParaRPr>
          </a:p>
          <a:p>
            <a:pPr lvl="0" algn="just" fontAlgn="base">
              <a:lnSpc>
                <a:spcPts val="1275"/>
              </a:lnSpc>
              <a:spcBef>
                <a:spcPts val="625"/>
              </a:spcBef>
              <a:spcAft>
                <a:spcPct val="0"/>
              </a:spcAft>
            </a:pPr>
            <a:r>
              <a:rPr lang="en-US" sz="2000" dirty="0">
                <a:solidFill>
                  <a:prstClr val="black"/>
                </a:solidFill>
                <a:latin typeface="Times New Roman" pitchFamily="18" charset="0"/>
                <a:cs typeface="Times New Roman" pitchFamily="18" charset="0"/>
              </a:rPr>
              <a:t>The  principles  of  management  are dynamic and not static.</a:t>
            </a:r>
          </a:p>
          <a:p>
            <a:pPr lvl="0" algn="just" fontAlgn="base">
              <a:lnSpc>
                <a:spcPts val="1275"/>
              </a:lnSpc>
              <a:spcBef>
                <a:spcPts val="625"/>
              </a:spcBef>
              <a:spcAft>
                <a:spcPct val="0"/>
              </a:spcAft>
            </a:pPr>
            <a:endParaRPr lang="en-US" sz="2000" dirty="0">
              <a:solidFill>
                <a:prstClr val="black"/>
              </a:solidFill>
              <a:latin typeface="Times New Roman" pitchFamily="18" charset="0"/>
              <a:cs typeface="Times New Roman" pitchFamily="18" charset="0"/>
            </a:endParaRPr>
          </a:p>
          <a:p>
            <a:pPr lvl="0" algn="just" fontAlgn="base">
              <a:lnSpc>
                <a:spcPts val="1275"/>
              </a:lnSpc>
              <a:spcBef>
                <a:spcPts val="625"/>
              </a:spcBef>
              <a:spcAft>
                <a:spcPct val="0"/>
              </a:spcAft>
            </a:pPr>
            <a:r>
              <a:rPr lang="en-US" sz="2000" dirty="0">
                <a:solidFill>
                  <a:prstClr val="black"/>
                </a:solidFill>
                <a:latin typeface="Times New Roman" pitchFamily="18" charset="0"/>
                <a:cs typeface="Times New Roman" pitchFamily="18" charset="0"/>
              </a:rPr>
              <a:t>It has to adopt itself according to social changes.</a:t>
            </a:r>
          </a:p>
          <a:p>
            <a:pPr lvl="0" algn="just" fontAlgn="base">
              <a:lnSpc>
                <a:spcPts val="1275"/>
              </a:lnSpc>
              <a:spcBef>
                <a:spcPts val="625"/>
              </a:spcBef>
              <a:spcAft>
                <a:spcPct val="0"/>
              </a:spcAft>
              <a:buFont typeface="Times New Roman" pitchFamily="18" charset="0"/>
              <a:buAutoNum type="arabicPeriod" startAt="10"/>
            </a:pPr>
            <a:endParaRPr lang="en-US" sz="2000" dirty="0">
              <a:solidFill>
                <a:prstClr val="black"/>
              </a:solidFill>
              <a:latin typeface="Times New Roman" pitchFamily="18" charset="0"/>
              <a:cs typeface="Times New Roman" pitchFamily="18" charset="0"/>
            </a:endParaRPr>
          </a:p>
          <a:p>
            <a:pPr lvl="0" algn="just" fontAlgn="base">
              <a:lnSpc>
                <a:spcPts val="1275"/>
              </a:lnSpc>
              <a:spcBef>
                <a:spcPts val="625"/>
              </a:spcBef>
              <a:spcAft>
                <a:spcPct val="0"/>
              </a:spcAft>
              <a:buFont typeface="Times New Roman" pitchFamily="18" charset="0"/>
              <a:buAutoNum type="arabicPeriod" startAt="10"/>
            </a:pPr>
            <a:endParaRPr lang="en-US" sz="2000" dirty="0">
              <a:solidFill>
                <a:prstClr val="black"/>
              </a:solidFill>
              <a:latin typeface="Times New Roman" pitchFamily="18" charset="0"/>
              <a:cs typeface="Times New Roman" pitchFamily="18" charset="0"/>
            </a:endParaRPr>
          </a:p>
          <a:p>
            <a:pPr lvl="0" algn="just" fontAlgn="base">
              <a:lnSpc>
                <a:spcPct val="97000"/>
              </a:lnSpc>
              <a:spcBef>
                <a:spcPts val="575"/>
              </a:spcBef>
              <a:spcAft>
                <a:spcPct val="0"/>
              </a:spcAft>
            </a:pPr>
            <a:r>
              <a:rPr lang="en-US" sz="2000" b="1" i="1" dirty="0">
                <a:solidFill>
                  <a:prstClr val="black"/>
                </a:solidFill>
                <a:latin typeface="Times New Roman" pitchFamily="18" charset="0"/>
                <a:cs typeface="Times New Roman" pitchFamily="18" charset="0"/>
              </a:rPr>
              <a:t>Management draws ideas and concepts from various disciplines: </a:t>
            </a:r>
            <a:r>
              <a:rPr lang="en-US" sz="2000" dirty="0">
                <a:solidFill>
                  <a:prstClr val="black"/>
                </a:solidFill>
                <a:latin typeface="Times New Roman" pitchFamily="18" charset="0"/>
                <a:cs typeface="Times New Roman" pitchFamily="18" charset="0"/>
              </a:rPr>
              <a:t>Management is an interdisciplinary study.</a:t>
            </a:r>
          </a:p>
          <a:p>
            <a:pPr lvl="0" algn="just" fontAlgn="base">
              <a:lnSpc>
                <a:spcPct val="97000"/>
              </a:lnSpc>
              <a:spcBef>
                <a:spcPts val="575"/>
              </a:spcBef>
              <a:spcAft>
                <a:spcPct val="0"/>
              </a:spcAft>
            </a:pPr>
            <a:endParaRPr lang="en-US" sz="2000" dirty="0">
              <a:solidFill>
                <a:prstClr val="black"/>
              </a:solidFill>
              <a:latin typeface="Times New Roman" pitchFamily="18" charset="0"/>
              <a:cs typeface="Times New Roman" pitchFamily="18" charset="0"/>
            </a:endParaRPr>
          </a:p>
          <a:p>
            <a:pPr lvl="0" algn="just" fontAlgn="base">
              <a:lnSpc>
                <a:spcPct val="97000"/>
              </a:lnSpc>
              <a:spcBef>
                <a:spcPts val="575"/>
              </a:spcBef>
              <a:spcAft>
                <a:spcPct val="0"/>
              </a:spcAft>
            </a:pPr>
            <a:r>
              <a:rPr lang="en-US" sz="2000" dirty="0">
                <a:solidFill>
                  <a:prstClr val="black"/>
                </a:solidFill>
                <a:latin typeface="Times New Roman" pitchFamily="18" charset="0"/>
                <a:cs typeface="Times New Roman" pitchFamily="18" charset="0"/>
              </a:rPr>
              <a:t>It draws ideas and concepts from various disciplines like economics, statistics, mathematics, psychology, sociology, anthropology </a:t>
            </a:r>
            <a:r>
              <a:rPr lang="en-US" sz="2000" dirty="0" err="1">
                <a:solidFill>
                  <a:prstClr val="black"/>
                </a:solidFill>
                <a:latin typeface="Times New Roman" pitchFamily="18" charset="0"/>
                <a:cs typeface="Times New Roman" pitchFamily="18" charset="0"/>
              </a:rPr>
              <a:t>etc</a:t>
            </a:r>
            <a:endParaRPr lang="en-US" sz="2000" dirty="0">
              <a:solidFill>
                <a:prstClr val="black"/>
              </a:solidFill>
              <a:latin typeface="Times New Roman" pitchFamily="18" charset="0"/>
              <a:cs typeface="Times New Roman" pitchFamily="18" charset="0"/>
            </a:endParaRPr>
          </a:p>
        </p:txBody>
      </p:sp>
    </p:spTree>
    <p:extLst>
      <p:ext uri="{BB962C8B-B14F-4D97-AF65-F5344CB8AC3E}">
        <p14:creationId xmlns:p14="http://schemas.microsoft.com/office/powerpoint/2010/main" val="34469855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u="sng" dirty="0">
                <a:solidFill>
                  <a:schemeClr val="tx1"/>
                </a:solidFill>
                <a:latin typeface="Times New Roman" pitchFamily="18" charset="0"/>
                <a:cs typeface="Times New Roman" pitchFamily="18" charset="0"/>
              </a:rPr>
              <a:t>CHARACTERISTICS  OF  MANAGEMENT</a:t>
            </a:r>
            <a:endParaRPr lang="en-US" sz="2800" dirty="0">
              <a:solidFill>
                <a:schemeClr val="tx1"/>
              </a:solidFill>
            </a:endParaRPr>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20</a:t>
            </a:fld>
            <a:endParaRPr lang="en-US"/>
          </a:p>
        </p:txBody>
      </p:sp>
      <p:sp>
        <p:nvSpPr>
          <p:cNvPr id="4" name="Rectangle 3"/>
          <p:cNvSpPr/>
          <p:nvPr/>
        </p:nvSpPr>
        <p:spPr>
          <a:xfrm>
            <a:off x="228600" y="1752600"/>
            <a:ext cx="8610600" cy="2674578"/>
          </a:xfrm>
          <a:prstGeom prst="rect">
            <a:avLst/>
          </a:prstGeom>
        </p:spPr>
        <p:txBody>
          <a:bodyPr wrap="square">
            <a:spAutoFit/>
          </a:bodyPr>
          <a:lstStyle/>
          <a:p>
            <a:pPr algn="just" fontAlgn="base">
              <a:lnSpc>
                <a:spcPct val="102000"/>
              </a:lnSpc>
              <a:spcBef>
                <a:spcPts val="588"/>
              </a:spcBef>
              <a:spcAft>
                <a:spcPct val="0"/>
              </a:spcAft>
            </a:pPr>
            <a:r>
              <a:rPr lang="en-US" sz="2000" b="1" i="1" dirty="0">
                <a:solidFill>
                  <a:prstClr val="black"/>
                </a:solidFill>
                <a:latin typeface="Times New Roman" pitchFamily="18" charset="0"/>
                <a:cs typeface="Times New Roman" pitchFamily="18" charset="0"/>
              </a:rPr>
              <a:t>Management  is  a  Science  as  well  as  an  Art:  </a:t>
            </a:r>
          </a:p>
          <a:p>
            <a:pPr algn="just" fontAlgn="base">
              <a:lnSpc>
                <a:spcPct val="102000"/>
              </a:lnSpc>
              <a:spcBef>
                <a:spcPts val="588"/>
              </a:spcBef>
              <a:spcAft>
                <a:spcPct val="0"/>
              </a:spcAft>
            </a:pPr>
            <a:endParaRPr lang="en-US" sz="2000" b="1" i="1" dirty="0">
              <a:solidFill>
                <a:prstClr val="black"/>
              </a:solidFill>
              <a:latin typeface="Times New Roman" pitchFamily="18" charset="0"/>
              <a:cs typeface="Times New Roman" pitchFamily="18" charset="0"/>
            </a:endParaRPr>
          </a:p>
          <a:p>
            <a:pPr algn="just" fontAlgn="base">
              <a:lnSpc>
                <a:spcPct val="102000"/>
              </a:lnSpc>
              <a:spcBef>
                <a:spcPts val="588"/>
              </a:spcBef>
              <a:spcAft>
                <a:spcPct val="0"/>
              </a:spcAft>
            </a:pPr>
            <a:r>
              <a:rPr lang="en-US" sz="2000" dirty="0">
                <a:solidFill>
                  <a:prstClr val="black"/>
                </a:solidFill>
                <a:latin typeface="Times New Roman" pitchFamily="18" charset="0"/>
                <a:cs typeface="Times New Roman" pitchFamily="18" charset="0"/>
              </a:rPr>
              <a:t>Management  is  a  science because there are definite principles of management.</a:t>
            </a:r>
          </a:p>
          <a:p>
            <a:pPr algn="just" fontAlgn="base">
              <a:lnSpc>
                <a:spcPct val="102000"/>
              </a:lnSpc>
              <a:spcBef>
                <a:spcPts val="588"/>
              </a:spcBef>
              <a:spcAft>
                <a:spcPct val="0"/>
              </a:spcAft>
            </a:pPr>
            <a:endParaRPr lang="en-US" sz="2000" dirty="0">
              <a:solidFill>
                <a:prstClr val="black"/>
              </a:solidFill>
              <a:latin typeface="Times New Roman" pitchFamily="18" charset="0"/>
              <a:cs typeface="Times New Roman" pitchFamily="18" charset="0"/>
            </a:endParaRPr>
          </a:p>
          <a:p>
            <a:pPr algn="just" fontAlgn="base">
              <a:lnSpc>
                <a:spcPct val="102000"/>
              </a:lnSpc>
              <a:spcBef>
                <a:spcPts val="588"/>
              </a:spcBef>
              <a:spcAft>
                <a:spcPct val="0"/>
              </a:spcAft>
            </a:pPr>
            <a:endParaRPr lang="en-US" sz="2000" dirty="0">
              <a:solidFill>
                <a:prstClr val="black"/>
              </a:solidFill>
              <a:latin typeface="Times New Roman" pitchFamily="18" charset="0"/>
              <a:cs typeface="Times New Roman" pitchFamily="18" charset="0"/>
            </a:endParaRPr>
          </a:p>
          <a:p>
            <a:pPr algn="just" fontAlgn="base">
              <a:lnSpc>
                <a:spcPct val="102000"/>
              </a:lnSpc>
              <a:spcBef>
                <a:spcPts val="588"/>
              </a:spcBef>
              <a:spcAft>
                <a:spcPct val="0"/>
              </a:spcAft>
            </a:pPr>
            <a:r>
              <a:rPr lang="en-US" sz="2000" dirty="0">
                <a:solidFill>
                  <a:prstClr val="black"/>
                </a:solidFill>
                <a:latin typeface="Times New Roman" pitchFamily="18" charset="0"/>
                <a:cs typeface="Times New Roman" pitchFamily="18" charset="0"/>
              </a:rPr>
              <a:t>It is also an art because by the application of these principles predetermined objectives can be achieved</a:t>
            </a:r>
            <a:endParaRPr lang="en-US" sz="4000" dirty="0">
              <a:solidFill>
                <a:prstClr val="black"/>
              </a:solidFill>
              <a:latin typeface="Times New Roman" pitchFamily="18" charset="0"/>
              <a:cs typeface="Times New Roman" pitchFamily="18" charset="0"/>
            </a:endParaRPr>
          </a:p>
        </p:txBody>
      </p:sp>
    </p:spTree>
    <p:extLst>
      <p:ext uri="{BB962C8B-B14F-4D97-AF65-F5344CB8AC3E}">
        <p14:creationId xmlns:p14="http://schemas.microsoft.com/office/powerpoint/2010/main" val="14626661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u="sng" dirty="0">
                <a:solidFill>
                  <a:schemeClr val="tx1"/>
                </a:solidFill>
                <a:latin typeface="Times New Roman" pitchFamily="18" charset="0"/>
                <a:cs typeface="Times New Roman" pitchFamily="18" charset="0"/>
              </a:rPr>
              <a:t>CHARACTERISTICS  OF  MANAGEMENT</a:t>
            </a:r>
            <a:endParaRPr lang="en-US" sz="2800" dirty="0">
              <a:solidFill>
                <a:schemeClr val="tx1"/>
              </a:solidFill>
            </a:endParaRPr>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21</a:t>
            </a:fld>
            <a:endParaRPr lang="en-US"/>
          </a:p>
        </p:txBody>
      </p:sp>
      <p:sp>
        <p:nvSpPr>
          <p:cNvPr id="4" name="Rectangle 3"/>
          <p:cNvSpPr/>
          <p:nvPr/>
        </p:nvSpPr>
        <p:spPr>
          <a:xfrm>
            <a:off x="228600" y="1752600"/>
            <a:ext cx="8610600" cy="2395656"/>
          </a:xfrm>
          <a:prstGeom prst="rect">
            <a:avLst/>
          </a:prstGeom>
        </p:spPr>
        <p:txBody>
          <a:bodyPr wrap="square">
            <a:spAutoFit/>
          </a:bodyPr>
          <a:lstStyle/>
          <a:p>
            <a:pPr lvl="0" algn="just" fontAlgn="base">
              <a:lnSpc>
                <a:spcPct val="97000"/>
              </a:lnSpc>
              <a:spcBef>
                <a:spcPts val="600"/>
              </a:spcBef>
              <a:spcAft>
                <a:spcPct val="0"/>
              </a:spcAft>
            </a:pPr>
            <a:r>
              <a:rPr lang="en-US" sz="2400" b="1" i="1" dirty="0">
                <a:solidFill>
                  <a:prstClr val="black"/>
                </a:solidFill>
                <a:latin typeface="Times New Roman" pitchFamily="18" charset="0"/>
                <a:cs typeface="Times New Roman" pitchFamily="18" charset="0"/>
              </a:rPr>
              <a:t>Management is a Profession:</a:t>
            </a:r>
          </a:p>
          <a:p>
            <a:pPr lvl="0" algn="just" fontAlgn="base">
              <a:lnSpc>
                <a:spcPct val="97000"/>
              </a:lnSpc>
              <a:spcBef>
                <a:spcPts val="600"/>
              </a:spcBef>
              <a:spcAft>
                <a:spcPct val="0"/>
              </a:spcAft>
            </a:pPr>
            <a:endParaRPr lang="en-US" sz="2400" b="1" i="1" dirty="0">
              <a:solidFill>
                <a:prstClr val="black"/>
              </a:solidFill>
              <a:latin typeface="Times New Roman" pitchFamily="18" charset="0"/>
              <a:cs typeface="Times New Roman" pitchFamily="18" charset="0"/>
            </a:endParaRPr>
          </a:p>
          <a:p>
            <a:pPr lvl="0" algn="just" fontAlgn="base">
              <a:lnSpc>
                <a:spcPct val="97000"/>
              </a:lnSpc>
              <a:spcBef>
                <a:spcPts val="600"/>
              </a:spcBef>
              <a:spcAft>
                <a:spcPct val="0"/>
              </a:spcAft>
            </a:pPr>
            <a:r>
              <a:rPr lang="en-US" sz="2400" dirty="0">
                <a:solidFill>
                  <a:prstClr val="black"/>
                </a:solidFill>
                <a:latin typeface="Times New Roman" pitchFamily="18" charset="0"/>
                <a:cs typeface="Times New Roman" pitchFamily="18" charset="0"/>
              </a:rPr>
              <a:t>Management is gradually becoming a profession because there are established principles of management which are being applied in practice, and it involves </a:t>
            </a:r>
            <a:r>
              <a:rPr lang="en-US" sz="2400" dirty="0" err="1">
                <a:solidFill>
                  <a:prstClr val="black"/>
                </a:solidFill>
                <a:latin typeface="Times New Roman" pitchFamily="18" charset="0"/>
                <a:cs typeface="Times New Roman" pitchFamily="18" charset="0"/>
              </a:rPr>
              <a:t>specialised</a:t>
            </a:r>
            <a:r>
              <a:rPr lang="en-US" sz="2400" dirty="0">
                <a:solidFill>
                  <a:prstClr val="black"/>
                </a:solidFill>
                <a:latin typeface="Times New Roman" pitchFamily="18" charset="0"/>
                <a:cs typeface="Times New Roman" pitchFamily="18" charset="0"/>
              </a:rPr>
              <a:t> training and is governed by ethical code arising out of its social obligations.</a:t>
            </a:r>
          </a:p>
        </p:txBody>
      </p:sp>
    </p:spTree>
    <p:extLst>
      <p:ext uri="{BB962C8B-B14F-4D97-AF65-F5344CB8AC3E}">
        <p14:creationId xmlns:p14="http://schemas.microsoft.com/office/powerpoint/2010/main" val="6337629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u="sng" dirty="0">
                <a:solidFill>
                  <a:schemeClr val="tx1"/>
                </a:solidFill>
                <a:latin typeface="Times New Roman" pitchFamily="18" charset="0"/>
                <a:cs typeface="Times New Roman" pitchFamily="18" charset="0"/>
              </a:rPr>
              <a:t>CHARACTERISTICS  OF  MANAGEMENT</a:t>
            </a:r>
            <a:endParaRPr lang="en-US" sz="2800" dirty="0">
              <a:solidFill>
                <a:schemeClr val="tx1"/>
              </a:solidFill>
            </a:endParaRPr>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22</a:t>
            </a:fld>
            <a:endParaRPr lang="en-US"/>
          </a:p>
        </p:txBody>
      </p:sp>
      <p:sp>
        <p:nvSpPr>
          <p:cNvPr id="4" name="Rectangle 3"/>
          <p:cNvSpPr/>
          <p:nvPr/>
        </p:nvSpPr>
        <p:spPr>
          <a:xfrm>
            <a:off x="177219" y="1591720"/>
            <a:ext cx="8610600" cy="5288051"/>
          </a:xfrm>
          <a:prstGeom prst="rect">
            <a:avLst/>
          </a:prstGeom>
        </p:spPr>
        <p:txBody>
          <a:bodyPr wrap="square">
            <a:spAutoFit/>
          </a:bodyPr>
          <a:lstStyle/>
          <a:p>
            <a:pPr lvl="0" algn="just" fontAlgn="base">
              <a:lnSpc>
                <a:spcPct val="97000"/>
              </a:lnSpc>
              <a:spcBef>
                <a:spcPts val="588"/>
              </a:spcBef>
              <a:spcAft>
                <a:spcPct val="0"/>
              </a:spcAft>
            </a:pPr>
            <a:r>
              <a:rPr lang="en-US" sz="2400" b="1" i="1" dirty="0">
                <a:solidFill>
                  <a:prstClr val="black"/>
                </a:solidFill>
                <a:latin typeface="Times New Roman" pitchFamily="18" charset="0"/>
                <a:cs typeface="Times New Roman" pitchFamily="18" charset="0"/>
              </a:rPr>
              <a:t>Management is a system of authority:</a:t>
            </a:r>
          </a:p>
          <a:p>
            <a:pPr lvl="0" algn="just" fontAlgn="base">
              <a:lnSpc>
                <a:spcPct val="97000"/>
              </a:lnSpc>
              <a:spcBef>
                <a:spcPts val="588"/>
              </a:spcBef>
              <a:spcAft>
                <a:spcPct val="0"/>
              </a:spcAft>
            </a:pPr>
            <a:endParaRPr lang="en-US" sz="2400" b="1" i="1" dirty="0">
              <a:solidFill>
                <a:prstClr val="black"/>
              </a:solidFill>
              <a:latin typeface="Times New Roman" pitchFamily="18" charset="0"/>
              <a:cs typeface="Times New Roman" pitchFamily="18" charset="0"/>
            </a:endParaRPr>
          </a:p>
          <a:p>
            <a:pPr lvl="0" algn="just" fontAlgn="base">
              <a:lnSpc>
                <a:spcPct val="97000"/>
              </a:lnSpc>
              <a:spcBef>
                <a:spcPts val="588"/>
              </a:spcBef>
              <a:spcAft>
                <a:spcPct val="0"/>
              </a:spcAft>
            </a:pPr>
            <a:r>
              <a:rPr lang="en-US" sz="2400" dirty="0">
                <a:solidFill>
                  <a:prstClr val="black"/>
                </a:solidFill>
                <a:latin typeface="Times New Roman" pitchFamily="18" charset="0"/>
                <a:cs typeface="Times New Roman" pitchFamily="18" charset="0"/>
              </a:rPr>
              <a:t>Authority means power to make others act in a predetermined manner. </a:t>
            </a:r>
          </a:p>
          <a:p>
            <a:pPr lvl="0" algn="just" fontAlgn="base">
              <a:lnSpc>
                <a:spcPct val="97000"/>
              </a:lnSpc>
              <a:spcBef>
                <a:spcPts val="588"/>
              </a:spcBef>
              <a:spcAft>
                <a:spcPct val="0"/>
              </a:spcAft>
            </a:pPr>
            <a:endParaRPr lang="en-US" sz="2400" dirty="0">
              <a:solidFill>
                <a:prstClr val="black"/>
              </a:solidFill>
              <a:latin typeface="Times New Roman" pitchFamily="18" charset="0"/>
              <a:cs typeface="Times New Roman" pitchFamily="18" charset="0"/>
            </a:endParaRPr>
          </a:p>
          <a:p>
            <a:pPr lvl="0" algn="just" fontAlgn="base">
              <a:lnSpc>
                <a:spcPct val="97000"/>
              </a:lnSpc>
              <a:spcBef>
                <a:spcPts val="588"/>
              </a:spcBef>
              <a:spcAft>
                <a:spcPct val="0"/>
              </a:spcAft>
            </a:pPr>
            <a:endParaRPr lang="en-US" sz="2400" dirty="0">
              <a:solidFill>
                <a:prstClr val="black"/>
              </a:solidFill>
              <a:latin typeface="Times New Roman" pitchFamily="18" charset="0"/>
              <a:cs typeface="Times New Roman" pitchFamily="18" charset="0"/>
            </a:endParaRPr>
          </a:p>
          <a:p>
            <a:pPr lvl="0" algn="just" fontAlgn="base">
              <a:lnSpc>
                <a:spcPct val="97000"/>
              </a:lnSpc>
              <a:spcBef>
                <a:spcPts val="588"/>
              </a:spcBef>
              <a:spcAft>
                <a:spcPct val="0"/>
              </a:spcAft>
            </a:pPr>
            <a:r>
              <a:rPr lang="en-US" sz="2400" dirty="0">
                <a:solidFill>
                  <a:prstClr val="black"/>
                </a:solidFill>
                <a:latin typeface="Times New Roman" pitchFamily="18" charset="0"/>
                <a:cs typeface="Times New Roman" pitchFamily="18" charset="0"/>
              </a:rPr>
              <a:t>Management </a:t>
            </a:r>
            <a:r>
              <a:rPr lang="en-US" sz="2400" dirty="0" err="1">
                <a:solidFill>
                  <a:prstClr val="black"/>
                </a:solidFill>
                <a:latin typeface="Times New Roman" pitchFamily="18" charset="0"/>
                <a:cs typeface="Times New Roman" pitchFamily="18" charset="0"/>
              </a:rPr>
              <a:t>formalises</a:t>
            </a:r>
            <a:r>
              <a:rPr lang="en-US" sz="2400" dirty="0">
                <a:solidFill>
                  <a:prstClr val="black"/>
                </a:solidFill>
                <a:latin typeface="Times New Roman" pitchFamily="18" charset="0"/>
                <a:cs typeface="Times New Roman" pitchFamily="18" charset="0"/>
              </a:rPr>
              <a:t> a standard set of rules and procedure to be followed by the subordinates and ensures their compliance with the rules and regulations.</a:t>
            </a:r>
          </a:p>
          <a:p>
            <a:pPr lvl="0" algn="just" fontAlgn="base">
              <a:lnSpc>
                <a:spcPct val="97000"/>
              </a:lnSpc>
              <a:spcBef>
                <a:spcPts val="588"/>
              </a:spcBef>
              <a:spcAft>
                <a:spcPct val="0"/>
              </a:spcAft>
            </a:pPr>
            <a:endParaRPr lang="en-US" sz="2400" dirty="0">
              <a:solidFill>
                <a:prstClr val="black"/>
              </a:solidFill>
              <a:latin typeface="Times New Roman" pitchFamily="18" charset="0"/>
              <a:cs typeface="Times New Roman" pitchFamily="18" charset="0"/>
            </a:endParaRPr>
          </a:p>
          <a:p>
            <a:pPr lvl="0" algn="just" fontAlgn="base">
              <a:lnSpc>
                <a:spcPct val="97000"/>
              </a:lnSpc>
              <a:spcBef>
                <a:spcPts val="588"/>
              </a:spcBef>
              <a:spcAft>
                <a:spcPct val="0"/>
              </a:spcAft>
            </a:pPr>
            <a:r>
              <a:rPr lang="en-US" sz="2400" dirty="0">
                <a:solidFill>
                  <a:prstClr val="black"/>
                </a:solidFill>
                <a:latin typeface="Times New Roman" pitchFamily="18" charset="0"/>
                <a:cs typeface="Times New Roman" pitchFamily="18" charset="0"/>
              </a:rPr>
              <a:t>Since management is a process of directing men to perform a task, authority to extract the work from others is implied in the very concept of management.</a:t>
            </a:r>
          </a:p>
        </p:txBody>
      </p:sp>
    </p:spTree>
    <p:extLst>
      <p:ext uri="{BB962C8B-B14F-4D97-AF65-F5344CB8AC3E}">
        <p14:creationId xmlns:p14="http://schemas.microsoft.com/office/powerpoint/2010/main" val="31770475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u="sng" dirty="0">
                <a:solidFill>
                  <a:schemeClr val="tx1"/>
                </a:solidFill>
                <a:latin typeface="Times New Roman" pitchFamily="18" charset="0"/>
                <a:cs typeface="Times New Roman" pitchFamily="18" charset="0"/>
              </a:rPr>
              <a:t>CHARACTERISTICS  OF  MANAGEMENT</a:t>
            </a:r>
            <a:endParaRPr lang="en-US" sz="2800" dirty="0">
              <a:solidFill>
                <a:schemeClr val="tx1"/>
              </a:solidFill>
            </a:endParaRPr>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23</a:t>
            </a:fld>
            <a:endParaRPr lang="en-US"/>
          </a:p>
        </p:txBody>
      </p:sp>
      <p:sp>
        <p:nvSpPr>
          <p:cNvPr id="4" name="Rectangle 3"/>
          <p:cNvSpPr/>
          <p:nvPr/>
        </p:nvSpPr>
        <p:spPr>
          <a:xfrm>
            <a:off x="228600" y="1752600"/>
            <a:ext cx="8610600" cy="3316485"/>
          </a:xfrm>
          <a:prstGeom prst="rect">
            <a:avLst/>
          </a:prstGeom>
        </p:spPr>
        <p:txBody>
          <a:bodyPr wrap="square">
            <a:spAutoFit/>
          </a:bodyPr>
          <a:lstStyle/>
          <a:p>
            <a:pPr lvl="0" algn="just" fontAlgn="base">
              <a:lnSpc>
                <a:spcPct val="97000"/>
              </a:lnSpc>
              <a:spcBef>
                <a:spcPct val="0"/>
              </a:spcBef>
              <a:spcAft>
                <a:spcPct val="0"/>
              </a:spcAft>
            </a:pPr>
            <a:r>
              <a:rPr lang="en-US" sz="2400" b="1" i="1" dirty="0">
                <a:solidFill>
                  <a:prstClr val="black"/>
                </a:solidFill>
                <a:latin typeface="Times New Roman" pitchFamily="18" charset="0"/>
                <a:cs typeface="Times New Roman" pitchFamily="18" charset="0"/>
              </a:rPr>
              <a:t>Management involves decision-making:</a:t>
            </a:r>
          </a:p>
          <a:p>
            <a:pPr lvl="0" algn="just" fontAlgn="base">
              <a:lnSpc>
                <a:spcPct val="97000"/>
              </a:lnSpc>
              <a:spcBef>
                <a:spcPct val="0"/>
              </a:spcBef>
              <a:spcAft>
                <a:spcPct val="0"/>
              </a:spcAft>
              <a:buFont typeface="Times New Roman" pitchFamily="18" charset="0"/>
              <a:buAutoNum type="arabicPeriod" startAt="10"/>
            </a:pPr>
            <a:endParaRPr lang="en-US" sz="2400" b="1" i="1" dirty="0">
              <a:solidFill>
                <a:prstClr val="black"/>
              </a:solidFill>
              <a:latin typeface="Times New Roman" pitchFamily="18" charset="0"/>
              <a:cs typeface="Times New Roman" pitchFamily="18" charset="0"/>
            </a:endParaRPr>
          </a:p>
          <a:p>
            <a:pPr lvl="0" algn="just" fontAlgn="base">
              <a:lnSpc>
                <a:spcPct val="97000"/>
              </a:lnSpc>
              <a:spcBef>
                <a:spcPct val="0"/>
              </a:spcBef>
              <a:spcAft>
                <a:spcPct val="0"/>
              </a:spcAft>
            </a:pPr>
            <a:r>
              <a:rPr lang="en-US" sz="2400" dirty="0">
                <a:solidFill>
                  <a:prstClr val="black"/>
                </a:solidFill>
                <a:latin typeface="Times New Roman" pitchFamily="18" charset="0"/>
                <a:cs typeface="Times New Roman" pitchFamily="18" charset="0"/>
              </a:rPr>
              <a:t>Management implies making decisions regarding the </a:t>
            </a:r>
            <a:r>
              <a:rPr lang="en-US" sz="2400" dirty="0" err="1">
                <a:solidFill>
                  <a:prstClr val="black"/>
                </a:solidFill>
                <a:latin typeface="Times New Roman" pitchFamily="18" charset="0"/>
                <a:cs typeface="Times New Roman" pitchFamily="18" charset="0"/>
              </a:rPr>
              <a:t>organisation</a:t>
            </a:r>
            <a:r>
              <a:rPr lang="en-US" sz="2400" dirty="0">
                <a:solidFill>
                  <a:prstClr val="black"/>
                </a:solidFill>
                <a:latin typeface="Times New Roman" pitchFamily="18" charset="0"/>
                <a:cs typeface="Times New Roman" pitchFamily="18" charset="0"/>
              </a:rPr>
              <a:t> and operation of business in its different dimensions.</a:t>
            </a:r>
          </a:p>
          <a:p>
            <a:pPr lvl="0" algn="just" fontAlgn="base">
              <a:lnSpc>
                <a:spcPct val="97000"/>
              </a:lnSpc>
              <a:spcBef>
                <a:spcPct val="0"/>
              </a:spcBef>
              <a:spcAft>
                <a:spcPct val="0"/>
              </a:spcAft>
            </a:pPr>
            <a:endParaRPr lang="en-US" sz="2400" dirty="0">
              <a:solidFill>
                <a:prstClr val="black"/>
              </a:solidFill>
              <a:latin typeface="Times New Roman" pitchFamily="18" charset="0"/>
              <a:cs typeface="Times New Roman" pitchFamily="18" charset="0"/>
            </a:endParaRPr>
          </a:p>
          <a:p>
            <a:pPr lvl="0" algn="just" fontAlgn="base">
              <a:lnSpc>
                <a:spcPct val="97000"/>
              </a:lnSpc>
              <a:spcBef>
                <a:spcPct val="0"/>
              </a:spcBef>
              <a:spcAft>
                <a:spcPct val="0"/>
              </a:spcAft>
            </a:pPr>
            <a:r>
              <a:rPr lang="en-US" sz="2400" dirty="0">
                <a:solidFill>
                  <a:prstClr val="black"/>
                </a:solidFill>
                <a:latin typeface="Times New Roman" pitchFamily="18" charset="0"/>
                <a:cs typeface="Times New Roman" pitchFamily="18" charset="0"/>
              </a:rPr>
              <a:t>The success or failure of an </a:t>
            </a:r>
            <a:r>
              <a:rPr lang="en-US" sz="2400" dirty="0" err="1">
                <a:solidFill>
                  <a:prstClr val="black"/>
                </a:solidFill>
                <a:latin typeface="Times New Roman" pitchFamily="18" charset="0"/>
                <a:cs typeface="Times New Roman" pitchFamily="18" charset="0"/>
              </a:rPr>
              <a:t>organisation</a:t>
            </a:r>
            <a:r>
              <a:rPr lang="en-US" sz="2400" dirty="0">
                <a:solidFill>
                  <a:prstClr val="black"/>
                </a:solidFill>
                <a:latin typeface="Times New Roman" pitchFamily="18" charset="0"/>
                <a:cs typeface="Times New Roman" pitchFamily="18" charset="0"/>
              </a:rPr>
              <a:t> can be judged by the quality of decisions taken by the managers.</a:t>
            </a:r>
          </a:p>
          <a:p>
            <a:pPr lvl="0" algn="just" fontAlgn="base">
              <a:lnSpc>
                <a:spcPct val="97000"/>
              </a:lnSpc>
              <a:spcBef>
                <a:spcPct val="0"/>
              </a:spcBef>
              <a:spcAft>
                <a:spcPct val="0"/>
              </a:spcAft>
            </a:pPr>
            <a:endParaRPr lang="en-US" sz="2400" dirty="0">
              <a:solidFill>
                <a:prstClr val="black"/>
              </a:solidFill>
              <a:latin typeface="Times New Roman" pitchFamily="18" charset="0"/>
              <a:cs typeface="Times New Roman" pitchFamily="18" charset="0"/>
            </a:endParaRPr>
          </a:p>
          <a:p>
            <a:pPr lvl="0" algn="just" fontAlgn="base">
              <a:lnSpc>
                <a:spcPct val="97000"/>
              </a:lnSpc>
              <a:spcBef>
                <a:spcPct val="0"/>
              </a:spcBef>
              <a:spcAft>
                <a:spcPct val="0"/>
              </a:spcAft>
            </a:pPr>
            <a:r>
              <a:rPr lang="en-US" sz="2400" dirty="0">
                <a:solidFill>
                  <a:prstClr val="black"/>
                </a:solidFill>
                <a:latin typeface="Times New Roman" pitchFamily="18" charset="0"/>
                <a:cs typeface="Times New Roman" pitchFamily="18" charset="0"/>
              </a:rPr>
              <a:t>Therefore, decisions are the key to the performance of a manager.</a:t>
            </a:r>
          </a:p>
        </p:txBody>
      </p:sp>
    </p:spTree>
    <p:extLst>
      <p:ext uri="{BB962C8B-B14F-4D97-AF65-F5344CB8AC3E}">
        <p14:creationId xmlns:p14="http://schemas.microsoft.com/office/powerpoint/2010/main" val="19656607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u="sng" dirty="0">
                <a:solidFill>
                  <a:schemeClr val="tx1"/>
                </a:solidFill>
                <a:latin typeface="Times New Roman" pitchFamily="18" charset="0"/>
                <a:cs typeface="Times New Roman" pitchFamily="18" charset="0"/>
              </a:rPr>
              <a:t>CHARACTERISTICS  OF  MANAGEMENT</a:t>
            </a:r>
            <a:endParaRPr lang="en-US" sz="2800" dirty="0">
              <a:solidFill>
                <a:schemeClr val="tx1"/>
              </a:solidFill>
            </a:endParaRPr>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24</a:t>
            </a:fld>
            <a:endParaRPr lang="en-US"/>
          </a:p>
        </p:txBody>
      </p:sp>
      <p:sp>
        <p:nvSpPr>
          <p:cNvPr id="4" name="Rectangle 3"/>
          <p:cNvSpPr/>
          <p:nvPr/>
        </p:nvSpPr>
        <p:spPr>
          <a:xfrm>
            <a:off x="228600" y="1752600"/>
            <a:ext cx="8610600" cy="2865400"/>
          </a:xfrm>
          <a:prstGeom prst="rect">
            <a:avLst/>
          </a:prstGeom>
        </p:spPr>
        <p:txBody>
          <a:bodyPr wrap="square">
            <a:spAutoFit/>
          </a:bodyPr>
          <a:lstStyle/>
          <a:p>
            <a:pPr algn="just">
              <a:lnSpc>
                <a:spcPct val="97000"/>
              </a:lnSpc>
              <a:spcBef>
                <a:spcPts val="600"/>
              </a:spcBef>
            </a:pPr>
            <a:r>
              <a:rPr lang="en-US" sz="2000" b="1" i="1" dirty="0">
                <a:latin typeface="Times New Roman" pitchFamily="18" charset="0"/>
                <a:cs typeface="Times New Roman" pitchFamily="18" charset="0"/>
              </a:rPr>
              <a:t>Management implies good leadership:</a:t>
            </a:r>
          </a:p>
          <a:p>
            <a:pPr algn="just">
              <a:lnSpc>
                <a:spcPct val="97000"/>
              </a:lnSpc>
              <a:spcBef>
                <a:spcPts val="600"/>
              </a:spcBef>
            </a:pPr>
            <a:endParaRPr lang="en-US" sz="2000" b="1" i="1" dirty="0">
              <a:latin typeface="Times New Roman" pitchFamily="18" charset="0"/>
              <a:cs typeface="Times New Roman" pitchFamily="18" charset="0"/>
            </a:endParaRPr>
          </a:p>
          <a:p>
            <a:pPr algn="just">
              <a:lnSpc>
                <a:spcPct val="97000"/>
              </a:lnSpc>
              <a:spcBef>
                <a:spcPts val="600"/>
              </a:spcBef>
            </a:pPr>
            <a:r>
              <a:rPr lang="en-US" sz="2000" dirty="0">
                <a:latin typeface="Times New Roman" pitchFamily="18" charset="0"/>
                <a:cs typeface="Times New Roman" pitchFamily="18" charset="0"/>
              </a:rPr>
              <a:t>A manager must have the ability to lead and get the desired course of action from the subordinates.</a:t>
            </a:r>
          </a:p>
          <a:p>
            <a:pPr algn="just">
              <a:lnSpc>
                <a:spcPct val="97000"/>
              </a:lnSpc>
              <a:spcBef>
                <a:spcPts val="600"/>
              </a:spcBef>
            </a:pPr>
            <a:endParaRPr lang="en-US" sz="2000" dirty="0">
              <a:latin typeface="Times New Roman" pitchFamily="18" charset="0"/>
              <a:cs typeface="Times New Roman" pitchFamily="18" charset="0"/>
            </a:endParaRPr>
          </a:p>
          <a:p>
            <a:pPr algn="just">
              <a:lnSpc>
                <a:spcPct val="97000"/>
              </a:lnSpc>
              <a:spcBef>
                <a:spcPts val="600"/>
              </a:spcBef>
            </a:pPr>
            <a:endParaRPr lang="en-US" sz="2000" dirty="0">
              <a:latin typeface="Times New Roman" pitchFamily="18" charset="0"/>
              <a:cs typeface="Times New Roman" pitchFamily="18" charset="0"/>
            </a:endParaRPr>
          </a:p>
          <a:p>
            <a:pPr algn="just">
              <a:lnSpc>
                <a:spcPct val="97000"/>
              </a:lnSpc>
              <a:spcBef>
                <a:spcPts val="600"/>
              </a:spcBef>
            </a:pPr>
            <a:r>
              <a:rPr lang="en-US" sz="2000" dirty="0">
                <a:latin typeface="Times New Roman" pitchFamily="18" charset="0"/>
                <a:cs typeface="Times New Roman" pitchFamily="18" charset="0"/>
              </a:rPr>
              <a:t>Management of the high order implies the capacity of managers to influence the </a:t>
            </a:r>
            <a:r>
              <a:rPr lang="en-US" sz="2000" dirty="0" err="1">
                <a:latin typeface="Times New Roman" pitchFamily="18" charset="0"/>
                <a:cs typeface="Times New Roman" pitchFamily="18" charset="0"/>
              </a:rPr>
              <a:t>behaviour</a:t>
            </a:r>
            <a:r>
              <a:rPr lang="en-US" sz="2000" dirty="0">
                <a:latin typeface="Times New Roman" pitchFamily="18" charset="0"/>
                <a:cs typeface="Times New Roman" pitchFamily="18" charset="0"/>
              </a:rPr>
              <a:t> of their subordinates.</a:t>
            </a:r>
          </a:p>
        </p:txBody>
      </p:sp>
    </p:spTree>
    <p:extLst>
      <p:ext uri="{BB962C8B-B14F-4D97-AF65-F5344CB8AC3E}">
        <p14:creationId xmlns:p14="http://schemas.microsoft.com/office/powerpoint/2010/main" val="13647920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u="sng" dirty="0">
                <a:solidFill>
                  <a:schemeClr val="tx1"/>
                </a:solidFill>
                <a:latin typeface="Times New Roman" pitchFamily="18" charset="0"/>
                <a:cs typeface="Times New Roman" pitchFamily="18" charset="0"/>
              </a:rPr>
              <a:t>CHARACTERISTICS  OF  MANAGEMENT</a:t>
            </a:r>
            <a:endParaRPr lang="en-US" sz="2800" dirty="0">
              <a:solidFill>
                <a:schemeClr val="tx1"/>
              </a:solidFill>
            </a:endParaRPr>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25</a:t>
            </a:fld>
            <a:endParaRPr lang="en-US"/>
          </a:p>
        </p:txBody>
      </p:sp>
      <p:sp>
        <p:nvSpPr>
          <p:cNvPr id="4" name="Rectangle 3"/>
          <p:cNvSpPr/>
          <p:nvPr/>
        </p:nvSpPr>
        <p:spPr>
          <a:xfrm>
            <a:off x="228600" y="1752600"/>
            <a:ext cx="8610600" cy="4042132"/>
          </a:xfrm>
          <a:prstGeom prst="rect">
            <a:avLst/>
          </a:prstGeom>
        </p:spPr>
        <p:txBody>
          <a:bodyPr wrap="square">
            <a:spAutoFit/>
          </a:bodyPr>
          <a:lstStyle/>
          <a:p>
            <a:pPr lvl="0" algn="just" fontAlgn="base">
              <a:lnSpc>
                <a:spcPts val="1275"/>
              </a:lnSpc>
              <a:spcBef>
                <a:spcPts val="650"/>
              </a:spcBef>
              <a:spcAft>
                <a:spcPct val="0"/>
              </a:spcAft>
            </a:pPr>
            <a:endParaRPr lang="en-US" sz="2000" dirty="0">
              <a:solidFill>
                <a:prstClr val="black"/>
              </a:solidFill>
              <a:latin typeface="Times New Roman" pitchFamily="18" charset="0"/>
              <a:cs typeface="Times New Roman" pitchFamily="18" charset="0"/>
            </a:endParaRPr>
          </a:p>
          <a:p>
            <a:pPr lvl="0" algn="just" fontAlgn="base">
              <a:lnSpc>
                <a:spcPts val="1313"/>
              </a:lnSpc>
              <a:spcBef>
                <a:spcPts val="625"/>
              </a:spcBef>
              <a:spcAft>
                <a:spcPct val="0"/>
              </a:spcAft>
            </a:pPr>
            <a:r>
              <a:rPr lang="en-US" sz="2000" b="1" i="1" dirty="0">
                <a:solidFill>
                  <a:prstClr val="black"/>
                </a:solidFill>
                <a:latin typeface="Times New Roman" pitchFamily="18" charset="0"/>
                <a:cs typeface="Times New Roman" pitchFamily="18" charset="0"/>
              </a:rPr>
              <a:t>Management is intangible:</a:t>
            </a:r>
          </a:p>
          <a:p>
            <a:pPr lvl="0" algn="just" fontAlgn="base">
              <a:lnSpc>
                <a:spcPct val="150000"/>
              </a:lnSpc>
              <a:spcBef>
                <a:spcPts val="625"/>
              </a:spcBef>
              <a:spcAft>
                <a:spcPct val="0"/>
              </a:spcAft>
            </a:pPr>
            <a:r>
              <a:rPr lang="en-US" sz="2000" b="1" i="1" dirty="0">
                <a:solidFill>
                  <a:prstClr val="black"/>
                </a:solidFill>
                <a:latin typeface="Times New Roman" pitchFamily="18" charset="0"/>
                <a:cs typeface="Times New Roman" pitchFamily="18" charset="0"/>
              </a:rPr>
              <a:t> </a:t>
            </a:r>
            <a:r>
              <a:rPr lang="en-US" sz="2000" dirty="0">
                <a:solidFill>
                  <a:prstClr val="black"/>
                </a:solidFill>
                <a:latin typeface="Times New Roman" pitchFamily="18" charset="0"/>
                <a:cs typeface="Times New Roman" pitchFamily="18" charset="0"/>
              </a:rPr>
              <a:t>It cannot be seen with the eyes.</a:t>
            </a:r>
          </a:p>
          <a:p>
            <a:pPr lvl="0" algn="just" fontAlgn="base">
              <a:lnSpc>
                <a:spcPct val="150000"/>
              </a:lnSpc>
              <a:spcBef>
                <a:spcPts val="625"/>
              </a:spcBef>
              <a:spcAft>
                <a:spcPct val="0"/>
              </a:spcAft>
            </a:pPr>
            <a:r>
              <a:rPr lang="en-US" sz="2000" dirty="0">
                <a:solidFill>
                  <a:prstClr val="black"/>
                </a:solidFill>
                <a:latin typeface="Times New Roman" pitchFamily="18" charset="0"/>
                <a:cs typeface="Times New Roman" pitchFamily="18" charset="0"/>
              </a:rPr>
              <a:t>It is evidenced only by the quality of the </a:t>
            </a:r>
            <a:r>
              <a:rPr lang="en-US" sz="2000" dirty="0" err="1">
                <a:solidFill>
                  <a:prstClr val="black"/>
                </a:solidFill>
                <a:latin typeface="Times New Roman" pitchFamily="18" charset="0"/>
                <a:cs typeface="Times New Roman" pitchFamily="18" charset="0"/>
              </a:rPr>
              <a:t>organisation</a:t>
            </a:r>
            <a:r>
              <a:rPr lang="en-US" sz="2000" dirty="0">
                <a:solidFill>
                  <a:prstClr val="black"/>
                </a:solidFill>
                <a:latin typeface="Times New Roman" pitchFamily="18" charset="0"/>
                <a:cs typeface="Times New Roman" pitchFamily="18" charset="0"/>
              </a:rPr>
              <a:t> and the results i.e., profits, increased productivity etc.</a:t>
            </a:r>
          </a:p>
          <a:p>
            <a:pPr lvl="0" algn="just" fontAlgn="base">
              <a:lnSpc>
                <a:spcPts val="1275"/>
              </a:lnSpc>
              <a:spcBef>
                <a:spcPts val="650"/>
              </a:spcBef>
              <a:spcAft>
                <a:spcPct val="0"/>
              </a:spcAft>
            </a:pPr>
            <a:endParaRPr lang="en-US" sz="2000" dirty="0">
              <a:solidFill>
                <a:prstClr val="black"/>
              </a:solidFill>
              <a:latin typeface="Times New Roman" pitchFamily="18" charset="0"/>
              <a:cs typeface="Times New Roman" pitchFamily="18" charset="0"/>
            </a:endParaRPr>
          </a:p>
          <a:p>
            <a:pPr lvl="0" algn="just" fontAlgn="base">
              <a:lnSpc>
                <a:spcPts val="1275"/>
              </a:lnSpc>
              <a:spcBef>
                <a:spcPts val="650"/>
              </a:spcBef>
              <a:spcAft>
                <a:spcPct val="0"/>
              </a:spcAft>
            </a:pPr>
            <a:endParaRPr lang="en-US" sz="2000" dirty="0">
              <a:solidFill>
                <a:prstClr val="black"/>
              </a:solidFill>
              <a:latin typeface="Times New Roman" pitchFamily="18" charset="0"/>
              <a:cs typeface="Times New Roman" pitchFamily="18" charset="0"/>
            </a:endParaRPr>
          </a:p>
          <a:p>
            <a:pPr lvl="0" algn="just" fontAlgn="base">
              <a:lnSpc>
                <a:spcPts val="1275"/>
              </a:lnSpc>
              <a:spcBef>
                <a:spcPts val="600"/>
              </a:spcBef>
              <a:spcAft>
                <a:spcPct val="0"/>
              </a:spcAft>
            </a:pPr>
            <a:r>
              <a:rPr lang="en-US" sz="2000" b="1" i="1" dirty="0">
                <a:solidFill>
                  <a:prstClr val="black"/>
                </a:solidFill>
                <a:latin typeface="Times New Roman" pitchFamily="18" charset="0"/>
                <a:cs typeface="Times New Roman" pitchFamily="18" charset="0"/>
              </a:rPr>
              <a:t>Different Levels of Management:</a:t>
            </a:r>
          </a:p>
          <a:p>
            <a:pPr lvl="0" algn="just" fontAlgn="base">
              <a:lnSpc>
                <a:spcPts val="1275"/>
              </a:lnSpc>
              <a:spcBef>
                <a:spcPts val="600"/>
              </a:spcBef>
              <a:spcAft>
                <a:spcPct val="0"/>
              </a:spcAft>
            </a:pPr>
            <a:endParaRPr lang="en-US" sz="2000" b="1" i="1" dirty="0">
              <a:solidFill>
                <a:prstClr val="black"/>
              </a:solidFill>
              <a:latin typeface="Times New Roman" pitchFamily="18" charset="0"/>
              <a:cs typeface="Times New Roman" pitchFamily="18" charset="0"/>
            </a:endParaRPr>
          </a:p>
          <a:p>
            <a:pPr lvl="0" algn="just" fontAlgn="base">
              <a:lnSpc>
                <a:spcPct val="150000"/>
              </a:lnSpc>
              <a:spcBef>
                <a:spcPts val="600"/>
              </a:spcBef>
              <a:spcAft>
                <a:spcPct val="0"/>
              </a:spcAft>
            </a:pPr>
            <a:r>
              <a:rPr lang="en-US" sz="2000" dirty="0">
                <a:solidFill>
                  <a:prstClr val="black"/>
                </a:solidFill>
                <a:latin typeface="Times New Roman" pitchFamily="18" charset="0"/>
                <a:cs typeface="Times New Roman" pitchFamily="18" charset="0"/>
              </a:rPr>
              <a:t>Management is needed at different levels of an </a:t>
            </a:r>
            <a:r>
              <a:rPr lang="en-US" sz="2000" dirty="0" err="1">
                <a:solidFill>
                  <a:prstClr val="black"/>
                </a:solidFill>
                <a:latin typeface="Times New Roman" pitchFamily="18" charset="0"/>
                <a:cs typeface="Times New Roman" pitchFamily="18" charset="0"/>
              </a:rPr>
              <a:t>organisation</a:t>
            </a:r>
            <a:r>
              <a:rPr lang="en-US" sz="2000" dirty="0">
                <a:solidFill>
                  <a:prstClr val="black"/>
                </a:solidFill>
                <a:latin typeface="Times New Roman" pitchFamily="18" charset="0"/>
                <a:cs typeface="Times New Roman" pitchFamily="18" charset="0"/>
              </a:rPr>
              <a:t> namely top level,   middle level and lower level.</a:t>
            </a:r>
          </a:p>
        </p:txBody>
      </p:sp>
    </p:spTree>
    <p:extLst>
      <p:ext uri="{BB962C8B-B14F-4D97-AF65-F5344CB8AC3E}">
        <p14:creationId xmlns:p14="http://schemas.microsoft.com/office/powerpoint/2010/main" val="9368884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26</a:t>
            </a:fld>
            <a:endParaRPr lang="en-US"/>
          </a:p>
        </p:txBody>
      </p:sp>
      <p:pic>
        <p:nvPicPr>
          <p:cNvPr id="5" name="Picture 4"/>
          <p:cNvPicPr>
            <a:picLocks noChangeAspect="1"/>
          </p:cNvPicPr>
          <p:nvPr/>
        </p:nvPicPr>
        <p:blipFill>
          <a:blip r:embed="rId2"/>
          <a:stretch>
            <a:fillRect/>
          </a:stretch>
        </p:blipFill>
        <p:spPr>
          <a:xfrm>
            <a:off x="0" y="34262"/>
            <a:ext cx="9144000" cy="6823738"/>
          </a:xfrm>
          <a:prstGeom prst="rect">
            <a:avLst/>
          </a:prstGeom>
        </p:spPr>
      </p:pic>
      <p:sp>
        <p:nvSpPr>
          <p:cNvPr id="6" name="Rectangle 5"/>
          <p:cNvSpPr/>
          <p:nvPr/>
        </p:nvSpPr>
        <p:spPr>
          <a:xfrm>
            <a:off x="7010400" y="6172200"/>
            <a:ext cx="2057400" cy="381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5434964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27</a:t>
            </a:fld>
            <a:endParaRPr lang="en-US"/>
          </a:p>
        </p:txBody>
      </p:sp>
      <p:pic>
        <p:nvPicPr>
          <p:cNvPr id="3" name="Picture 2"/>
          <p:cNvPicPr>
            <a:picLocks noChangeAspect="1"/>
          </p:cNvPicPr>
          <p:nvPr/>
        </p:nvPicPr>
        <p:blipFill>
          <a:blip r:embed="rId2"/>
          <a:stretch>
            <a:fillRect/>
          </a:stretch>
        </p:blipFill>
        <p:spPr>
          <a:xfrm>
            <a:off x="0" y="1"/>
            <a:ext cx="9067800" cy="6878863"/>
          </a:xfrm>
          <a:prstGeom prst="rect">
            <a:avLst/>
          </a:prstGeom>
        </p:spPr>
      </p:pic>
    </p:spTree>
    <p:extLst>
      <p:ext uri="{BB962C8B-B14F-4D97-AF65-F5344CB8AC3E}">
        <p14:creationId xmlns:p14="http://schemas.microsoft.com/office/powerpoint/2010/main" val="21759594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28</a:t>
            </a:fld>
            <a:endParaRPr lang="en-US"/>
          </a:p>
        </p:txBody>
      </p:sp>
      <p:pic>
        <p:nvPicPr>
          <p:cNvPr id="3" name="Picture 2"/>
          <p:cNvPicPr>
            <a:picLocks noChangeAspect="1"/>
          </p:cNvPicPr>
          <p:nvPr/>
        </p:nvPicPr>
        <p:blipFill>
          <a:blip r:embed="rId2"/>
          <a:stretch>
            <a:fillRect/>
          </a:stretch>
        </p:blipFill>
        <p:spPr>
          <a:xfrm>
            <a:off x="76199" y="381000"/>
            <a:ext cx="9067801" cy="5030432"/>
          </a:xfrm>
          <a:prstGeom prst="rect">
            <a:avLst/>
          </a:prstGeom>
        </p:spPr>
      </p:pic>
    </p:spTree>
    <p:extLst>
      <p:ext uri="{BB962C8B-B14F-4D97-AF65-F5344CB8AC3E}">
        <p14:creationId xmlns:p14="http://schemas.microsoft.com/office/powerpoint/2010/main" val="8636672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75F99C0-FBAB-2FF7-8DCC-AFF918FCF5FB}"/>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29</a:t>
            </a:fld>
            <a:endParaRPr lang="en-US"/>
          </a:p>
        </p:txBody>
      </p:sp>
      <p:sp>
        <p:nvSpPr>
          <p:cNvPr id="4" name="Content Placeholder 3">
            <a:extLst>
              <a:ext uri="{FF2B5EF4-FFF2-40B4-BE49-F238E27FC236}">
                <a16:creationId xmlns:a16="http://schemas.microsoft.com/office/drawing/2014/main" id="{21243782-75AF-F57B-762E-A7CE38084E5D}"/>
              </a:ext>
            </a:extLst>
          </p:cNvPr>
          <p:cNvSpPr>
            <a:spLocks noGrp="1"/>
          </p:cNvSpPr>
          <p:nvPr>
            <p:ph sz="quarter" idx="1"/>
          </p:nvPr>
        </p:nvSpPr>
        <p:spPr>
          <a:xfrm>
            <a:off x="612648" y="1600200"/>
            <a:ext cx="8153400" cy="5029200"/>
          </a:xfrm>
        </p:spPr>
        <p:txBody>
          <a:bodyPr>
            <a:normAutofit fontScale="25000" lnSpcReduction="20000"/>
          </a:bodyPr>
          <a:lstStyle/>
          <a:p>
            <a:pPr algn="just"/>
            <a:r>
              <a:rPr lang="en-US" sz="6400" b="0" i="0" dirty="0">
                <a:solidFill>
                  <a:srgbClr val="0D0D0D"/>
                </a:solidFill>
                <a:effectLst/>
                <a:latin typeface="Söhne"/>
              </a:rPr>
              <a:t>In a typical organizational structure, management is divided into three main levels: top level, middle level, and lower level. Each level has its own set of responsibilities and functions. Here's an example using a hypothetical company:</a:t>
            </a:r>
          </a:p>
          <a:p>
            <a:pPr algn="just">
              <a:buFont typeface="+mj-lt"/>
              <a:buAutoNum type="arabicPeriod"/>
            </a:pPr>
            <a:r>
              <a:rPr lang="en-US" sz="6400" b="1" i="0" dirty="0">
                <a:solidFill>
                  <a:srgbClr val="0D0D0D"/>
                </a:solidFill>
                <a:effectLst/>
                <a:latin typeface="Söhne"/>
              </a:rPr>
              <a:t>Top Level Management:</a:t>
            </a:r>
            <a:endParaRPr lang="en-US" sz="6400" b="0" i="0" dirty="0">
              <a:solidFill>
                <a:srgbClr val="0D0D0D"/>
              </a:solidFill>
              <a:effectLst/>
              <a:latin typeface="Söhne"/>
            </a:endParaRPr>
          </a:p>
          <a:p>
            <a:pPr marL="457200" lvl="1" indent="0" algn="just">
              <a:buNone/>
            </a:pPr>
            <a:r>
              <a:rPr lang="en-US" sz="6400" b="1" i="0" dirty="0">
                <a:solidFill>
                  <a:srgbClr val="0D0D0D"/>
                </a:solidFill>
                <a:effectLst/>
                <a:latin typeface="Söhne"/>
              </a:rPr>
              <a:t>Position:</a:t>
            </a:r>
            <a:r>
              <a:rPr lang="en-US" sz="6400" b="0" i="0" dirty="0">
                <a:solidFill>
                  <a:srgbClr val="0D0D0D"/>
                </a:solidFill>
                <a:effectLst/>
                <a:latin typeface="Söhne"/>
              </a:rPr>
              <a:t> CEO (Chief Executive Officer)</a:t>
            </a:r>
          </a:p>
          <a:p>
            <a:pPr marL="457200" lvl="1" indent="0" algn="just">
              <a:buNone/>
            </a:pPr>
            <a:r>
              <a:rPr lang="en-US" sz="6400" b="1" i="0" dirty="0">
                <a:solidFill>
                  <a:srgbClr val="0D0D0D"/>
                </a:solidFill>
                <a:effectLst/>
                <a:latin typeface="Söhne"/>
              </a:rPr>
              <a:t>Responsibilities:</a:t>
            </a:r>
            <a:endParaRPr lang="en-US" sz="6400" b="0" i="0" dirty="0">
              <a:solidFill>
                <a:srgbClr val="0D0D0D"/>
              </a:solidFill>
              <a:effectLst/>
              <a:latin typeface="Söhne"/>
            </a:endParaRPr>
          </a:p>
          <a:p>
            <a:pPr marL="1771650" lvl="2" indent="-857250" algn="just">
              <a:buFont typeface="Arial" panose="020B0604020202020204" pitchFamily="34" charset="0"/>
              <a:buChar char="•"/>
            </a:pPr>
            <a:r>
              <a:rPr lang="en-US" sz="6400" b="0" i="0" dirty="0">
                <a:solidFill>
                  <a:srgbClr val="0D0D0D"/>
                </a:solidFill>
                <a:effectLst/>
                <a:latin typeface="Söhne"/>
              </a:rPr>
              <a:t>Setting overall company goals and objectives.</a:t>
            </a:r>
          </a:p>
          <a:p>
            <a:pPr marL="1771650" lvl="2" indent="-857250" algn="just">
              <a:buFont typeface="Arial" panose="020B0604020202020204" pitchFamily="34" charset="0"/>
              <a:buChar char="•"/>
            </a:pPr>
            <a:r>
              <a:rPr lang="en-US" sz="6400" b="0" i="0" dirty="0">
                <a:solidFill>
                  <a:srgbClr val="0D0D0D"/>
                </a:solidFill>
                <a:effectLst/>
                <a:latin typeface="Söhne"/>
              </a:rPr>
              <a:t>Formulating policies and strategies for the entire organization.</a:t>
            </a:r>
          </a:p>
          <a:p>
            <a:pPr marL="1771650" lvl="2" indent="-857250" algn="just">
              <a:buFont typeface="Arial" panose="020B0604020202020204" pitchFamily="34" charset="0"/>
              <a:buChar char="•"/>
            </a:pPr>
            <a:r>
              <a:rPr lang="en-US" sz="6400" b="0" i="0" dirty="0">
                <a:solidFill>
                  <a:srgbClr val="0D0D0D"/>
                </a:solidFill>
                <a:effectLst/>
                <a:latin typeface="Söhne"/>
              </a:rPr>
              <a:t>Making high-level decisions that affect the entire company.</a:t>
            </a:r>
          </a:p>
          <a:p>
            <a:pPr marL="1771650" lvl="2" indent="-857250" algn="just">
              <a:buFont typeface="Arial" panose="020B0604020202020204" pitchFamily="34" charset="0"/>
              <a:buChar char="•"/>
            </a:pPr>
            <a:r>
              <a:rPr lang="en-US" sz="6400" b="0" i="0" dirty="0">
                <a:solidFill>
                  <a:srgbClr val="0D0D0D"/>
                </a:solidFill>
                <a:effectLst/>
                <a:latin typeface="Söhne"/>
              </a:rPr>
              <a:t>Representing the organization to external stakeholders.</a:t>
            </a:r>
          </a:p>
          <a:p>
            <a:pPr algn="just">
              <a:buFont typeface="+mj-lt"/>
              <a:buAutoNum type="arabicPeriod"/>
            </a:pPr>
            <a:r>
              <a:rPr lang="en-US" sz="6400" b="1" i="0" dirty="0">
                <a:solidFill>
                  <a:srgbClr val="0D0D0D"/>
                </a:solidFill>
                <a:effectLst/>
                <a:latin typeface="Söhne"/>
              </a:rPr>
              <a:t>Middle-Level Management:</a:t>
            </a:r>
            <a:endParaRPr lang="en-US" sz="6400" b="0" i="0" dirty="0">
              <a:solidFill>
                <a:srgbClr val="0D0D0D"/>
              </a:solidFill>
              <a:effectLst/>
              <a:latin typeface="Söhne"/>
            </a:endParaRPr>
          </a:p>
          <a:p>
            <a:pPr marL="457200" lvl="1" indent="0" algn="just">
              <a:buNone/>
            </a:pPr>
            <a:r>
              <a:rPr lang="en-US" sz="6400" b="1" i="0" dirty="0">
                <a:solidFill>
                  <a:srgbClr val="0D0D0D"/>
                </a:solidFill>
                <a:effectLst/>
                <a:latin typeface="Söhne"/>
              </a:rPr>
              <a:t>Position:</a:t>
            </a:r>
            <a:r>
              <a:rPr lang="en-US" sz="6400" b="0" i="0" dirty="0">
                <a:solidFill>
                  <a:srgbClr val="0D0D0D"/>
                </a:solidFill>
                <a:effectLst/>
                <a:latin typeface="Söhne"/>
              </a:rPr>
              <a:t> Regional Manager</a:t>
            </a:r>
          </a:p>
          <a:p>
            <a:pPr marL="457200" lvl="1" indent="0" algn="just">
              <a:buNone/>
            </a:pPr>
            <a:r>
              <a:rPr lang="en-US" sz="6400" b="1" i="0" dirty="0">
                <a:solidFill>
                  <a:srgbClr val="0D0D0D"/>
                </a:solidFill>
                <a:effectLst/>
                <a:latin typeface="Söhne"/>
              </a:rPr>
              <a:t>Responsibilities:</a:t>
            </a:r>
            <a:endParaRPr lang="en-US" sz="6400" b="0" i="0" dirty="0">
              <a:solidFill>
                <a:srgbClr val="0D0D0D"/>
              </a:solidFill>
              <a:effectLst/>
              <a:latin typeface="Söhne"/>
            </a:endParaRPr>
          </a:p>
          <a:p>
            <a:pPr marL="1771650" lvl="2" indent="-857250" algn="just">
              <a:buFont typeface="Arial" panose="020B0604020202020204" pitchFamily="34" charset="0"/>
              <a:buChar char="•"/>
            </a:pPr>
            <a:r>
              <a:rPr lang="en-US" sz="6400" b="0" i="0" dirty="0">
                <a:solidFill>
                  <a:srgbClr val="0D0D0D"/>
                </a:solidFill>
                <a:effectLst/>
                <a:latin typeface="Söhne"/>
              </a:rPr>
              <a:t>Implementing the policies and strategies set by top-level management.</a:t>
            </a:r>
          </a:p>
          <a:p>
            <a:pPr marL="1771650" lvl="2" indent="-857250" algn="just">
              <a:buFont typeface="Arial" panose="020B0604020202020204" pitchFamily="34" charset="0"/>
              <a:buChar char="•"/>
            </a:pPr>
            <a:r>
              <a:rPr lang="en-US" sz="6400" b="0" i="0" dirty="0">
                <a:solidFill>
                  <a:srgbClr val="0D0D0D"/>
                </a:solidFill>
                <a:effectLst/>
                <a:latin typeface="Söhne"/>
              </a:rPr>
              <a:t>Coordinating activities between different departments.</a:t>
            </a:r>
          </a:p>
          <a:p>
            <a:pPr marL="1771650" lvl="2" indent="-857250" algn="just">
              <a:buFont typeface="Arial" panose="020B0604020202020204" pitchFamily="34" charset="0"/>
              <a:buChar char="•"/>
            </a:pPr>
            <a:r>
              <a:rPr lang="en-US" sz="6400" b="0" i="0" dirty="0">
                <a:solidFill>
                  <a:srgbClr val="0D0D0D"/>
                </a:solidFill>
                <a:effectLst/>
                <a:latin typeface="Söhne"/>
              </a:rPr>
              <a:t>Overseeing the work of lower-level managers.</a:t>
            </a:r>
          </a:p>
          <a:p>
            <a:pPr marL="1771650" lvl="2" indent="-857250" algn="just">
              <a:buFont typeface="Arial" panose="020B0604020202020204" pitchFamily="34" charset="0"/>
              <a:buChar char="•"/>
            </a:pPr>
            <a:r>
              <a:rPr lang="en-US" sz="6400" b="0" i="0" dirty="0">
                <a:solidFill>
                  <a:srgbClr val="0D0D0D"/>
                </a:solidFill>
                <a:effectLst/>
                <a:latin typeface="Söhne"/>
              </a:rPr>
              <a:t>Translating top-level goals into actionable plans for specific regions or departments.</a:t>
            </a:r>
          </a:p>
          <a:p>
            <a:endParaRPr lang="en-IN" dirty="0"/>
          </a:p>
        </p:txBody>
      </p:sp>
    </p:spTree>
    <p:extLst>
      <p:ext uri="{BB962C8B-B14F-4D97-AF65-F5344CB8AC3E}">
        <p14:creationId xmlns:p14="http://schemas.microsoft.com/office/powerpoint/2010/main" val="23359046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E72531D-7186-B851-27A1-D73A90262E19}"/>
              </a:ext>
            </a:extLst>
          </p:cNvPr>
          <p:cNvSpPr>
            <a:spLocks noGrp="1"/>
          </p:cNvSpPr>
          <p:nvPr>
            <p:ph type="sldNum" sz="quarter" idx="12"/>
          </p:nvPr>
        </p:nvSpPr>
        <p:spPr/>
        <p:txBody>
          <a:bodyPr/>
          <a:lstStyle/>
          <a:p>
            <a:fld id="{B6F15528-21DE-4FAA-801E-634DDDAF4B2B}" type="slidenum">
              <a:rPr lang="en-US" smtClean="0"/>
              <a:pPr/>
              <a:t>30</a:t>
            </a:fld>
            <a:endParaRPr lang="en-US"/>
          </a:p>
        </p:txBody>
      </p:sp>
      <p:sp>
        <p:nvSpPr>
          <p:cNvPr id="4" name="Content Placeholder 3">
            <a:extLst>
              <a:ext uri="{FF2B5EF4-FFF2-40B4-BE49-F238E27FC236}">
                <a16:creationId xmlns:a16="http://schemas.microsoft.com/office/drawing/2014/main" id="{DB06C3A9-17CF-0BEA-C101-9B30D7A5143D}"/>
              </a:ext>
            </a:extLst>
          </p:cNvPr>
          <p:cNvSpPr>
            <a:spLocks noGrp="1"/>
          </p:cNvSpPr>
          <p:nvPr>
            <p:ph sz="quarter" idx="1"/>
          </p:nvPr>
        </p:nvSpPr>
        <p:spPr/>
        <p:txBody>
          <a:bodyPr>
            <a:normAutofit fontScale="32500" lnSpcReduction="20000"/>
          </a:bodyPr>
          <a:lstStyle/>
          <a:p>
            <a:pPr marL="0" indent="0" algn="l">
              <a:buNone/>
            </a:pPr>
            <a:r>
              <a:rPr lang="en-US" sz="5500" b="1" i="0" dirty="0">
                <a:solidFill>
                  <a:schemeClr val="accent2">
                    <a:lumMod val="60000"/>
                    <a:lumOff val="40000"/>
                  </a:schemeClr>
                </a:solidFill>
                <a:effectLst/>
                <a:latin typeface="Söhne"/>
              </a:rPr>
              <a:t>3. </a:t>
            </a:r>
            <a:r>
              <a:rPr lang="en-US" sz="5500" b="1" i="0" dirty="0">
                <a:solidFill>
                  <a:srgbClr val="0D0D0D"/>
                </a:solidFill>
                <a:effectLst/>
                <a:latin typeface="Söhne"/>
              </a:rPr>
              <a:t>Lower Level Management:</a:t>
            </a:r>
            <a:endParaRPr lang="en-US" sz="5500" b="0" i="0" dirty="0">
              <a:solidFill>
                <a:srgbClr val="0D0D0D"/>
              </a:solidFill>
              <a:effectLst/>
              <a:latin typeface="Söhne"/>
            </a:endParaRPr>
          </a:p>
          <a:p>
            <a:pPr marL="457200" lvl="1" indent="0" algn="l">
              <a:buNone/>
            </a:pPr>
            <a:r>
              <a:rPr lang="en-US" sz="5500" b="1" i="0" dirty="0">
                <a:solidFill>
                  <a:srgbClr val="0D0D0D"/>
                </a:solidFill>
                <a:effectLst/>
                <a:latin typeface="Söhne"/>
              </a:rPr>
              <a:t>Position:</a:t>
            </a:r>
            <a:r>
              <a:rPr lang="en-US" sz="5500" b="0" i="0" dirty="0">
                <a:solidFill>
                  <a:srgbClr val="0D0D0D"/>
                </a:solidFill>
                <a:effectLst/>
                <a:latin typeface="Söhne"/>
              </a:rPr>
              <a:t> Team Supervisor</a:t>
            </a:r>
          </a:p>
          <a:p>
            <a:pPr marL="457200" lvl="1" indent="0" algn="l">
              <a:buNone/>
            </a:pPr>
            <a:r>
              <a:rPr lang="en-US" sz="5500" b="1" i="0" dirty="0">
                <a:solidFill>
                  <a:srgbClr val="0D0D0D"/>
                </a:solidFill>
                <a:effectLst/>
                <a:latin typeface="Söhne"/>
              </a:rPr>
              <a:t>Responsibilities:</a:t>
            </a:r>
            <a:endParaRPr lang="en-US" sz="5500" b="0" i="0" dirty="0">
              <a:solidFill>
                <a:srgbClr val="0D0D0D"/>
              </a:solidFill>
              <a:effectLst/>
              <a:latin typeface="Söhne"/>
            </a:endParaRPr>
          </a:p>
          <a:p>
            <a:pPr marL="1600200" lvl="2" indent="-685800" algn="l">
              <a:buFont typeface="Arial" panose="020B0604020202020204" pitchFamily="34" charset="0"/>
              <a:buChar char="•"/>
            </a:pPr>
            <a:r>
              <a:rPr lang="en-US" sz="5500" b="0" i="0" dirty="0">
                <a:solidFill>
                  <a:srgbClr val="0D0D0D"/>
                </a:solidFill>
                <a:effectLst/>
                <a:latin typeface="Söhne"/>
              </a:rPr>
              <a:t>Managing day-to-day operations within a specific team or department.</a:t>
            </a:r>
          </a:p>
          <a:p>
            <a:pPr marL="1600200" lvl="2" indent="-685800" algn="l">
              <a:buFont typeface="Arial" panose="020B0604020202020204" pitchFamily="34" charset="0"/>
              <a:buChar char="•"/>
            </a:pPr>
            <a:r>
              <a:rPr lang="en-US" sz="5500" b="0" i="0" dirty="0">
                <a:solidFill>
                  <a:srgbClr val="0D0D0D"/>
                </a:solidFill>
                <a:effectLst/>
                <a:latin typeface="Söhne"/>
              </a:rPr>
              <a:t>Assigning tasks to employees and ensuring they are completed.</a:t>
            </a:r>
          </a:p>
          <a:p>
            <a:pPr marL="1600200" lvl="2" indent="-685800" algn="l">
              <a:buFont typeface="Arial" panose="020B0604020202020204" pitchFamily="34" charset="0"/>
              <a:buChar char="•"/>
            </a:pPr>
            <a:r>
              <a:rPr lang="en-US" sz="5500" b="0" i="0" dirty="0">
                <a:solidFill>
                  <a:srgbClr val="0D0D0D"/>
                </a:solidFill>
                <a:effectLst/>
                <a:latin typeface="Söhne"/>
              </a:rPr>
              <a:t>Providing feedback and guidance to employees.</a:t>
            </a:r>
          </a:p>
          <a:p>
            <a:pPr marL="1600200" lvl="2" indent="-685800" algn="l">
              <a:buFont typeface="Arial" panose="020B0604020202020204" pitchFamily="34" charset="0"/>
              <a:buChar char="•"/>
            </a:pPr>
            <a:r>
              <a:rPr lang="en-US" sz="5500" b="0" i="0" dirty="0">
                <a:solidFill>
                  <a:srgbClr val="0D0D0D"/>
                </a:solidFill>
                <a:effectLst/>
                <a:latin typeface="Söhne"/>
              </a:rPr>
              <a:t>Reporting to middle-level management on the team's performance.</a:t>
            </a:r>
          </a:p>
          <a:p>
            <a:pPr algn="l"/>
            <a:r>
              <a:rPr lang="en-US" sz="5500" b="0" i="0" dirty="0">
                <a:solidFill>
                  <a:srgbClr val="0D0D0D"/>
                </a:solidFill>
                <a:effectLst/>
                <a:latin typeface="Söhne"/>
              </a:rPr>
              <a:t>These three levels form a hierarchical structure where top-level management focuses on long-term strategic planning, middle-level management handles coordination and implementation, and lower-level management is responsible for the execution of daily tasks within specific teams or departments. Each level plays a crucial role in the overall functioning and success of the organization.</a:t>
            </a:r>
          </a:p>
          <a:p>
            <a:endParaRPr lang="en-IN" dirty="0"/>
          </a:p>
        </p:txBody>
      </p:sp>
    </p:spTree>
    <p:extLst>
      <p:ext uri="{BB962C8B-B14F-4D97-AF65-F5344CB8AC3E}">
        <p14:creationId xmlns:p14="http://schemas.microsoft.com/office/powerpoint/2010/main" val="21103020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31</a:t>
            </a:fld>
            <a:endParaRPr lang="en-US"/>
          </a:p>
        </p:txBody>
      </p:sp>
      <p:pic>
        <p:nvPicPr>
          <p:cNvPr id="3" name="Picture 2"/>
          <p:cNvPicPr>
            <a:picLocks noChangeAspect="1"/>
          </p:cNvPicPr>
          <p:nvPr/>
        </p:nvPicPr>
        <p:blipFill>
          <a:blip r:embed="rId2"/>
          <a:stretch>
            <a:fillRect/>
          </a:stretch>
        </p:blipFill>
        <p:spPr>
          <a:xfrm>
            <a:off x="6926" y="6926"/>
            <a:ext cx="9137073" cy="6774874"/>
          </a:xfrm>
          <a:prstGeom prst="rect">
            <a:avLst/>
          </a:prstGeom>
        </p:spPr>
      </p:pic>
    </p:spTree>
    <p:extLst>
      <p:ext uri="{BB962C8B-B14F-4D97-AF65-F5344CB8AC3E}">
        <p14:creationId xmlns:p14="http://schemas.microsoft.com/office/powerpoint/2010/main" val="19956023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2800" b="1" u="sng" dirty="0">
                <a:solidFill>
                  <a:schemeClr val="tx1"/>
                </a:solidFill>
                <a:latin typeface="Times New Roman" pitchFamily="18" charset="0"/>
                <a:cs typeface="Times New Roman" pitchFamily="18" charset="0"/>
              </a:rPr>
              <a:t>SCOPE  OF  MANAGEMENT</a:t>
            </a:r>
            <a:endParaRPr lang="en-US" sz="2800" dirty="0">
              <a:solidFill>
                <a:schemeClr val="tx1"/>
              </a:solidFill>
            </a:endParaRPr>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32</a:t>
            </a:fld>
            <a:endParaRPr lang="en-US"/>
          </a:p>
        </p:txBody>
      </p:sp>
      <p:sp>
        <p:nvSpPr>
          <p:cNvPr id="5" name="Rectangle 4"/>
          <p:cNvSpPr/>
          <p:nvPr/>
        </p:nvSpPr>
        <p:spPr>
          <a:xfrm>
            <a:off x="-609600" y="1493518"/>
            <a:ext cx="9677400" cy="5324535"/>
          </a:xfrm>
          <a:prstGeom prst="rect">
            <a:avLst/>
          </a:prstGeom>
        </p:spPr>
        <p:txBody>
          <a:bodyPr wrap="square">
            <a:spAutoFit/>
          </a:bodyPr>
          <a:lstStyle/>
          <a:p>
            <a:pPr marL="1371600" lvl="2" indent="-457200" algn="just" fontAlgn="base">
              <a:spcBef>
                <a:spcPct val="0"/>
              </a:spcBef>
              <a:spcAft>
                <a:spcPct val="0"/>
              </a:spcAft>
              <a:buFont typeface="+mj-lt"/>
              <a:buAutoNum type="arabicPeriod"/>
            </a:pPr>
            <a:r>
              <a:rPr lang="en-US" sz="2000" b="1" dirty="0">
                <a:solidFill>
                  <a:prstClr val="black"/>
                </a:solidFill>
                <a:latin typeface="Times New Roman" pitchFamily="18" charset="0"/>
                <a:cs typeface="Times New Roman" pitchFamily="18" charset="0"/>
              </a:rPr>
              <a:t>Subject-matter of Management</a:t>
            </a:r>
            <a:r>
              <a:rPr lang="en-US" sz="2000" dirty="0">
                <a:solidFill>
                  <a:prstClr val="black"/>
                </a:solidFill>
                <a:latin typeface="Times New Roman" pitchFamily="18" charset="0"/>
                <a:cs typeface="Times New Roman" pitchFamily="18" charset="0"/>
              </a:rPr>
              <a:t> </a:t>
            </a:r>
            <a:r>
              <a:rPr lang="en-US" sz="2000" dirty="0" err="1">
                <a:solidFill>
                  <a:prstClr val="black"/>
                </a:solidFill>
                <a:latin typeface="Times New Roman" pitchFamily="18" charset="0"/>
                <a:cs typeface="Times New Roman" pitchFamily="18" charset="0"/>
              </a:rPr>
              <a:t>Management</a:t>
            </a:r>
            <a:r>
              <a:rPr lang="en-US" sz="2000" dirty="0">
                <a:solidFill>
                  <a:prstClr val="black"/>
                </a:solidFill>
                <a:latin typeface="Times New Roman" pitchFamily="18" charset="0"/>
                <a:cs typeface="Times New Roman" pitchFamily="18" charset="0"/>
              </a:rPr>
              <a:t>  is  considered  as  a  continuing  activity  made  up  of  basic  management functions like </a:t>
            </a:r>
            <a:r>
              <a:rPr lang="en-US" sz="2000" b="1" i="1" dirty="0">
                <a:solidFill>
                  <a:prstClr val="black"/>
                </a:solidFill>
                <a:latin typeface="Times New Roman" pitchFamily="18" charset="0"/>
                <a:cs typeface="Times New Roman" pitchFamily="18" charset="0"/>
              </a:rPr>
              <a:t>planning, organizing, staffing, directing and controlling</a:t>
            </a:r>
            <a:r>
              <a:rPr lang="en-US" sz="2000" dirty="0">
                <a:solidFill>
                  <a:prstClr val="black"/>
                </a:solidFill>
                <a:latin typeface="Times New Roman" pitchFamily="18" charset="0"/>
                <a:cs typeface="Times New Roman" pitchFamily="18" charset="0"/>
              </a:rPr>
              <a:t>. These components form the subject-matter of management.</a:t>
            </a:r>
          </a:p>
          <a:p>
            <a:pPr marL="1371600" lvl="2" indent="-457200" algn="just" fontAlgn="base">
              <a:spcBef>
                <a:spcPct val="0"/>
              </a:spcBef>
              <a:spcAft>
                <a:spcPct val="0"/>
              </a:spcAft>
              <a:buFont typeface="+mj-lt"/>
              <a:buAutoNum type="arabicPeriod"/>
            </a:pPr>
            <a:endParaRPr lang="en-US" sz="2000" b="1" dirty="0">
              <a:solidFill>
                <a:prstClr val="black"/>
              </a:solidFill>
              <a:latin typeface="Times New Roman" pitchFamily="18" charset="0"/>
              <a:cs typeface="Times New Roman" pitchFamily="18" charset="0"/>
            </a:endParaRPr>
          </a:p>
          <a:p>
            <a:pPr marL="1371600" lvl="2" indent="-457200" algn="just" fontAlgn="base">
              <a:spcBef>
                <a:spcPct val="0"/>
              </a:spcBef>
              <a:spcAft>
                <a:spcPct val="0"/>
              </a:spcAft>
              <a:buFont typeface="+mj-lt"/>
              <a:buAutoNum type="arabicPeriod"/>
            </a:pPr>
            <a:r>
              <a:rPr lang="en-US" sz="2000" b="1" dirty="0">
                <a:solidFill>
                  <a:prstClr val="black"/>
                </a:solidFill>
                <a:latin typeface="Times New Roman" pitchFamily="18" charset="0"/>
                <a:cs typeface="Times New Roman" pitchFamily="18" charset="0"/>
              </a:rPr>
              <a:t>Functional Areas of Management </a:t>
            </a:r>
          </a:p>
          <a:p>
            <a:pPr marL="1428750" lvl="2" indent="-514350" algn="just" fontAlgn="base">
              <a:spcBef>
                <a:spcPct val="0"/>
              </a:spcBef>
              <a:spcAft>
                <a:spcPct val="0"/>
              </a:spcAft>
              <a:buFont typeface="+mj-lt"/>
              <a:buAutoNum type="romanLcPeriod"/>
            </a:pPr>
            <a:r>
              <a:rPr lang="en-US" sz="2000" b="1" i="1" dirty="0">
                <a:solidFill>
                  <a:prstClr val="black"/>
                </a:solidFill>
                <a:latin typeface="Times New Roman" pitchFamily="18" charset="0"/>
                <a:cs typeface="Times New Roman" pitchFamily="18" charset="0"/>
              </a:rPr>
              <a:t>Financial Management: </a:t>
            </a:r>
            <a:r>
              <a:rPr lang="en-US" sz="2000" dirty="0">
                <a:solidFill>
                  <a:prstClr val="black"/>
                </a:solidFill>
                <a:latin typeface="Times New Roman" pitchFamily="18" charset="0"/>
                <a:cs typeface="Times New Roman" pitchFamily="18" charset="0"/>
              </a:rPr>
              <a:t>Financial management includes forecasting, cost control, management accounting, budgetary control, statistical control, financial planning etc.</a:t>
            </a:r>
            <a:endParaRPr lang="en-US" sz="2000" b="1" i="1" dirty="0">
              <a:solidFill>
                <a:prstClr val="black"/>
              </a:solidFill>
              <a:latin typeface="Times New Roman" pitchFamily="18" charset="0"/>
              <a:cs typeface="Times New Roman" pitchFamily="18" charset="0"/>
            </a:endParaRPr>
          </a:p>
          <a:p>
            <a:pPr marL="1428750" lvl="2" indent="-514350" algn="just" fontAlgn="base">
              <a:spcBef>
                <a:spcPct val="0"/>
              </a:spcBef>
              <a:spcAft>
                <a:spcPct val="0"/>
              </a:spcAft>
              <a:buFont typeface="+mj-lt"/>
              <a:buAutoNum type="romanLcPeriod"/>
            </a:pPr>
            <a:r>
              <a:rPr lang="en-US" sz="2000" b="1" i="1" dirty="0">
                <a:solidFill>
                  <a:prstClr val="black"/>
                </a:solidFill>
                <a:latin typeface="Times New Roman" pitchFamily="18" charset="0"/>
                <a:cs typeface="Times New Roman" pitchFamily="18" charset="0"/>
              </a:rPr>
              <a:t>Human  Resource  Management:  </a:t>
            </a:r>
            <a:r>
              <a:rPr lang="en-US" sz="2000" dirty="0">
                <a:solidFill>
                  <a:prstClr val="black"/>
                </a:solidFill>
                <a:latin typeface="Times New Roman" pitchFamily="18" charset="0"/>
                <a:cs typeface="Times New Roman" pitchFamily="18" charset="0"/>
              </a:rPr>
              <a:t>Personnel  /  Human  Resource  Management covers the various aspects relating to the employees of the </a:t>
            </a:r>
            <a:r>
              <a:rPr lang="en-US" sz="2000" dirty="0" err="1">
                <a:solidFill>
                  <a:prstClr val="black"/>
                </a:solidFill>
                <a:latin typeface="Times New Roman" pitchFamily="18" charset="0"/>
                <a:cs typeface="Times New Roman" pitchFamily="18" charset="0"/>
              </a:rPr>
              <a:t>organisation</a:t>
            </a:r>
            <a:r>
              <a:rPr lang="en-US" sz="2000" dirty="0">
                <a:solidFill>
                  <a:prstClr val="black"/>
                </a:solidFill>
                <a:latin typeface="Times New Roman" pitchFamily="18" charset="0"/>
                <a:cs typeface="Times New Roman" pitchFamily="18" charset="0"/>
              </a:rPr>
              <a:t> such as recruitment, training, transfers, promotions, retirement, terminations, remuneration, </a:t>
            </a:r>
            <a:r>
              <a:rPr lang="en-US" sz="2000" dirty="0" err="1">
                <a:solidFill>
                  <a:prstClr val="black"/>
                </a:solidFill>
                <a:latin typeface="Times New Roman" pitchFamily="18" charset="0"/>
                <a:cs typeface="Times New Roman" pitchFamily="18" charset="0"/>
              </a:rPr>
              <a:t>labour</a:t>
            </a:r>
            <a:r>
              <a:rPr lang="en-US" sz="2000" dirty="0">
                <a:solidFill>
                  <a:prstClr val="black"/>
                </a:solidFill>
                <a:latin typeface="Times New Roman" pitchFamily="18" charset="0"/>
                <a:cs typeface="Times New Roman" pitchFamily="18" charset="0"/>
              </a:rPr>
              <a:t> welfare and social security, industrial relations etc.</a:t>
            </a:r>
          </a:p>
          <a:p>
            <a:pPr marL="1428750" lvl="2" indent="-514350" algn="just" fontAlgn="base">
              <a:spcBef>
                <a:spcPct val="0"/>
              </a:spcBef>
              <a:spcAft>
                <a:spcPct val="0"/>
              </a:spcAft>
              <a:buFont typeface="+mj-lt"/>
              <a:buAutoNum type="romanLcPeriod"/>
            </a:pPr>
            <a:r>
              <a:rPr lang="en-US" sz="2000" b="1" i="1" dirty="0">
                <a:solidFill>
                  <a:prstClr val="black"/>
                </a:solidFill>
                <a:latin typeface="Times New Roman" pitchFamily="18" charset="0"/>
                <a:cs typeface="Times New Roman" pitchFamily="18" charset="0"/>
              </a:rPr>
              <a:t>Marketing Management: </a:t>
            </a:r>
            <a:r>
              <a:rPr lang="en-US" sz="2000" dirty="0">
                <a:solidFill>
                  <a:prstClr val="black"/>
                </a:solidFill>
                <a:latin typeface="Times New Roman" pitchFamily="18" charset="0"/>
                <a:cs typeface="Times New Roman" pitchFamily="18" charset="0"/>
              </a:rPr>
              <a:t>Marketing management deals with marketing of goods, sales  promotion,  advertisement  and  publicity,  channels  of  distribution,  market research  etc.</a:t>
            </a:r>
          </a:p>
        </p:txBody>
      </p:sp>
    </p:spTree>
    <p:extLst>
      <p:ext uri="{BB962C8B-B14F-4D97-AF65-F5344CB8AC3E}">
        <p14:creationId xmlns:p14="http://schemas.microsoft.com/office/powerpoint/2010/main" val="4457073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2800" b="1" u="sng" dirty="0">
                <a:solidFill>
                  <a:schemeClr val="tx1"/>
                </a:solidFill>
                <a:latin typeface="Times New Roman" pitchFamily="18" charset="0"/>
                <a:cs typeface="Times New Roman" pitchFamily="18" charset="0"/>
              </a:rPr>
              <a:t>SCOPE  OF  MANAGEMENT</a:t>
            </a:r>
            <a:endParaRPr lang="en-US" sz="2800" dirty="0">
              <a:solidFill>
                <a:schemeClr val="tx1"/>
              </a:solidFill>
            </a:endParaRPr>
          </a:p>
        </p:txBody>
      </p:sp>
      <p:sp>
        <p:nvSpPr>
          <p:cNvPr id="3" name="Slide Number Placeholder 2"/>
          <p:cNvSpPr>
            <a:spLocks noGrp="1"/>
          </p:cNvSpPr>
          <p:nvPr>
            <p:ph type="sldNum" sz="quarter" idx="12"/>
          </p:nvPr>
        </p:nvSpPr>
        <p:spPr/>
        <p:txBody>
          <a:bodyPr>
            <a:normAutofit fontScale="85000" lnSpcReduction="20000"/>
          </a:bodyPr>
          <a:lstStyle/>
          <a:p>
            <a:fld id="{B6F15528-21DE-4FAA-801E-634DDDAF4B2B}" type="slidenum">
              <a:rPr lang="en-US" smtClean="0"/>
              <a:pPr/>
              <a:t>33</a:t>
            </a:fld>
            <a:endParaRPr lang="en-US"/>
          </a:p>
        </p:txBody>
      </p:sp>
      <p:sp>
        <p:nvSpPr>
          <p:cNvPr id="4" name="Rectangle 3"/>
          <p:cNvSpPr/>
          <p:nvPr/>
        </p:nvSpPr>
        <p:spPr>
          <a:xfrm>
            <a:off x="304800" y="1676400"/>
            <a:ext cx="8610600" cy="4708981"/>
          </a:xfrm>
          <a:prstGeom prst="rect">
            <a:avLst/>
          </a:prstGeom>
        </p:spPr>
        <p:txBody>
          <a:bodyPr wrap="square">
            <a:spAutoFit/>
          </a:bodyPr>
          <a:lstStyle/>
          <a:p>
            <a:pPr marL="514350" lvl="0" indent="-514350" algn="just" fontAlgn="base">
              <a:spcBef>
                <a:spcPct val="0"/>
              </a:spcBef>
              <a:spcAft>
                <a:spcPct val="0"/>
              </a:spcAft>
              <a:buFont typeface="+mj-lt"/>
              <a:buAutoNum type="romanLcPeriod" startAt="4"/>
            </a:pPr>
            <a:r>
              <a:rPr lang="en-US" sz="2000" b="1" i="1" dirty="0">
                <a:solidFill>
                  <a:prstClr val="black"/>
                </a:solidFill>
                <a:latin typeface="Times New Roman" pitchFamily="18" charset="0"/>
                <a:cs typeface="Times New Roman" pitchFamily="18" charset="0"/>
              </a:rPr>
              <a:t>Production Management: </a:t>
            </a:r>
            <a:r>
              <a:rPr lang="en-US" sz="2000" dirty="0">
                <a:solidFill>
                  <a:prstClr val="black"/>
                </a:solidFill>
                <a:latin typeface="Times New Roman" pitchFamily="18" charset="0"/>
                <a:cs typeface="Times New Roman" pitchFamily="18" charset="0"/>
              </a:rPr>
              <a:t>Production Management includes production planning, quality control and inspection, production techniques etc.</a:t>
            </a:r>
          </a:p>
          <a:p>
            <a:pPr marL="514350" lvl="0" indent="-514350" algn="just" fontAlgn="base">
              <a:spcBef>
                <a:spcPct val="0"/>
              </a:spcBef>
              <a:spcAft>
                <a:spcPct val="0"/>
              </a:spcAft>
              <a:buFont typeface="+mj-lt"/>
              <a:buAutoNum type="romanLcPeriod" startAt="4"/>
            </a:pPr>
            <a:endParaRPr lang="en-US" sz="2000" dirty="0">
              <a:solidFill>
                <a:prstClr val="black"/>
              </a:solidFill>
              <a:latin typeface="Times New Roman" pitchFamily="18" charset="0"/>
              <a:cs typeface="Times New Roman" pitchFamily="18" charset="0"/>
            </a:endParaRPr>
          </a:p>
          <a:p>
            <a:pPr marL="514350" lvl="0" indent="-514350" algn="just" fontAlgn="base">
              <a:spcBef>
                <a:spcPct val="0"/>
              </a:spcBef>
              <a:spcAft>
                <a:spcPct val="0"/>
              </a:spcAft>
              <a:buFont typeface="+mj-lt"/>
              <a:buAutoNum type="romanLcPeriod" startAt="4"/>
            </a:pPr>
            <a:r>
              <a:rPr lang="en-US" sz="2000" b="1" i="1" dirty="0">
                <a:solidFill>
                  <a:prstClr val="black"/>
                </a:solidFill>
                <a:latin typeface="Times New Roman" pitchFamily="18" charset="0"/>
                <a:cs typeface="Times New Roman" pitchFamily="18" charset="0"/>
              </a:rPr>
              <a:t>Material  Management:  </a:t>
            </a:r>
            <a:r>
              <a:rPr lang="en-US" sz="2000" dirty="0">
                <a:solidFill>
                  <a:prstClr val="black"/>
                </a:solidFill>
                <a:latin typeface="Times New Roman" pitchFamily="18" charset="0"/>
                <a:cs typeface="Times New Roman" pitchFamily="18" charset="0"/>
              </a:rPr>
              <a:t>Material  management  includes  purchase  of  materials, issue of materials, storage of materials, maintenance of records, materials control etc.</a:t>
            </a:r>
          </a:p>
          <a:p>
            <a:pPr marL="514350" lvl="0" indent="-514350" algn="just" fontAlgn="base">
              <a:spcBef>
                <a:spcPct val="0"/>
              </a:spcBef>
              <a:spcAft>
                <a:spcPct val="0"/>
              </a:spcAft>
              <a:buFont typeface="+mj-lt"/>
              <a:buAutoNum type="romanLcPeriod" startAt="4"/>
            </a:pPr>
            <a:endParaRPr lang="en-US" sz="2000" dirty="0">
              <a:solidFill>
                <a:prstClr val="black"/>
              </a:solidFill>
              <a:latin typeface="Times New Roman" pitchFamily="18" charset="0"/>
              <a:cs typeface="Times New Roman" pitchFamily="18" charset="0"/>
            </a:endParaRPr>
          </a:p>
          <a:p>
            <a:pPr marL="514350" lvl="0" indent="-514350" algn="just" fontAlgn="base">
              <a:spcBef>
                <a:spcPct val="0"/>
              </a:spcBef>
              <a:spcAft>
                <a:spcPct val="0"/>
              </a:spcAft>
              <a:buFont typeface="+mj-lt"/>
              <a:buAutoNum type="romanLcPeriod" startAt="4"/>
            </a:pPr>
            <a:r>
              <a:rPr lang="en-US" sz="2000" b="1" i="1" dirty="0">
                <a:solidFill>
                  <a:prstClr val="black"/>
                </a:solidFill>
                <a:latin typeface="Times New Roman" pitchFamily="18" charset="0"/>
                <a:cs typeface="Times New Roman" pitchFamily="18" charset="0"/>
              </a:rPr>
              <a:t>Purchasing Management: </a:t>
            </a:r>
            <a:r>
              <a:rPr lang="en-US" sz="2000" dirty="0">
                <a:solidFill>
                  <a:prstClr val="black"/>
                </a:solidFill>
                <a:latin typeface="Times New Roman" pitchFamily="18" charset="0"/>
                <a:cs typeface="Times New Roman" pitchFamily="18" charset="0"/>
              </a:rPr>
              <a:t>Purchasing management includes inviting tenders for raw materials, placing orders, entering into contracts etc.</a:t>
            </a:r>
          </a:p>
          <a:p>
            <a:pPr marL="514350" lvl="0" indent="-514350" algn="just" fontAlgn="base">
              <a:spcBef>
                <a:spcPct val="0"/>
              </a:spcBef>
              <a:spcAft>
                <a:spcPct val="0"/>
              </a:spcAft>
              <a:buFont typeface="+mj-lt"/>
              <a:buAutoNum type="romanLcPeriod" startAt="4"/>
            </a:pPr>
            <a:endParaRPr lang="en-US" sz="2000" dirty="0">
              <a:solidFill>
                <a:prstClr val="black"/>
              </a:solidFill>
              <a:latin typeface="Times New Roman" pitchFamily="18" charset="0"/>
              <a:cs typeface="Times New Roman" pitchFamily="18" charset="0"/>
            </a:endParaRPr>
          </a:p>
          <a:p>
            <a:pPr marL="514350" lvl="0" indent="-514350" algn="just" fontAlgn="base">
              <a:spcBef>
                <a:spcPct val="0"/>
              </a:spcBef>
              <a:spcAft>
                <a:spcPct val="0"/>
              </a:spcAft>
              <a:buFont typeface="+mj-lt"/>
              <a:buAutoNum type="romanLcPeriod" startAt="4"/>
            </a:pPr>
            <a:r>
              <a:rPr lang="en-US" sz="2000" b="1" i="1" dirty="0">
                <a:solidFill>
                  <a:prstClr val="black"/>
                </a:solidFill>
                <a:latin typeface="Times New Roman" pitchFamily="18" charset="0"/>
                <a:cs typeface="Times New Roman" pitchFamily="18" charset="0"/>
              </a:rPr>
              <a:t>Maintenance Management: </a:t>
            </a:r>
            <a:r>
              <a:rPr lang="en-US" sz="2000" dirty="0">
                <a:solidFill>
                  <a:prstClr val="black"/>
                </a:solidFill>
                <a:latin typeface="Times New Roman" pitchFamily="18" charset="0"/>
                <a:cs typeface="Times New Roman" pitchFamily="18" charset="0"/>
              </a:rPr>
              <a:t>Maintenance Management relates to the proper care and maintenance of the buildings, plant and machinery etc.</a:t>
            </a:r>
          </a:p>
          <a:p>
            <a:pPr marL="514350" lvl="0" indent="-514350" algn="just" fontAlgn="base">
              <a:spcBef>
                <a:spcPct val="0"/>
              </a:spcBef>
              <a:spcAft>
                <a:spcPct val="0"/>
              </a:spcAft>
              <a:buFont typeface="+mj-lt"/>
              <a:buAutoNum type="romanLcPeriod" startAt="4"/>
            </a:pPr>
            <a:endParaRPr lang="en-US" sz="2000" dirty="0">
              <a:solidFill>
                <a:prstClr val="black"/>
              </a:solidFill>
              <a:latin typeface="Times New Roman" pitchFamily="18" charset="0"/>
              <a:cs typeface="Times New Roman" pitchFamily="18" charset="0"/>
            </a:endParaRPr>
          </a:p>
          <a:p>
            <a:pPr marL="514350" lvl="0" indent="-514350" algn="just" fontAlgn="base">
              <a:spcBef>
                <a:spcPct val="0"/>
              </a:spcBef>
              <a:spcAft>
                <a:spcPct val="0"/>
              </a:spcAft>
              <a:buFont typeface="+mj-lt"/>
              <a:buAutoNum type="romanLcPeriod" startAt="4"/>
            </a:pPr>
            <a:r>
              <a:rPr lang="en-US" sz="2000" b="1" i="1" dirty="0">
                <a:solidFill>
                  <a:prstClr val="black"/>
                </a:solidFill>
                <a:latin typeface="Times New Roman" pitchFamily="18" charset="0"/>
                <a:cs typeface="Times New Roman" pitchFamily="18" charset="0"/>
              </a:rPr>
              <a:t>Office Management: </a:t>
            </a:r>
            <a:r>
              <a:rPr lang="en-US" sz="2000" dirty="0">
                <a:solidFill>
                  <a:prstClr val="black"/>
                </a:solidFill>
                <a:latin typeface="Times New Roman" pitchFamily="18" charset="0"/>
                <a:cs typeface="Times New Roman" pitchFamily="18" charset="0"/>
              </a:rPr>
              <a:t>Office management is concerned with office layout, office staffing and equipment of the office.</a:t>
            </a:r>
          </a:p>
        </p:txBody>
      </p:sp>
    </p:spTree>
    <p:extLst>
      <p:ext uri="{BB962C8B-B14F-4D97-AF65-F5344CB8AC3E}">
        <p14:creationId xmlns:p14="http://schemas.microsoft.com/office/powerpoint/2010/main" val="24910610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34</a:t>
            </a:fld>
            <a:endParaRPr lang="en-US"/>
          </a:p>
        </p:txBody>
      </p:sp>
      <p:sp>
        <p:nvSpPr>
          <p:cNvPr id="3" name="Rectangle 2"/>
          <p:cNvSpPr/>
          <p:nvPr/>
        </p:nvSpPr>
        <p:spPr>
          <a:xfrm>
            <a:off x="1752600" y="2087880"/>
            <a:ext cx="5344989" cy="400110"/>
          </a:xfrm>
          <a:prstGeom prst="rect">
            <a:avLst/>
          </a:prstGeom>
        </p:spPr>
        <p:txBody>
          <a:bodyPr wrap="none">
            <a:spAutoFit/>
          </a:bodyPr>
          <a:lstStyle/>
          <a:p>
            <a:pPr lvl="0" algn="just" fontAlgn="base">
              <a:spcBef>
                <a:spcPct val="0"/>
              </a:spcBef>
              <a:spcAft>
                <a:spcPct val="0"/>
              </a:spcAft>
            </a:pPr>
            <a:r>
              <a:rPr lang="en-US" sz="2000" b="1" dirty="0">
                <a:solidFill>
                  <a:prstClr val="black"/>
                </a:solidFill>
                <a:latin typeface="Times New Roman" pitchFamily="18" charset="0"/>
                <a:cs typeface="Times New Roman" pitchFamily="18" charset="0"/>
              </a:rPr>
              <a:t>Management is both a Science as well as an Art</a:t>
            </a:r>
            <a:endParaRPr lang="en-US" sz="2000" dirty="0">
              <a:solidFill>
                <a:prstClr val="black"/>
              </a:solidFill>
              <a:latin typeface="Times New Roman" pitchFamily="18" charset="0"/>
              <a:cs typeface="Times New Roman" pitchFamily="18" charset="0"/>
            </a:endParaRPr>
          </a:p>
        </p:txBody>
      </p:sp>
    </p:spTree>
    <p:extLst>
      <p:ext uri="{BB962C8B-B14F-4D97-AF65-F5344CB8AC3E}">
        <p14:creationId xmlns:p14="http://schemas.microsoft.com/office/powerpoint/2010/main" val="27426248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35</a:t>
            </a:fld>
            <a:endParaRPr lang="en-US"/>
          </a:p>
        </p:txBody>
      </p:sp>
      <p:pic>
        <p:nvPicPr>
          <p:cNvPr id="8" name="Picture 7"/>
          <p:cNvPicPr>
            <a:picLocks noChangeAspect="1"/>
          </p:cNvPicPr>
          <p:nvPr/>
        </p:nvPicPr>
        <p:blipFill rotWithShape="1">
          <a:blip r:embed="rId3"/>
          <a:srcRect b="3545"/>
          <a:stretch/>
        </p:blipFill>
        <p:spPr>
          <a:xfrm>
            <a:off x="0" y="14514"/>
            <a:ext cx="9144000" cy="6614886"/>
          </a:xfrm>
          <a:prstGeom prst="rect">
            <a:avLst/>
          </a:prstGeom>
        </p:spPr>
      </p:pic>
    </p:spTree>
    <p:extLst>
      <p:ext uri="{BB962C8B-B14F-4D97-AF65-F5344CB8AC3E}">
        <p14:creationId xmlns:p14="http://schemas.microsoft.com/office/powerpoint/2010/main" val="24102095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3B00F49-7023-B858-5C58-C7FEB9FD74E5}"/>
              </a:ext>
            </a:extLst>
          </p:cNvPr>
          <p:cNvSpPr>
            <a:spLocks noGrp="1"/>
          </p:cNvSpPr>
          <p:nvPr>
            <p:ph type="title"/>
          </p:nvPr>
        </p:nvSpPr>
        <p:spPr/>
        <p:txBody>
          <a:bodyPr>
            <a:noAutofit/>
          </a:bodyPr>
          <a:lstStyle/>
          <a:p>
            <a:pPr algn="just"/>
            <a:r>
              <a:rPr lang="en-US" sz="2000" b="1" i="0" dirty="0">
                <a:solidFill>
                  <a:srgbClr val="0D0D0D"/>
                </a:solidFill>
                <a:effectLst/>
                <a:latin typeface="Söhne"/>
              </a:rPr>
              <a:t>The idea that management is both a science and an art suggests that it involves systematic principles and techniques (science) as well as creative and intuitive skills (art). Let's explore this duality with an example:</a:t>
            </a:r>
            <a:br>
              <a:rPr lang="en-US" sz="2000" b="1" i="0" dirty="0">
                <a:solidFill>
                  <a:srgbClr val="0D0D0D"/>
                </a:solidFill>
                <a:effectLst/>
                <a:latin typeface="Söhne"/>
              </a:rPr>
            </a:br>
            <a:endParaRPr lang="en-IN" sz="2000" b="1" dirty="0"/>
          </a:p>
        </p:txBody>
      </p:sp>
      <p:sp>
        <p:nvSpPr>
          <p:cNvPr id="2" name="Slide Number Placeholder 1">
            <a:extLst>
              <a:ext uri="{FF2B5EF4-FFF2-40B4-BE49-F238E27FC236}">
                <a16:creationId xmlns:a16="http://schemas.microsoft.com/office/drawing/2014/main" id="{335B1658-EEF2-5670-CADD-EF5989CAD0FE}"/>
              </a:ext>
            </a:extLst>
          </p:cNvPr>
          <p:cNvSpPr>
            <a:spLocks noGrp="1"/>
          </p:cNvSpPr>
          <p:nvPr>
            <p:ph type="sldNum" sz="quarter" idx="12"/>
          </p:nvPr>
        </p:nvSpPr>
        <p:spPr/>
        <p:txBody>
          <a:bodyPr>
            <a:normAutofit fontScale="85000" lnSpcReduction="20000"/>
          </a:bodyPr>
          <a:lstStyle/>
          <a:p>
            <a:fld id="{B6F15528-21DE-4FAA-801E-634DDDAF4B2B}" type="slidenum">
              <a:rPr lang="en-US" smtClean="0"/>
              <a:pPr/>
              <a:t>36</a:t>
            </a:fld>
            <a:endParaRPr lang="en-US"/>
          </a:p>
        </p:txBody>
      </p:sp>
      <p:sp>
        <p:nvSpPr>
          <p:cNvPr id="4" name="Content Placeholder 3">
            <a:extLst>
              <a:ext uri="{FF2B5EF4-FFF2-40B4-BE49-F238E27FC236}">
                <a16:creationId xmlns:a16="http://schemas.microsoft.com/office/drawing/2014/main" id="{4745183C-8968-7169-A7B8-B963AC4DEA5F}"/>
              </a:ext>
            </a:extLst>
          </p:cNvPr>
          <p:cNvSpPr>
            <a:spLocks noGrp="1"/>
          </p:cNvSpPr>
          <p:nvPr>
            <p:ph sz="quarter" idx="1"/>
          </p:nvPr>
        </p:nvSpPr>
        <p:spPr>
          <a:xfrm>
            <a:off x="533400" y="1600200"/>
            <a:ext cx="8382000" cy="5029200"/>
          </a:xfrm>
        </p:spPr>
        <p:txBody>
          <a:bodyPr>
            <a:normAutofit fontScale="62500" lnSpcReduction="20000"/>
          </a:bodyPr>
          <a:lstStyle/>
          <a:p>
            <a:pPr marL="0" indent="0" algn="l">
              <a:buNone/>
            </a:pPr>
            <a:r>
              <a:rPr lang="en-US" b="1" i="0" dirty="0">
                <a:solidFill>
                  <a:srgbClr val="0D0D0D"/>
                </a:solidFill>
                <a:effectLst/>
                <a:latin typeface="Söhne"/>
              </a:rPr>
              <a:t>Management as a Science:</a:t>
            </a:r>
            <a:r>
              <a:rPr lang="en-US" b="0" i="0" dirty="0">
                <a:solidFill>
                  <a:srgbClr val="0D0D0D"/>
                </a:solidFill>
                <a:effectLst/>
                <a:latin typeface="Söhne"/>
              </a:rPr>
              <a:t> Management as a science involves the systematic application of principles, theories, and methodologies to achieve specific objectives. This aspect emphasizes the use of data, analysis, and established frameworks.</a:t>
            </a:r>
          </a:p>
          <a:p>
            <a:pPr algn="l"/>
            <a:r>
              <a:rPr lang="en-US" b="0" i="1" dirty="0">
                <a:solidFill>
                  <a:srgbClr val="0D0D0D"/>
                </a:solidFill>
                <a:effectLst/>
                <a:latin typeface="Söhne"/>
              </a:rPr>
              <a:t>Example:</a:t>
            </a:r>
            <a:r>
              <a:rPr lang="en-US" b="0" i="0" dirty="0">
                <a:solidFill>
                  <a:srgbClr val="0D0D0D"/>
                </a:solidFill>
                <a:effectLst/>
                <a:latin typeface="Söhne"/>
              </a:rPr>
              <a:t> Consider a manufacturing company implementing Total Quality Management (TQM) principles. TQM is a systematic management approach that focuses on continuous improvement, customer satisfaction, and employee involvement. The company uses statistical methods, quality control tools, and standardized processes to enhance product quality. This scientific approach helps in measuring and improving performance based on data and empirical evidence.</a:t>
            </a:r>
          </a:p>
          <a:p>
            <a:pPr marL="0" indent="0" algn="l">
              <a:buNone/>
            </a:pPr>
            <a:r>
              <a:rPr lang="en-US" b="1" i="0" dirty="0">
                <a:solidFill>
                  <a:srgbClr val="0D0D0D"/>
                </a:solidFill>
                <a:effectLst/>
                <a:latin typeface="Söhne"/>
              </a:rPr>
              <a:t>Management as an Art:</a:t>
            </a:r>
            <a:r>
              <a:rPr lang="en-US" b="0" i="0" dirty="0">
                <a:solidFill>
                  <a:srgbClr val="0D0D0D"/>
                </a:solidFill>
                <a:effectLst/>
                <a:latin typeface="Söhne"/>
              </a:rPr>
              <a:t> Management as an art involves the creative and intuitive application of skills to navigate complex and unpredictable situations. This aspect highlights the need for flexibility, innovation, and adaptability in decision-making.</a:t>
            </a:r>
          </a:p>
          <a:p>
            <a:pPr algn="l"/>
            <a:r>
              <a:rPr lang="en-US" b="0" i="1" dirty="0">
                <a:solidFill>
                  <a:srgbClr val="0D0D0D"/>
                </a:solidFill>
                <a:effectLst/>
                <a:latin typeface="Söhne"/>
              </a:rPr>
              <a:t>Example:</a:t>
            </a:r>
            <a:r>
              <a:rPr lang="en-US" b="0" i="0" dirty="0">
                <a:solidFill>
                  <a:srgbClr val="0D0D0D"/>
                </a:solidFill>
                <a:effectLst/>
                <a:latin typeface="Söhne"/>
              </a:rPr>
              <a:t> Now, imagine the same manufacturing company faces a sudden disruption in the supply chain due to unforeseen circumstances. The management team must creatively and intuitively respond to the situation. This could involve quick decision-making, thinking outside the box to find alternative suppliers, and effectively communicating changes to the workforce. The ability to handle such unforeseen challenges requires artistic skills such as leadership, creativity, and strategic thinking.</a:t>
            </a:r>
          </a:p>
          <a:p>
            <a:endParaRPr lang="en-IN" dirty="0"/>
          </a:p>
        </p:txBody>
      </p:sp>
    </p:spTree>
    <p:extLst>
      <p:ext uri="{BB962C8B-B14F-4D97-AF65-F5344CB8AC3E}">
        <p14:creationId xmlns:p14="http://schemas.microsoft.com/office/powerpoint/2010/main" val="33919058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20FA8C6-BFB0-A91E-455E-C21302A9A793}"/>
              </a:ext>
            </a:extLst>
          </p:cNvPr>
          <p:cNvSpPr>
            <a:spLocks noGrp="1"/>
          </p:cNvSpPr>
          <p:nvPr>
            <p:ph type="sldNum" sz="quarter" idx="12"/>
          </p:nvPr>
        </p:nvSpPr>
        <p:spPr/>
        <p:txBody>
          <a:bodyPr/>
          <a:lstStyle/>
          <a:p>
            <a:fld id="{B6F15528-21DE-4FAA-801E-634DDDAF4B2B}" type="slidenum">
              <a:rPr lang="en-US" smtClean="0"/>
              <a:pPr/>
              <a:t>37</a:t>
            </a:fld>
            <a:endParaRPr lang="en-US"/>
          </a:p>
        </p:txBody>
      </p:sp>
      <p:sp>
        <p:nvSpPr>
          <p:cNvPr id="4" name="Content Placeholder 3">
            <a:extLst>
              <a:ext uri="{FF2B5EF4-FFF2-40B4-BE49-F238E27FC236}">
                <a16:creationId xmlns:a16="http://schemas.microsoft.com/office/drawing/2014/main" id="{E6452B63-FB7D-76E9-85B5-634EE3B857B9}"/>
              </a:ext>
            </a:extLst>
          </p:cNvPr>
          <p:cNvSpPr>
            <a:spLocks noGrp="1"/>
          </p:cNvSpPr>
          <p:nvPr>
            <p:ph sz="quarter" idx="1"/>
          </p:nvPr>
        </p:nvSpPr>
        <p:spPr/>
        <p:txBody>
          <a:bodyPr>
            <a:normAutofit fontScale="70000" lnSpcReduction="20000"/>
          </a:bodyPr>
          <a:lstStyle/>
          <a:p>
            <a:pPr marL="0" indent="0" algn="l">
              <a:buNone/>
            </a:pPr>
            <a:r>
              <a:rPr lang="en-US" b="1" i="0" dirty="0">
                <a:solidFill>
                  <a:srgbClr val="0D0D0D"/>
                </a:solidFill>
                <a:effectLst/>
                <a:latin typeface="Söhne"/>
              </a:rPr>
              <a:t>Synthesis of Science and Art in Management:</a:t>
            </a:r>
            <a:r>
              <a:rPr lang="en-US" b="0" i="0" dirty="0">
                <a:solidFill>
                  <a:srgbClr val="0D0D0D"/>
                </a:solidFill>
                <a:effectLst/>
                <a:latin typeface="Söhne"/>
              </a:rPr>
              <a:t> In practice, effective management often involves a seamless integration of scientific principles and artistic skills. For instance, a manager may use data and analytics to identify trends and make informed decisions (science), but they also need interpersonal skills to lead and motivate their team (art). Striking the right balance between these elements is crucial for successful management.</a:t>
            </a:r>
          </a:p>
          <a:p>
            <a:pPr algn="l"/>
            <a:r>
              <a:rPr lang="en-US" b="0" i="1" dirty="0">
                <a:solidFill>
                  <a:srgbClr val="0D0D0D"/>
                </a:solidFill>
                <a:effectLst/>
                <a:latin typeface="Söhne"/>
              </a:rPr>
              <a:t>Example:</a:t>
            </a:r>
            <a:r>
              <a:rPr lang="en-US" b="0" i="0" dirty="0">
                <a:solidFill>
                  <a:srgbClr val="0D0D0D"/>
                </a:solidFill>
                <a:effectLst/>
                <a:latin typeface="Söhne"/>
              </a:rPr>
              <a:t> A marketing manager developing a new advertising campaign uses market research and analytics (science) to identify target demographics and optimal channels. However, the creative aspect of designing engaging and visually appealing advertisements, as well as understanding the emotional appeal that resonates with the audience, involves artistic skills.</a:t>
            </a:r>
          </a:p>
          <a:p>
            <a:pPr marL="0" indent="0" algn="l">
              <a:buNone/>
            </a:pPr>
            <a:r>
              <a:rPr lang="en-US" b="0" i="0" dirty="0">
                <a:solidFill>
                  <a:srgbClr val="0D0D0D"/>
                </a:solidFill>
                <a:effectLst/>
                <a:latin typeface="Söhne"/>
              </a:rPr>
              <a:t>In summary, management as both a science and an art acknowledges the need for systematic approaches and creative, intuitive skills in achieving organizational goals. The successful manager combines the best of both worlds, using data-driven decision-making alongside creative problem-solving to navigate the complexities of the business environment.</a:t>
            </a:r>
          </a:p>
          <a:p>
            <a:endParaRPr lang="en-IN" dirty="0"/>
          </a:p>
        </p:txBody>
      </p:sp>
    </p:spTree>
    <p:extLst>
      <p:ext uri="{BB962C8B-B14F-4D97-AF65-F5344CB8AC3E}">
        <p14:creationId xmlns:p14="http://schemas.microsoft.com/office/powerpoint/2010/main" val="19918259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38</a:t>
            </a:fld>
            <a:endParaRPr lang="en-US"/>
          </a:p>
        </p:txBody>
      </p:sp>
      <p:pic>
        <p:nvPicPr>
          <p:cNvPr id="3" name="Picture 2"/>
          <p:cNvPicPr>
            <a:picLocks noChangeAspect="1"/>
          </p:cNvPicPr>
          <p:nvPr/>
        </p:nvPicPr>
        <p:blipFill>
          <a:blip r:embed="rId2"/>
          <a:stretch>
            <a:fillRect/>
          </a:stretch>
        </p:blipFill>
        <p:spPr>
          <a:xfrm>
            <a:off x="0" y="0"/>
            <a:ext cx="9144000" cy="6858000"/>
          </a:xfrm>
          <a:prstGeom prst="rect">
            <a:avLst/>
          </a:prstGeom>
        </p:spPr>
      </p:pic>
      <p:sp>
        <p:nvSpPr>
          <p:cNvPr id="4" name="Rectangle 3"/>
          <p:cNvSpPr/>
          <p:nvPr/>
        </p:nvSpPr>
        <p:spPr>
          <a:xfrm>
            <a:off x="0" y="6096000"/>
            <a:ext cx="9144000" cy="76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p:cNvSpPr/>
          <p:nvPr/>
        </p:nvSpPr>
        <p:spPr>
          <a:xfrm>
            <a:off x="1600200" y="0"/>
            <a:ext cx="2286000" cy="533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676892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39</a:t>
            </a:fld>
            <a:endParaRPr lang="en-US"/>
          </a:p>
        </p:txBody>
      </p:sp>
      <p:pic>
        <p:nvPicPr>
          <p:cNvPr id="3" name="Picture 2"/>
          <p:cNvPicPr>
            <a:picLocks noChangeAspect="1"/>
          </p:cNvPicPr>
          <p:nvPr/>
        </p:nvPicPr>
        <p:blipFill>
          <a:blip r:embed="rId2"/>
          <a:stretch>
            <a:fillRect/>
          </a:stretch>
        </p:blipFill>
        <p:spPr>
          <a:xfrm>
            <a:off x="0" y="-3584"/>
            <a:ext cx="9144000" cy="6865166"/>
          </a:xfrm>
          <a:prstGeom prst="rect">
            <a:avLst/>
          </a:prstGeom>
        </p:spPr>
      </p:pic>
    </p:spTree>
    <p:extLst>
      <p:ext uri="{BB962C8B-B14F-4D97-AF65-F5344CB8AC3E}">
        <p14:creationId xmlns:p14="http://schemas.microsoft.com/office/powerpoint/2010/main" val="33645749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40</a:t>
            </a:fld>
            <a:endParaRPr lang="en-US"/>
          </a:p>
        </p:txBody>
      </p:sp>
      <p:pic>
        <p:nvPicPr>
          <p:cNvPr id="3" name="Picture 2"/>
          <p:cNvPicPr>
            <a:picLocks noChangeAspect="1"/>
          </p:cNvPicPr>
          <p:nvPr/>
        </p:nvPicPr>
        <p:blipFill>
          <a:blip r:embed="rId2"/>
          <a:stretch>
            <a:fillRect/>
          </a:stretch>
        </p:blipFill>
        <p:spPr>
          <a:xfrm>
            <a:off x="0" y="-19050"/>
            <a:ext cx="8991600" cy="6858000"/>
          </a:xfrm>
          <a:prstGeom prst="rect">
            <a:avLst/>
          </a:prstGeom>
        </p:spPr>
      </p:pic>
      <p:sp>
        <p:nvSpPr>
          <p:cNvPr id="4" name="Rectangle 3"/>
          <p:cNvSpPr/>
          <p:nvPr/>
        </p:nvSpPr>
        <p:spPr>
          <a:xfrm>
            <a:off x="0" y="6248400"/>
            <a:ext cx="8991600" cy="60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4066904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41</a:t>
            </a:fld>
            <a:endParaRPr lang="en-US"/>
          </a:p>
        </p:txBody>
      </p:sp>
      <p:pic>
        <p:nvPicPr>
          <p:cNvPr id="3" name="Picture 2"/>
          <p:cNvPicPr>
            <a:picLocks noChangeAspect="1"/>
          </p:cNvPicPr>
          <p:nvPr/>
        </p:nvPicPr>
        <p:blipFill>
          <a:blip r:embed="rId2"/>
          <a:stretch>
            <a:fillRect/>
          </a:stretch>
        </p:blipFill>
        <p:spPr>
          <a:xfrm>
            <a:off x="32657" y="21770"/>
            <a:ext cx="9111343" cy="6754275"/>
          </a:xfrm>
          <a:prstGeom prst="rect">
            <a:avLst/>
          </a:prstGeom>
        </p:spPr>
      </p:pic>
    </p:spTree>
    <p:extLst>
      <p:ext uri="{BB962C8B-B14F-4D97-AF65-F5344CB8AC3E}">
        <p14:creationId xmlns:p14="http://schemas.microsoft.com/office/powerpoint/2010/main" val="13427505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THANK YOU……………..</a:t>
            </a:r>
          </a:p>
        </p:txBody>
      </p:sp>
      <p:sp>
        <p:nvSpPr>
          <p:cNvPr id="4" name="Slide Number Placeholder 3"/>
          <p:cNvSpPr>
            <a:spLocks noGrp="1"/>
          </p:cNvSpPr>
          <p:nvPr>
            <p:ph type="sldNum" sz="quarter" idx="11"/>
          </p:nvPr>
        </p:nvSpPr>
        <p:spPr/>
        <p:txBody>
          <a:bodyPr/>
          <a:lstStyle/>
          <a:p>
            <a:fld id="{B6F15528-21DE-4FAA-801E-634DDDAF4B2B}" type="slidenum">
              <a:rPr lang="en-US" smtClean="0"/>
              <a:pPr/>
              <a:t>42</a:t>
            </a:fld>
            <a:endParaRPr lang="en-US"/>
          </a:p>
        </p:txBody>
      </p:sp>
    </p:spTree>
    <p:extLst>
      <p:ext uri="{BB962C8B-B14F-4D97-AF65-F5344CB8AC3E}">
        <p14:creationId xmlns:p14="http://schemas.microsoft.com/office/powerpoint/2010/main" val="5136435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6F15528-21DE-4FAA-801E-634DDDAF4B2B}" type="slidenum">
              <a:rPr lang="en-US" smtClean="0"/>
              <a:pPr/>
              <a:t>43</a:t>
            </a:fld>
            <a:endParaRPr lang="en-US"/>
          </a:p>
        </p:txBody>
      </p:sp>
      <p:pic>
        <p:nvPicPr>
          <p:cNvPr id="3" name="Picture 2"/>
          <p:cNvPicPr>
            <a:picLocks noChangeAspect="1"/>
          </p:cNvPicPr>
          <p:nvPr/>
        </p:nvPicPr>
        <p:blipFill>
          <a:blip r:embed="rId3"/>
          <a:stretch>
            <a:fillRect/>
          </a:stretch>
        </p:blipFill>
        <p:spPr>
          <a:xfrm>
            <a:off x="-21771" y="32656"/>
            <a:ext cx="9211733" cy="6825343"/>
          </a:xfrm>
          <a:prstGeom prst="rect">
            <a:avLst/>
          </a:prstGeom>
        </p:spPr>
      </p:pic>
      <p:sp>
        <p:nvSpPr>
          <p:cNvPr id="4" name="Rectangle 3"/>
          <p:cNvSpPr/>
          <p:nvPr/>
        </p:nvSpPr>
        <p:spPr>
          <a:xfrm>
            <a:off x="5257800" y="6248400"/>
            <a:ext cx="3886200" cy="609599"/>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70493128"/>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28453</TotalTime>
  <Words>2817</Words>
  <Application>Microsoft Office PowerPoint</Application>
  <PresentationFormat>On-screen Show (4:3)</PresentationFormat>
  <Paragraphs>270</Paragraphs>
  <Slides>43</Slides>
  <Notes>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43</vt:i4>
      </vt:variant>
    </vt:vector>
  </HeadingPairs>
  <TitlesOfParts>
    <vt:vector size="53" baseType="lpstr">
      <vt:lpstr>Arial</vt:lpstr>
      <vt:lpstr>Arial</vt:lpstr>
      <vt:lpstr>Arial Narrow</vt:lpstr>
      <vt:lpstr>Calibri</vt:lpstr>
      <vt:lpstr>Söhne</vt:lpstr>
      <vt:lpstr>Times New Roman</vt:lpstr>
      <vt:lpstr>Tw Cen MT</vt:lpstr>
      <vt:lpstr>Wingdings</vt:lpstr>
      <vt:lpstr>Wingdings 2</vt:lpstr>
      <vt:lpstr>Median</vt:lpstr>
      <vt:lpstr>PowerPoint Presentation</vt:lpstr>
      <vt:lpstr>Course content</vt:lpstr>
      <vt:lpstr>Management - Introduction</vt:lpstr>
      <vt:lpstr>PowerPoint Presentation</vt:lpstr>
      <vt:lpstr>Management - Definition</vt:lpstr>
      <vt:lpstr>Case Studies</vt:lpstr>
      <vt:lpstr>PowerPoint Presentation</vt:lpstr>
      <vt:lpstr>PowerPoint Presentation</vt:lpstr>
      <vt:lpstr>Management - Definition</vt:lpstr>
      <vt:lpstr>PowerPoint Presentation</vt:lpstr>
      <vt:lpstr>PowerPoint Presentation</vt:lpstr>
      <vt:lpstr>PowerPoint Presentation</vt:lpstr>
      <vt:lpstr>Let's explore examples and a case study that illustrates each of the characteristics of management you mentioned: </vt:lpstr>
      <vt:lpstr>PowerPoint Presentation</vt:lpstr>
      <vt:lpstr>Case Study: Dynamic Management in a Tech Startup:</vt:lpstr>
      <vt:lpstr>CHARACTERISTICS  OF  MANAGEMENT</vt:lpstr>
      <vt:lpstr>CHARACTERISTICS  OF  MANAGEMENT</vt:lpstr>
      <vt:lpstr>CHARACTERISTICS  OF  MANAGEMENT</vt:lpstr>
      <vt:lpstr>CHARACTERISTICS  OF  MANAGEMENT</vt:lpstr>
      <vt:lpstr>CHARACTERISTICS  OF  MANAGEMENT</vt:lpstr>
      <vt:lpstr>CHARACTERISTICS  OF  MANAGEMENT</vt:lpstr>
      <vt:lpstr>CHARACTERISTICS  OF  MANAGEMENT</vt:lpstr>
      <vt:lpstr>CHARACTERISTICS  OF  MANAGEMENT</vt:lpstr>
      <vt:lpstr>CHARACTERISTICS  OF  MANAGEMENT</vt:lpstr>
      <vt:lpstr>CHARACTERISTICS  OF  MANAGEMENT</vt:lpstr>
      <vt:lpstr>PowerPoint Presentation</vt:lpstr>
      <vt:lpstr>PowerPoint Presentation</vt:lpstr>
      <vt:lpstr>PowerPoint Presentation</vt:lpstr>
      <vt:lpstr>PowerPoint Presentation</vt:lpstr>
      <vt:lpstr>PowerPoint Presentation</vt:lpstr>
      <vt:lpstr>PowerPoint Presentation</vt:lpstr>
      <vt:lpstr>SCOPE  OF  MANAGEMENT</vt:lpstr>
      <vt:lpstr>SCOPE  OF  MANAGEMENT</vt:lpstr>
      <vt:lpstr>PowerPoint Presentation</vt:lpstr>
      <vt:lpstr>PowerPoint Presentation</vt:lpstr>
      <vt:lpstr>The idea that management is both a science and an art suggests that it involves systematic principles and techniques (science) as well as creative and intuitive skills (art). Let's explore this duality with an example: </vt:lpstr>
      <vt:lpstr>PowerPoint Presentation</vt:lpstr>
      <vt:lpstr>PowerPoint Presentation</vt:lpstr>
      <vt:lpstr>PowerPoint Presentation</vt:lpstr>
      <vt:lpstr>PowerPoint Presentation</vt:lpstr>
      <vt:lpstr>PowerPoint Presentation</vt:lpstr>
      <vt:lpstr>THANK YOU……………..</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PERFORMANCE EVALUATION MODELS:</dc:title>
  <dc:creator>ARUNA B</dc:creator>
  <cp:lastModifiedBy>Shashwati Banerjee</cp:lastModifiedBy>
  <cp:revision>1532</cp:revision>
  <dcterms:created xsi:type="dcterms:W3CDTF">2006-08-16T00:00:00Z</dcterms:created>
  <dcterms:modified xsi:type="dcterms:W3CDTF">2026-09-11T09:20:36Z</dcterms:modified>
</cp:coreProperties>
</file>