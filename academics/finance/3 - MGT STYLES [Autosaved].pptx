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48"/>
  </p:notesMasterIdLst>
  <p:handoutMasterIdLst>
    <p:handoutMasterId r:id="rId49"/>
  </p:handoutMasterIdLst>
  <p:sldIdLst>
    <p:sldId id="508" r:id="rId2"/>
    <p:sldId id="509" r:id="rId3"/>
    <p:sldId id="510" r:id="rId4"/>
    <p:sldId id="517" r:id="rId5"/>
    <p:sldId id="518" r:id="rId6"/>
    <p:sldId id="519" r:id="rId7"/>
    <p:sldId id="521" r:id="rId8"/>
    <p:sldId id="520" r:id="rId9"/>
    <p:sldId id="522" r:id="rId10"/>
    <p:sldId id="523" r:id="rId11"/>
    <p:sldId id="524" r:id="rId12"/>
    <p:sldId id="525" r:id="rId13"/>
    <p:sldId id="514" r:id="rId14"/>
    <p:sldId id="516" r:id="rId15"/>
    <p:sldId id="526" r:id="rId16"/>
    <p:sldId id="527" r:id="rId17"/>
    <p:sldId id="474" r:id="rId18"/>
    <p:sldId id="475" r:id="rId19"/>
    <p:sldId id="476" r:id="rId20"/>
    <p:sldId id="528" r:id="rId21"/>
    <p:sldId id="477" r:id="rId22"/>
    <p:sldId id="529" r:id="rId23"/>
    <p:sldId id="478" r:id="rId24"/>
    <p:sldId id="530" r:id="rId25"/>
    <p:sldId id="500" r:id="rId26"/>
    <p:sldId id="501" r:id="rId27"/>
    <p:sldId id="502" r:id="rId28"/>
    <p:sldId id="503" r:id="rId29"/>
    <p:sldId id="504" r:id="rId30"/>
    <p:sldId id="505" r:id="rId31"/>
    <p:sldId id="506" r:id="rId32"/>
    <p:sldId id="482" r:id="rId33"/>
    <p:sldId id="483" r:id="rId34"/>
    <p:sldId id="531" r:id="rId35"/>
    <p:sldId id="485" r:id="rId36"/>
    <p:sldId id="484" r:id="rId37"/>
    <p:sldId id="490" r:id="rId38"/>
    <p:sldId id="532" r:id="rId39"/>
    <p:sldId id="494" r:id="rId40"/>
    <p:sldId id="533" r:id="rId41"/>
    <p:sldId id="495" r:id="rId42"/>
    <p:sldId id="496" r:id="rId43"/>
    <p:sldId id="534" r:id="rId44"/>
    <p:sldId id="497" r:id="rId45"/>
    <p:sldId id="498" r:id="rId46"/>
    <p:sldId id="290"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BF7088-4EE9-4584-89F7-167257C9BC3C}">
          <p14:sldIdLst>
            <p14:sldId id="508"/>
            <p14:sldId id="509"/>
            <p14:sldId id="510"/>
            <p14:sldId id="517"/>
            <p14:sldId id="518"/>
            <p14:sldId id="519"/>
            <p14:sldId id="521"/>
            <p14:sldId id="520"/>
            <p14:sldId id="522"/>
            <p14:sldId id="523"/>
            <p14:sldId id="524"/>
            <p14:sldId id="525"/>
            <p14:sldId id="514"/>
            <p14:sldId id="516"/>
            <p14:sldId id="526"/>
            <p14:sldId id="527"/>
            <p14:sldId id="474"/>
            <p14:sldId id="475"/>
            <p14:sldId id="476"/>
            <p14:sldId id="528"/>
            <p14:sldId id="477"/>
            <p14:sldId id="529"/>
            <p14:sldId id="478"/>
            <p14:sldId id="530"/>
            <p14:sldId id="500"/>
            <p14:sldId id="501"/>
            <p14:sldId id="502"/>
            <p14:sldId id="503"/>
            <p14:sldId id="504"/>
            <p14:sldId id="505"/>
            <p14:sldId id="506"/>
            <p14:sldId id="482"/>
            <p14:sldId id="483"/>
            <p14:sldId id="531"/>
            <p14:sldId id="485"/>
            <p14:sldId id="484"/>
            <p14:sldId id="490"/>
            <p14:sldId id="532"/>
            <p14:sldId id="494"/>
            <p14:sldId id="533"/>
            <p14:sldId id="495"/>
            <p14:sldId id="496"/>
            <p14:sldId id="534"/>
            <p14:sldId id="497"/>
            <p14:sldId id="498"/>
            <p14:sldId id="29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1C020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86477" autoAdjust="0"/>
  </p:normalViewPr>
  <p:slideViewPr>
    <p:cSldViewPr>
      <p:cViewPr varScale="1">
        <p:scale>
          <a:sx n="85" d="100"/>
          <a:sy n="85" d="100"/>
        </p:scale>
        <p:origin x="1315" y="62"/>
      </p:cViewPr>
      <p:guideLst>
        <p:guide orient="horz" pos="2160"/>
        <p:guide pos="2880"/>
      </p:guideLst>
    </p:cSldViewPr>
  </p:slideViewPr>
  <p:outlineViewPr>
    <p:cViewPr>
      <p:scale>
        <a:sx n="33" d="100"/>
        <a:sy n="33" d="100"/>
      </p:scale>
      <p:origin x="0" y="4536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shwati Banerjee" userId="cca0c9cfe6801504" providerId="LiveId" clId="{D3C8BBA8-9A06-4CE6-8AA5-F35FD11A51E4}"/>
    <pc:docChg chg="custSel addSld delSld modSld modSection">
      <pc:chgData name="Shashwati Banerjee" userId="cca0c9cfe6801504" providerId="LiveId" clId="{D3C8BBA8-9A06-4CE6-8AA5-F35FD11A51E4}" dt="2024-03-18T09:17:59.468" v="59" actId="14100"/>
      <pc:docMkLst>
        <pc:docMk/>
      </pc:docMkLst>
      <pc:sldChg chg="del">
        <pc:chgData name="Shashwati Banerjee" userId="cca0c9cfe6801504" providerId="LiveId" clId="{D3C8BBA8-9A06-4CE6-8AA5-F35FD11A51E4}" dt="2024-03-18T09:14:55.701" v="25" actId="47"/>
        <pc:sldMkLst>
          <pc:docMk/>
          <pc:sldMk cId="388466867" sldId="491"/>
        </pc:sldMkLst>
      </pc:sldChg>
      <pc:sldChg chg="modSp new mod">
        <pc:chgData name="Shashwati Banerjee" userId="cca0c9cfe6801504" providerId="LiveId" clId="{D3C8BBA8-9A06-4CE6-8AA5-F35FD11A51E4}" dt="2024-03-18T09:14:24.666" v="24" actId="27636"/>
        <pc:sldMkLst>
          <pc:docMk/>
          <pc:sldMk cId="1597459821" sldId="532"/>
        </pc:sldMkLst>
        <pc:spChg chg="mod">
          <ac:chgData name="Shashwati Banerjee" userId="cca0c9cfe6801504" providerId="LiveId" clId="{D3C8BBA8-9A06-4CE6-8AA5-F35FD11A51E4}" dt="2024-03-18T09:14:06.905" v="20" actId="1076"/>
          <ac:spMkLst>
            <pc:docMk/>
            <pc:sldMk cId="1597459821" sldId="532"/>
            <ac:spMk id="2" creationId="{DFB2D520-3DCE-3D6D-6580-92F644FA8A4F}"/>
          </ac:spMkLst>
        </pc:spChg>
        <pc:spChg chg="mod">
          <ac:chgData name="Shashwati Banerjee" userId="cca0c9cfe6801504" providerId="LiveId" clId="{D3C8BBA8-9A06-4CE6-8AA5-F35FD11A51E4}" dt="2024-03-18T09:14:24.666" v="24" actId="27636"/>
          <ac:spMkLst>
            <pc:docMk/>
            <pc:sldMk cId="1597459821" sldId="532"/>
            <ac:spMk id="4" creationId="{07BE9EB6-6475-2E20-D7E8-FD827C710942}"/>
          </ac:spMkLst>
        </pc:spChg>
      </pc:sldChg>
      <pc:sldChg chg="modSp new mod">
        <pc:chgData name="Shashwati Banerjee" userId="cca0c9cfe6801504" providerId="LiveId" clId="{D3C8BBA8-9A06-4CE6-8AA5-F35FD11A51E4}" dt="2024-03-18T09:16:09.608" v="41" actId="123"/>
        <pc:sldMkLst>
          <pc:docMk/>
          <pc:sldMk cId="1352112473" sldId="533"/>
        </pc:sldMkLst>
        <pc:spChg chg="mod">
          <ac:chgData name="Shashwati Banerjee" userId="cca0c9cfe6801504" providerId="LiveId" clId="{D3C8BBA8-9A06-4CE6-8AA5-F35FD11A51E4}" dt="2024-03-18T09:15:47.751" v="35" actId="20577"/>
          <ac:spMkLst>
            <pc:docMk/>
            <pc:sldMk cId="1352112473" sldId="533"/>
            <ac:spMk id="2" creationId="{E33AB52C-9A09-F405-6F93-198D32927E02}"/>
          </ac:spMkLst>
        </pc:spChg>
        <pc:spChg chg="mod">
          <ac:chgData name="Shashwati Banerjee" userId="cca0c9cfe6801504" providerId="LiveId" clId="{D3C8BBA8-9A06-4CE6-8AA5-F35FD11A51E4}" dt="2024-03-18T09:16:09.608" v="41" actId="123"/>
          <ac:spMkLst>
            <pc:docMk/>
            <pc:sldMk cId="1352112473" sldId="533"/>
            <ac:spMk id="4" creationId="{7C515B7E-0A2D-0E99-7B91-98964718E0CA}"/>
          </ac:spMkLst>
        </pc:spChg>
      </pc:sldChg>
      <pc:sldChg chg="modSp new mod">
        <pc:chgData name="Shashwati Banerjee" userId="cca0c9cfe6801504" providerId="LiveId" clId="{D3C8BBA8-9A06-4CE6-8AA5-F35FD11A51E4}" dt="2024-03-18T09:17:59.468" v="59" actId="14100"/>
        <pc:sldMkLst>
          <pc:docMk/>
          <pc:sldMk cId="946212640" sldId="534"/>
        </pc:sldMkLst>
        <pc:spChg chg="mod">
          <ac:chgData name="Shashwati Banerjee" userId="cca0c9cfe6801504" providerId="LiveId" clId="{D3C8BBA8-9A06-4CE6-8AA5-F35FD11A51E4}" dt="2024-03-18T09:17:41.620" v="54" actId="113"/>
          <ac:spMkLst>
            <pc:docMk/>
            <pc:sldMk cId="946212640" sldId="534"/>
            <ac:spMk id="2" creationId="{5FAC2406-1051-06C1-B340-C3456D32C18A}"/>
          </ac:spMkLst>
        </pc:spChg>
        <pc:spChg chg="mod">
          <ac:chgData name="Shashwati Banerjee" userId="cca0c9cfe6801504" providerId="LiveId" clId="{D3C8BBA8-9A06-4CE6-8AA5-F35FD11A51E4}" dt="2024-03-18T09:17:59.468" v="59" actId="14100"/>
          <ac:spMkLst>
            <pc:docMk/>
            <pc:sldMk cId="946212640" sldId="534"/>
            <ac:spMk id="4" creationId="{AA4534CB-836F-3C06-3F32-F9DEC65A826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5C63B73-1AB8-4523-AFC8-9E33F6D96359}" type="datetimeFigureOut">
              <a:rPr lang="en-US" smtClean="0"/>
              <a:t>9/14/2026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38524D9-AA07-4126-9D12-1B97E8281F4A}" type="slidenum">
              <a:rPr lang="en-US" smtClean="0"/>
              <a:t>‹#›</a:t>
            </a:fld>
            <a:endParaRPr lang="en-US"/>
          </a:p>
        </p:txBody>
      </p:sp>
    </p:spTree>
    <p:extLst>
      <p:ext uri="{BB962C8B-B14F-4D97-AF65-F5344CB8AC3E}">
        <p14:creationId xmlns:p14="http://schemas.microsoft.com/office/powerpoint/2010/main" val="16218437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C8BA065-9DAB-4FFB-9134-A463EBB77E67}" type="datetimeFigureOut">
              <a:rPr lang="en-GB" smtClean="0"/>
              <a:pPr/>
              <a:t>14/09/2026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033EBFA-295C-4890-A491-AC49F8B29C07}" type="slidenum">
              <a:rPr lang="en-GB" smtClean="0"/>
              <a:pPr/>
              <a:t>‹#›</a:t>
            </a:fld>
            <a:endParaRPr lang="en-GB"/>
          </a:p>
        </p:txBody>
      </p:sp>
    </p:spTree>
    <p:extLst>
      <p:ext uri="{BB962C8B-B14F-4D97-AF65-F5344CB8AC3E}">
        <p14:creationId xmlns:p14="http://schemas.microsoft.com/office/powerpoint/2010/main" val="75274468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033EBFA-295C-4890-A491-AC49F8B29C07}" type="slidenum">
              <a:rPr lang="en-GB" smtClean="0"/>
              <a:pPr/>
              <a:t>1</a:t>
            </a:fld>
            <a:endParaRPr lang="en-GB"/>
          </a:p>
        </p:txBody>
      </p:sp>
    </p:spTree>
    <p:extLst>
      <p:ext uri="{BB962C8B-B14F-4D97-AF65-F5344CB8AC3E}">
        <p14:creationId xmlns:p14="http://schemas.microsoft.com/office/powerpoint/2010/main" val="3301545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a:t>
            </a:fld>
            <a:endParaRPr lang="en-US"/>
          </a:p>
        </p:txBody>
      </p:sp>
    </p:spTree>
    <p:extLst>
      <p:ext uri="{BB962C8B-B14F-4D97-AF65-F5344CB8AC3E}">
        <p14:creationId xmlns:p14="http://schemas.microsoft.com/office/powerpoint/2010/main" val="1139068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13</a:t>
            </a:fld>
            <a:endParaRPr lang="en-US"/>
          </a:p>
        </p:txBody>
      </p:sp>
    </p:spTree>
    <p:extLst>
      <p:ext uri="{BB962C8B-B14F-4D97-AF65-F5344CB8AC3E}">
        <p14:creationId xmlns:p14="http://schemas.microsoft.com/office/powerpoint/2010/main" val="2236286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14</a:t>
            </a:fld>
            <a:endParaRPr lang="en-US"/>
          </a:p>
        </p:txBody>
      </p:sp>
    </p:spTree>
    <p:extLst>
      <p:ext uri="{BB962C8B-B14F-4D97-AF65-F5344CB8AC3E}">
        <p14:creationId xmlns:p14="http://schemas.microsoft.com/office/powerpoint/2010/main" val="2075887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A4947678-1DD8-4337-86A4-F04EEEDC263D}" type="datetime1">
              <a:rPr lang="en-US" smtClean="0"/>
              <a:t>9/14/2026</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9AC237B3-37CC-41C7-9D51-E25BA875E740}" type="datetime1">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E2395086-EB87-4FBB-BC28-48DEEFED4F07}" type="datetime1">
              <a:rPr lang="en-US" smtClean="0"/>
              <a:t>9/14/2026</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F5AE947A-AA89-4EFD-8700-BBF3854CF34A}" type="datetime1">
              <a:rPr lang="en-US" smtClean="0"/>
              <a:t>9/14/2026</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0836E1BC-D7E9-47C2-AEE6-350076E9C3C0}" type="datetime1">
              <a:rPr lang="en-US" smtClean="0"/>
              <a:t>9/14/2026</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6A644C53-921F-49D8-A02B-CC2001134FD5}" type="datetime1">
              <a:rPr lang="en-US" smtClean="0"/>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2B6821-9767-4C8F-9BB1-7E376D90F130}" type="datetime1">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4C191394-6A7D-40B1-83C6-92FE23F311EB}" type="datetime1">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3FB968AB-6B28-419B-8E00-F8EC30D5BC5C}" type="datetime1">
              <a:rPr lang="en-US" smtClean="0"/>
              <a:t>9/14/2026</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7A96B62-8FB6-4A6A-ABCA-BC991C6F574E}" type="datetime1">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28ED4F3B-9AFB-42B6-9C84-8A96FDE905C1}" type="datetime1">
              <a:rPr lang="en-US" smtClean="0"/>
              <a:t>9/14/2026</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BB6FAE3C-A6DA-4AE7-817D-C514E362CF02}" type="datetime1">
              <a:rPr lang="en-US" smtClean="0"/>
              <a:t>9/14/2026</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533400"/>
            <a:ext cx="8839200" cy="523220"/>
          </a:xfrm>
          <a:prstGeom prst="rect">
            <a:avLst/>
          </a:prstGeom>
          <a:noFill/>
        </p:spPr>
        <p:txBody>
          <a:bodyPr wrap="square" rtlCol="0">
            <a:spAutoFit/>
          </a:bodyPr>
          <a:lstStyle/>
          <a:p>
            <a:pPr algn="ctr"/>
            <a:r>
              <a:rPr lang="en-US" sz="2800" b="1" dirty="0"/>
              <a:t>PRINCIPLES OF MANAGEMENT</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6600" y="2513579"/>
            <a:ext cx="3263053" cy="3277621"/>
          </a:xfrm>
          <a:prstGeom prst="rect">
            <a:avLst/>
          </a:prstGeom>
          <a:ln>
            <a:noFill/>
          </a:ln>
        </p:spPr>
      </p:pic>
      <p:sp>
        <p:nvSpPr>
          <p:cNvPr id="10" name="Slide Number Placeholder 9"/>
          <p:cNvSpPr>
            <a:spLocks noGrp="1"/>
          </p:cNvSpPr>
          <p:nvPr>
            <p:ph type="sldNum" sz="quarter" idx="12"/>
          </p:nvPr>
        </p:nvSpPr>
        <p:spPr/>
        <p:txBody>
          <a:bodyPr>
            <a:normAutofit fontScale="85000" lnSpcReduction="20000"/>
          </a:bodyPr>
          <a:lstStyle/>
          <a:p>
            <a:fld id="{B6F15528-21DE-4FAA-801E-634DDDAF4B2B}" type="slidenum">
              <a:rPr lang="en-US" smtClean="0"/>
              <a:pPr/>
              <a:t>1</a:t>
            </a:fld>
            <a:endParaRPr lang="en-US"/>
          </a:p>
        </p:txBody>
      </p:sp>
    </p:spTree>
    <p:extLst>
      <p:ext uri="{BB962C8B-B14F-4D97-AF65-F5344CB8AC3E}">
        <p14:creationId xmlns:p14="http://schemas.microsoft.com/office/powerpoint/2010/main" val="3188025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content</a:t>
            </a: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a:t>
            </a:fld>
            <a:endParaRPr lang="en-US"/>
          </a:p>
        </p:txBody>
      </p:sp>
      <p:sp>
        <p:nvSpPr>
          <p:cNvPr id="4" name="Content Placeholder 3"/>
          <p:cNvSpPr>
            <a:spLocks noGrp="1"/>
          </p:cNvSpPr>
          <p:nvPr>
            <p:ph sz="quarter" idx="1"/>
          </p:nvPr>
        </p:nvSpPr>
        <p:spPr>
          <a:xfrm>
            <a:off x="612648" y="1600200"/>
            <a:ext cx="8153400" cy="5029200"/>
          </a:xfrm>
        </p:spPr>
        <p:txBody>
          <a:bodyPr>
            <a:normAutofit/>
          </a:bodyPr>
          <a:lstStyle/>
          <a:p>
            <a:pPr marL="0" indent="0" algn="just">
              <a:buClrTx/>
              <a:buSzPct val="100000"/>
              <a:buNone/>
            </a:pPr>
            <a:endParaRPr lang="en-US" b="1" dirty="0">
              <a:solidFill>
                <a:srgbClr val="FF0000"/>
              </a:solidFill>
              <a:latin typeface="Times New Roman" pitchFamily="18" charset="0"/>
              <a:cs typeface="Times New Roman" pitchFamily="18" charset="0"/>
            </a:endParaRPr>
          </a:p>
          <a:p>
            <a:pPr marL="0" indent="0">
              <a:buNone/>
            </a:pPr>
            <a:endParaRPr lang="en-US" dirty="0"/>
          </a:p>
        </p:txBody>
      </p:sp>
      <p:graphicFrame>
        <p:nvGraphicFramePr>
          <p:cNvPr id="5" name="Table 4"/>
          <p:cNvGraphicFramePr>
            <a:graphicFrameLocks noGrp="1"/>
          </p:cNvGraphicFramePr>
          <p:nvPr/>
        </p:nvGraphicFramePr>
        <p:xfrm>
          <a:off x="1031748" y="2232649"/>
          <a:ext cx="7315200" cy="4138454"/>
        </p:xfrm>
        <a:graphic>
          <a:graphicData uri="http://schemas.openxmlformats.org/drawingml/2006/table">
            <a:tbl>
              <a:tblPr>
                <a:tableStyleId>{5C22544A-7EE6-4342-B048-85BDC9FD1C3A}</a:tableStyleId>
              </a:tblPr>
              <a:tblGrid>
                <a:gridCol w="422670">
                  <a:extLst>
                    <a:ext uri="{9D8B030D-6E8A-4147-A177-3AD203B41FA5}">
                      <a16:colId xmlns:a16="http://schemas.microsoft.com/office/drawing/2014/main" val="20000"/>
                    </a:ext>
                  </a:extLst>
                </a:gridCol>
                <a:gridCol w="5945875">
                  <a:extLst>
                    <a:ext uri="{9D8B030D-6E8A-4147-A177-3AD203B41FA5}">
                      <a16:colId xmlns:a16="http://schemas.microsoft.com/office/drawing/2014/main" val="20001"/>
                    </a:ext>
                  </a:extLst>
                </a:gridCol>
                <a:gridCol w="946655">
                  <a:extLst>
                    <a:ext uri="{9D8B030D-6E8A-4147-A177-3AD203B41FA5}">
                      <a16:colId xmlns:a16="http://schemas.microsoft.com/office/drawing/2014/main" val="20002"/>
                    </a:ext>
                  </a:extLst>
                </a:gridCol>
              </a:tblGrid>
              <a:tr h="281875">
                <a:tc>
                  <a:txBody>
                    <a:bodyPr/>
                    <a:lstStyle/>
                    <a:p>
                      <a:pPr>
                        <a:spcAft>
                          <a:spcPts val="0"/>
                        </a:spcAft>
                      </a:pPr>
                      <a:r>
                        <a:rPr lang="en-IN" sz="2000" dirty="0">
                          <a:effectLst/>
                          <a:latin typeface="Times New Roman" panose="02020603050405020304" pitchFamily="18" charset="0"/>
                          <a:cs typeface="Times New Roman" panose="02020603050405020304" pitchFamily="18" charset="0"/>
                        </a:rPr>
                        <a:t>1</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2000" dirty="0">
                          <a:effectLst/>
                          <a:latin typeface="Times New Roman" panose="02020603050405020304" pitchFamily="18" charset="0"/>
                          <a:cs typeface="Times New Roman" panose="02020603050405020304" pitchFamily="18" charset="0"/>
                        </a:rPr>
                        <a:t>Introduction to Management </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2000">
                          <a:effectLst/>
                          <a:latin typeface="Times New Roman" panose="02020603050405020304" pitchFamily="18" charset="0"/>
                          <a:cs typeface="Times New Roman" panose="02020603050405020304" pitchFamily="18" charset="0"/>
                        </a:rPr>
                        <a:t>01</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81875">
                <a:tc>
                  <a:txBody>
                    <a:bodyPr/>
                    <a:lstStyle/>
                    <a:p>
                      <a:pPr>
                        <a:spcAft>
                          <a:spcPts val="0"/>
                        </a:spcAft>
                      </a:pPr>
                      <a:r>
                        <a:rPr lang="en-IN" sz="20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2000" dirty="0">
                          <a:effectLst/>
                          <a:latin typeface="Times New Roman" panose="02020603050405020304" pitchFamily="18" charset="0"/>
                          <a:cs typeface="Times New Roman" panose="02020603050405020304" pitchFamily="18" charset="0"/>
                        </a:rPr>
                        <a:t>Need for Management</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2000">
                          <a:effectLst/>
                          <a:latin typeface="Times New Roman" panose="02020603050405020304" pitchFamily="18" charset="0"/>
                          <a:cs typeface="Times New Roman" panose="02020603050405020304" pitchFamily="18" charset="0"/>
                        </a:rPr>
                        <a:t>02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81875">
                <a:tc>
                  <a:txBody>
                    <a:bodyPr/>
                    <a:lstStyle/>
                    <a:p>
                      <a:pPr>
                        <a:spcAft>
                          <a:spcPts val="0"/>
                        </a:spcAft>
                      </a:pPr>
                      <a:r>
                        <a:rPr lang="en-IN" sz="20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2000" dirty="0">
                          <a:effectLst/>
                          <a:latin typeface="Times New Roman" panose="02020603050405020304" pitchFamily="18" charset="0"/>
                          <a:cs typeface="Times New Roman" panose="02020603050405020304" pitchFamily="18" charset="0"/>
                        </a:rPr>
                        <a:t>Various types of Management styles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2000">
                          <a:effectLst/>
                          <a:latin typeface="Times New Roman" panose="02020603050405020304" pitchFamily="18" charset="0"/>
                          <a:cs typeface="Times New Roman" panose="02020603050405020304" pitchFamily="18" charset="0"/>
                        </a:rPr>
                        <a:t>03</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845624">
                <a:tc>
                  <a:txBody>
                    <a:bodyPr/>
                    <a:lstStyle/>
                    <a:p>
                      <a:pPr>
                        <a:spcAft>
                          <a:spcPts val="0"/>
                        </a:spcAft>
                      </a:pPr>
                      <a:r>
                        <a:rPr lang="en-IN" sz="20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2000" dirty="0">
                          <a:effectLst/>
                          <a:latin typeface="Times New Roman" panose="02020603050405020304" pitchFamily="18" charset="0"/>
                          <a:cs typeface="Times New Roman" panose="02020603050405020304" pitchFamily="18" charset="0"/>
                        </a:rPr>
                        <a:t>Vision, Mission, Corporate Objectives, various types of Corporate Strategies including Generic Product-Market Grid strategies for CM &amp; IM or B2C &amp; B2B.</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2000">
                          <a:effectLst/>
                          <a:latin typeface="Times New Roman" panose="02020603050405020304" pitchFamily="18" charset="0"/>
                          <a:cs typeface="Times New Roman" panose="02020603050405020304" pitchFamily="18" charset="0"/>
                        </a:rPr>
                        <a:t>02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81875">
                <a:tc>
                  <a:txBody>
                    <a:bodyPr/>
                    <a:lstStyle/>
                    <a:p>
                      <a:pPr>
                        <a:spcAft>
                          <a:spcPts val="0"/>
                        </a:spcAft>
                      </a:pPr>
                      <a:r>
                        <a:rPr lang="en-IN" sz="20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2000" dirty="0">
                          <a:effectLst/>
                          <a:latin typeface="Times New Roman" panose="02020603050405020304" pitchFamily="18" charset="0"/>
                          <a:cs typeface="Times New Roman" panose="02020603050405020304" pitchFamily="18" charset="0"/>
                        </a:rPr>
                        <a:t>Business level strategies and its importance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2000">
                          <a:effectLst/>
                          <a:latin typeface="Times New Roman" panose="02020603050405020304" pitchFamily="18" charset="0"/>
                          <a:cs typeface="Times New Roman" panose="02020603050405020304" pitchFamily="18" charset="0"/>
                        </a:rPr>
                        <a:t>02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563749">
                <a:tc>
                  <a:txBody>
                    <a:bodyPr/>
                    <a:lstStyle/>
                    <a:p>
                      <a:pPr>
                        <a:spcAft>
                          <a:spcPts val="0"/>
                        </a:spcAft>
                      </a:pPr>
                      <a:r>
                        <a:rPr lang="en-IN" sz="2000">
                          <a:effectLst/>
                          <a:latin typeface="Times New Roman" panose="02020603050405020304" pitchFamily="18" charset="0"/>
                          <a:cs typeface="Times New Roman" panose="02020603050405020304" pitchFamily="18" charset="0"/>
                        </a:rPr>
                        <a:t>6</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2000" dirty="0">
                          <a:effectLst/>
                          <a:latin typeface="Times New Roman" panose="02020603050405020304" pitchFamily="18" charset="0"/>
                          <a:cs typeface="Times New Roman" panose="02020603050405020304" pitchFamily="18" charset="0"/>
                        </a:rPr>
                        <a:t>Functional level strategies and its importance in creating value for the customer.</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20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281875">
                <a:tc>
                  <a:txBody>
                    <a:bodyPr/>
                    <a:lstStyle/>
                    <a:p>
                      <a:pPr>
                        <a:spcAft>
                          <a:spcPts val="0"/>
                        </a:spcAft>
                      </a:pPr>
                      <a:r>
                        <a:rPr lang="en-IN" sz="2000">
                          <a:effectLst/>
                          <a:latin typeface="Times New Roman" panose="02020603050405020304" pitchFamily="18" charset="0"/>
                          <a:cs typeface="Times New Roman" panose="02020603050405020304" pitchFamily="18" charset="0"/>
                        </a:rPr>
                        <a:t>7</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2000" dirty="0">
                          <a:effectLst/>
                          <a:latin typeface="Times New Roman" panose="02020603050405020304" pitchFamily="18" charset="0"/>
                          <a:cs typeface="Times New Roman" panose="02020603050405020304" pitchFamily="18" charset="0"/>
                        </a:rPr>
                        <a:t>Communication Process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2000">
                          <a:effectLst/>
                          <a:latin typeface="Times New Roman" panose="02020603050405020304" pitchFamily="18" charset="0"/>
                          <a:cs typeface="Times New Roman" panose="02020603050405020304" pitchFamily="18" charset="0"/>
                        </a:rPr>
                        <a:t>02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563749">
                <a:tc>
                  <a:txBody>
                    <a:bodyPr/>
                    <a:lstStyle/>
                    <a:p>
                      <a:pPr>
                        <a:spcAft>
                          <a:spcPts val="0"/>
                        </a:spcAft>
                      </a:pPr>
                      <a:r>
                        <a:rPr lang="en-IN" sz="2000">
                          <a:effectLst/>
                          <a:latin typeface="Times New Roman" panose="02020603050405020304" pitchFamily="18" charset="0"/>
                          <a:cs typeface="Times New Roman" panose="02020603050405020304" pitchFamily="18" charset="0"/>
                        </a:rPr>
                        <a:t>8</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2000" dirty="0">
                          <a:effectLst/>
                          <a:latin typeface="Times New Roman" panose="02020603050405020304" pitchFamily="18" charset="0"/>
                          <a:cs typeface="Times New Roman" panose="02020603050405020304" pitchFamily="18" charset="0"/>
                        </a:rPr>
                        <a:t>Development of cases by students; Corporate Planning and implementation requirements. </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2000">
                          <a:effectLst/>
                          <a:latin typeface="Times New Roman" panose="02020603050405020304" pitchFamily="18" charset="0"/>
                          <a:cs typeface="Times New Roman" panose="02020603050405020304" pitchFamily="18" charset="0"/>
                        </a:rPr>
                        <a:t>02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480854">
                <a:tc>
                  <a:txBody>
                    <a:bodyPr/>
                    <a:lstStyle/>
                    <a:p>
                      <a:pPr>
                        <a:spcAft>
                          <a:spcPts val="0"/>
                        </a:spcAft>
                      </a:pPr>
                      <a:r>
                        <a:rPr lang="en-IN" sz="20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3657600">
                        <a:spcAft>
                          <a:spcPts val="0"/>
                        </a:spcAft>
                      </a:pPr>
                      <a:r>
                        <a:rPr lang="en-IN" sz="2000" dirty="0">
                          <a:effectLst/>
                          <a:latin typeface="Times New Roman" panose="02020603050405020304" pitchFamily="18" charset="0"/>
                          <a:cs typeface="Times New Roman" panose="02020603050405020304" pitchFamily="18" charset="0"/>
                        </a:rPr>
                        <a:t>Total : </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2000" dirty="0">
                          <a:effectLst/>
                          <a:latin typeface="Times New Roman" panose="02020603050405020304" pitchFamily="18" charset="0"/>
                          <a:cs typeface="Times New Roman" panose="02020603050405020304" pitchFamily="18" charset="0"/>
                        </a:rPr>
                        <a:t>14 hrs.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bl>
          </a:graphicData>
        </a:graphic>
      </p:graphicFrame>
      <p:sp>
        <p:nvSpPr>
          <p:cNvPr id="6" name="Rectangle 1"/>
          <p:cNvSpPr>
            <a:spLocks noChangeArrowheads="1"/>
          </p:cNvSpPr>
          <p:nvPr/>
        </p:nvSpPr>
        <p:spPr bwMode="auto">
          <a:xfrm>
            <a:off x="1371600" y="1584068"/>
            <a:ext cx="67056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sng" strike="noStrike" cap="none" normalizeH="0" baseline="0" dirty="0">
                <a:ln>
                  <a:noFill/>
                </a:ln>
                <a:solidFill>
                  <a:schemeClr val="tx1"/>
                </a:solidFill>
                <a:effectLst/>
                <a:latin typeface="Arial" panose="020B0604020202020204" pitchFamily="34" charset="0"/>
                <a:ea typeface="Times New Roman" panose="02020603050405020304" pitchFamily="18" charset="0"/>
              </a:rPr>
              <a:t>MANAGEMENT ( 3</a:t>
            </a:r>
            <a:r>
              <a:rPr kumimoji="0" lang="en-US" sz="2400" b="1" i="0" u="sng" strike="noStrike" cap="none" normalizeH="0" baseline="30000" dirty="0">
                <a:ln>
                  <a:noFill/>
                </a:ln>
                <a:solidFill>
                  <a:schemeClr val="tx1"/>
                </a:solidFill>
                <a:effectLst/>
                <a:latin typeface="Arial" panose="020B0604020202020204" pitchFamily="34" charset="0"/>
                <a:ea typeface="Times New Roman" panose="02020603050405020304" pitchFamily="18" charset="0"/>
              </a:rPr>
              <a:t>rd</a:t>
            </a:r>
            <a:r>
              <a:rPr kumimoji="0" lang="en-US" sz="2400" b="1" i="0" u="sng" strike="noStrike" cap="none" normalizeH="0" baseline="0" dirty="0">
                <a:ln>
                  <a:noFill/>
                </a:ln>
                <a:solidFill>
                  <a:schemeClr val="tx1"/>
                </a:solidFill>
                <a:effectLst/>
                <a:latin typeface="Arial" panose="020B0604020202020204" pitchFamily="34" charset="0"/>
                <a:ea typeface="Times New Roman" panose="02020603050405020304" pitchFamily="18" charset="0"/>
              </a:rPr>
              <a:t>  Module ) [ 1 credit ]</a:t>
            </a:r>
            <a:endParaRPr kumimoji="0" 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74475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38100"/>
            <a:ext cx="9144000" cy="6858000"/>
          </a:xfrm>
          <a:prstGeom prst="rect">
            <a:avLst/>
          </a:prstGeom>
        </p:spPr>
      </p:pic>
    </p:spTree>
    <p:extLst>
      <p:ext uri="{BB962C8B-B14F-4D97-AF65-F5344CB8AC3E}">
        <p14:creationId xmlns:p14="http://schemas.microsoft.com/office/powerpoint/2010/main" val="3672994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9823FB-FDAE-9BB3-4643-DEF9FBA14E89}"/>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4</a:t>
            </a:fld>
            <a:endParaRPr lang="en-US"/>
          </a:p>
        </p:txBody>
      </p:sp>
      <p:sp>
        <p:nvSpPr>
          <p:cNvPr id="4" name="Content Placeholder 3">
            <a:extLst>
              <a:ext uri="{FF2B5EF4-FFF2-40B4-BE49-F238E27FC236}">
                <a16:creationId xmlns:a16="http://schemas.microsoft.com/office/drawing/2014/main" id="{1F1916E7-0E95-441D-FF15-D321012F5222}"/>
              </a:ext>
            </a:extLst>
          </p:cNvPr>
          <p:cNvSpPr>
            <a:spLocks noGrp="1"/>
          </p:cNvSpPr>
          <p:nvPr>
            <p:ph sz="quarter" idx="1"/>
          </p:nvPr>
        </p:nvSpPr>
        <p:spPr/>
        <p:txBody>
          <a:bodyPr/>
          <a:lstStyle/>
          <a:p>
            <a:pPr algn="just"/>
            <a:r>
              <a:rPr lang="en-US" b="1" i="0" dirty="0">
                <a:solidFill>
                  <a:srgbClr val="0D0D0D"/>
                </a:solidFill>
                <a:effectLst/>
                <a:latin typeface="Söhne"/>
              </a:rPr>
              <a:t>Autocratic management</a:t>
            </a:r>
            <a:r>
              <a:rPr lang="en-US" b="0" i="0" dirty="0">
                <a:solidFill>
                  <a:srgbClr val="0D0D0D"/>
                </a:solidFill>
                <a:effectLst/>
                <a:latin typeface="Söhne"/>
              </a:rPr>
              <a:t>, also known as authoritarian or directive management, is a leadership style where a single individual, typically the manager or leader, holds significant decision-making power and exercises control over the team or organization. In an autocratic management style, the leader makes decisions without seeking much input or feedback from subordinates.</a:t>
            </a:r>
            <a:endParaRPr lang="en-IN" dirty="0"/>
          </a:p>
        </p:txBody>
      </p:sp>
    </p:spTree>
    <p:extLst>
      <p:ext uri="{BB962C8B-B14F-4D97-AF65-F5344CB8AC3E}">
        <p14:creationId xmlns:p14="http://schemas.microsoft.com/office/powerpoint/2010/main" val="4202972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F1D3A-898F-3120-1819-69FE2B3F88D0}"/>
              </a:ext>
            </a:extLst>
          </p:cNvPr>
          <p:cNvSpPr>
            <a:spLocks noGrp="1"/>
          </p:cNvSpPr>
          <p:nvPr>
            <p:ph type="title"/>
          </p:nvPr>
        </p:nvSpPr>
        <p:spPr>
          <a:xfrm>
            <a:off x="612648" y="228600"/>
            <a:ext cx="8153400" cy="914400"/>
          </a:xfrm>
        </p:spPr>
        <p:txBody>
          <a:bodyPr>
            <a:normAutofit fontScale="90000"/>
          </a:bodyPr>
          <a:lstStyle/>
          <a:p>
            <a:r>
              <a:rPr lang="en-US" sz="3100" b="1" i="0" dirty="0">
                <a:solidFill>
                  <a:srgbClr val="0D0D0D"/>
                </a:solidFill>
                <a:effectLst/>
                <a:latin typeface="Söhne"/>
              </a:rPr>
              <a:t>Key characteristics of autocratic management include:</a:t>
            </a:r>
            <a:br>
              <a:rPr lang="en-US" b="0" i="0" dirty="0">
                <a:solidFill>
                  <a:srgbClr val="0D0D0D"/>
                </a:solidFill>
                <a:effectLst/>
                <a:latin typeface="Söhne"/>
              </a:rPr>
            </a:br>
            <a:endParaRPr lang="en-IN" dirty="0"/>
          </a:p>
        </p:txBody>
      </p:sp>
      <p:sp>
        <p:nvSpPr>
          <p:cNvPr id="3" name="Slide Number Placeholder 2">
            <a:extLst>
              <a:ext uri="{FF2B5EF4-FFF2-40B4-BE49-F238E27FC236}">
                <a16:creationId xmlns:a16="http://schemas.microsoft.com/office/drawing/2014/main" id="{B4AE6A6C-7E34-0836-AC34-1B4F025D95B3}"/>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5</a:t>
            </a:fld>
            <a:endParaRPr lang="en-US"/>
          </a:p>
        </p:txBody>
      </p:sp>
      <p:sp>
        <p:nvSpPr>
          <p:cNvPr id="4" name="Content Placeholder 3">
            <a:extLst>
              <a:ext uri="{FF2B5EF4-FFF2-40B4-BE49-F238E27FC236}">
                <a16:creationId xmlns:a16="http://schemas.microsoft.com/office/drawing/2014/main" id="{929DBE37-2A43-F488-2F53-A8807E4D21A3}"/>
              </a:ext>
            </a:extLst>
          </p:cNvPr>
          <p:cNvSpPr>
            <a:spLocks noGrp="1"/>
          </p:cNvSpPr>
          <p:nvPr>
            <p:ph sz="quarter" idx="1"/>
          </p:nvPr>
        </p:nvSpPr>
        <p:spPr>
          <a:xfrm>
            <a:off x="612648" y="1600200"/>
            <a:ext cx="8153400" cy="4876800"/>
          </a:xfrm>
        </p:spPr>
        <p:txBody>
          <a:bodyPr>
            <a:normAutofit fontScale="55000" lnSpcReduction="20000"/>
          </a:bodyPr>
          <a:lstStyle/>
          <a:p>
            <a:pPr algn="l">
              <a:buFont typeface="+mj-lt"/>
              <a:buAutoNum type="arabicPeriod"/>
            </a:pPr>
            <a:r>
              <a:rPr lang="en-US" b="1" i="0" dirty="0">
                <a:solidFill>
                  <a:srgbClr val="0D0D0D"/>
                </a:solidFill>
                <a:effectLst/>
                <a:latin typeface="Söhne"/>
              </a:rPr>
              <a:t>Centralized Decision-Making:</a:t>
            </a:r>
            <a:r>
              <a:rPr lang="en-US" b="0" i="0" dirty="0">
                <a:solidFill>
                  <a:srgbClr val="0D0D0D"/>
                </a:solidFill>
                <a:effectLst/>
                <a:latin typeface="Söhne"/>
              </a:rPr>
              <a:t> The leader makes decisions independently and does not delegate decision-making authority to others in the team.</a:t>
            </a:r>
          </a:p>
          <a:p>
            <a:pPr algn="l">
              <a:buFont typeface="+mj-lt"/>
              <a:buAutoNum type="arabicPeriod"/>
            </a:pPr>
            <a:r>
              <a:rPr lang="en-US" b="1" i="0" dirty="0">
                <a:solidFill>
                  <a:srgbClr val="0D0D0D"/>
                </a:solidFill>
                <a:effectLst/>
                <a:latin typeface="Söhne"/>
              </a:rPr>
              <a:t>Limited Input from Team Members:</a:t>
            </a:r>
            <a:r>
              <a:rPr lang="en-US" b="0" i="0" dirty="0">
                <a:solidFill>
                  <a:srgbClr val="0D0D0D"/>
                </a:solidFill>
                <a:effectLst/>
                <a:latin typeface="Söhne"/>
              </a:rPr>
              <a:t> Team members have little to no involvement in the decision-making process. The leader may provide instructions or guidelines without soliciting input or suggestions from others.</a:t>
            </a:r>
          </a:p>
          <a:p>
            <a:pPr algn="l">
              <a:buFont typeface="+mj-lt"/>
              <a:buAutoNum type="arabicPeriod"/>
            </a:pPr>
            <a:r>
              <a:rPr lang="en-US" b="1" i="0" dirty="0">
                <a:solidFill>
                  <a:srgbClr val="0D0D0D"/>
                </a:solidFill>
                <a:effectLst/>
                <a:latin typeface="Söhne"/>
              </a:rPr>
              <a:t>Clear Hierarchy:</a:t>
            </a:r>
            <a:r>
              <a:rPr lang="en-US" b="0" i="0" dirty="0">
                <a:solidFill>
                  <a:srgbClr val="0D0D0D"/>
                </a:solidFill>
                <a:effectLst/>
                <a:latin typeface="Söhne"/>
              </a:rPr>
              <a:t> There is a clear hierarchy, and the leader is often seen as the sole authority figure. Subordinates are expected to follow instructions without questioning or challenging the decisions made by the leader.</a:t>
            </a:r>
          </a:p>
          <a:p>
            <a:pPr algn="l">
              <a:buFont typeface="+mj-lt"/>
              <a:buAutoNum type="arabicPeriod"/>
            </a:pPr>
            <a:r>
              <a:rPr lang="en-US" b="1" i="0" dirty="0">
                <a:solidFill>
                  <a:srgbClr val="0D0D0D"/>
                </a:solidFill>
                <a:effectLst/>
                <a:latin typeface="Söhne"/>
              </a:rPr>
              <a:t>Swift Decision-Making:</a:t>
            </a:r>
            <a:r>
              <a:rPr lang="en-US" b="0" i="0" dirty="0">
                <a:solidFill>
                  <a:srgbClr val="0D0D0D"/>
                </a:solidFill>
                <a:effectLst/>
                <a:latin typeface="Söhne"/>
              </a:rPr>
              <a:t> Autocratic leaders can make decisions quickly, which can be advantageous in situations that require immediate action or a decisive response.</a:t>
            </a:r>
          </a:p>
          <a:p>
            <a:pPr algn="l">
              <a:buFont typeface="+mj-lt"/>
              <a:buAutoNum type="arabicPeriod"/>
            </a:pPr>
            <a:r>
              <a:rPr lang="en-US" b="1" i="0" dirty="0">
                <a:solidFill>
                  <a:srgbClr val="0D0D0D"/>
                </a:solidFill>
                <a:effectLst/>
                <a:latin typeface="Söhne"/>
              </a:rPr>
              <a:t>Strict Control:</a:t>
            </a:r>
            <a:r>
              <a:rPr lang="en-US" b="0" i="0" dirty="0">
                <a:solidFill>
                  <a:srgbClr val="0D0D0D"/>
                </a:solidFill>
                <a:effectLst/>
                <a:latin typeface="Söhne"/>
              </a:rPr>
              <a:t> The leader exercises a high level of control over the work processes, methods, and outcomes. This control is intended to ensure that tasks are completed according to the leader's specifications.</a:t>
            </a:r>
          </a:p>
          <a:p>
            <a:pPr algn="l"/>
            <a:r>
              <a:rPr lang="en-US" b="0" i="0" dirty="0">
                <a:solidFill>
                  <a:srgbClr val="0D0D0D"/>
                </a:solidFill>
                <a:effectLst/>
                <a:latin typeface="Söhne"/>
              </a:rPr>
              <a:t>Autocratic management can be effective in certain situations, such as emergency scenarios or environments where quick decisions are crucial. However, it may also lead to reduced morale, lack of employee engagement, and limited innovation if team members feel disempowered or undervalued. In modern management practices, many organizations strive to incorporate more participative and collaborative approaches, recognizing the benefits of involving employees in decision-making processes.</a:t>
            </a:r>
          </a:p>
          <a:p>
            <a:endParaRPr lang="en-IN" dirty="0"/>
          </a:p>
        </p:txBody>
      </p:sp>
    </p:spTree>
    <p:extLst>
      <p:ext uri="{BB962C8B-B14F-4D97-AF65-F5344CB8AC3E}">
        <p14:creationId xmlns:p14="http://schemas.microsoft.com/office/powerpoint/2010/main" val="2187175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FBF03BB-4F0D-D110-6FC4-1CEA5AE15D1B}"/>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6</a:t>
            </a:fld>
            <a:endParaRPr lang="en-US"/>
          </a:p>
        </p:txBody>
      </p:sp>
      <p:sp>
        <p:nvSpPr>
          <p:cNvPr id="4" name="Content Placeholder 3">
            <a:extLst>
              <a:ext uri="{FF2B5EF4-FFF2-40B4-BE49-F238E27FC236}">
                <a16:creationId xmlns:a16="http://schemas.microsoft.com/office/drawing/2014/main" id="{ABC8392D-2842-B61B-AEE3-415448DE40E4}"/>
              </a:ext>
            </a:extLst>
          </p:cNvPr>
          <p:cNvSpPr>
            <a:spLocks noGrp="1"/>
          </p:cNvSpPr>
          <p:nvPr>
            <p:ph sz="quarter" idx="1"/>
          </p:nvPr>
        </p:nvSpPr>
        <p:spPr/>
        <p:txBody>
          <a:bodyPr>
            <a:normAutofit lnSpcReduction="10000"/>
          </a:bodyPr>
          <a:lstStyle/>
          <a:p>
            <a:pPr algn="l"/>
            <a:r>
              <a:rPr lang="en-US" b="1" i="0" dirty="0">
                <a:solidFill>
                  <a:srgbClr val="0D0D0D"/>
                </a:solidFill>
                <a:effectLst/>
                <a:latin typeface="Söhne"/>
              </a:rPr>
              <a:t>Autocratic Management:</a:t>
            </a:r>
            <a:endParaRPr lang="en-US" b="0" i="0" dirty="0">
              <a:solidFill>
                <a:srgbClr val="0D0D0D"/>
              </a:solidFill>
              <a:effectLst/>
              <a:latin typeface="Söhne"/>
            </a:endParaRPr>
          </a:p>
          <a:p>
            <a:pPr marL="0" indent="0" algn="l">
              <a:buNone/>
            </a:pPr>
            <a:r>
              <a:rPr lang="en-US" b="0" i="1" dirty="0">
                <a:solidFill>
                  <a:srgbClr val="0D0D0D"/>
                </a:solidFill>
                <a:effectLst/>
                <a:latin typeface="Söhne"/>
              </a:rPr>
              <a:t>Example:</a:t>
            </a:r>
            <a:r>
              <a:rPr lang="en-US" b="0" i="0" dirty="0">
                <a:solidFill>
                  <a:srgbClr val="0D0D0D"/>
                </a:solidFill>
                <a:effectLst/>
                <a:latin typeface="Söhne"/>
              </a:rPr>
              <a:t> In a highly structured manufacturing plant, the production manager makes all decisions without consulting the team. The manager dictates the workflow, sets production targets, and expects employees to follow instructions without providing much room for input or feedback. This style can be effective in situations where quick decisions are needed or when there is a need for strict control over processes.</a:t>
            </a:r>
          </a:p>
          <a:p>
            <a:endParaRPr lang="en-IN" dirty="0"/>
          </a:p>
        </p:txBody>
      </p:sp>
    </p:spTree>
    <p:extLst>
      <p:ext uri="{BB962C8B-B14F-4D97-AF65-F5344CB8AC3E}">
        <p14:creationId xmlns:p14="http://schemas.microsoft.com/office/powerpoint/2010/main" val="1611345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6B18-1CC2-9B78-7EC4-308B5B62E8AC}"/>
              </a:ext>
            </a:extLst>
          </p:cNvPr>
          <p:cNvSpPr>
            <a:spLocks noGrp="1"/>
          </p:cNvSpPr>
          <p:nvPr>
            <p:ph type="title"/>
          </p:nvPr>
        </p:nvSpPr>
        <p:spPr/>
        <p:txBody>
          <a:bodyPr/>
          <a:lstStyle/>
          <a:p>
            <a:r>
              <a:rPr lang="en-US" b="1" i="0" dirty="0">
                <a:solidFill>
                  <a:srgbClr val="0D0D0D"/>
                </a:solidFill>
                <a:effectLst/>
                <a:latin typeface="Söhne"/>
              </a:rPr>
              <a:t>Democratic management</a:t>
            </a:r>
            <a:endParaRPr lang="en-IN" b="1" dirty="0"/>
          </a:p>
        </p:txBody>
      </p:sp>
      <p:sp>
        <p:nvSpPr>
          <p:cNvPr id="3" name="Slide Number Placeholder 2">
            <a:extLst>
              <a:ext uri="{FF2B5EF4-FFF2-40B4-BE49-F238E27FC236}">
                <a16:creationId xmlns:a16="http://schemas.microsoft.com/office/drawing/2014/main" id="{A82F46BB-735F-47AF-8DD5-1725C84CB1E5}"/>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7</a:t>
            </a:fld>
            <a:endParaRPr lang="en-US"/>
          </a:p>
        </p:txBody>
      </p:sp>
      <p:sp>
        <p:nvSpPr>
          <p:cNvPr id="4" name="Content Placeholder 3">
            <a:extLst>
              <a:ext uri="{FF2B5EF4-FFF2-40B4-BE49-F238E27FC236}">
                <a16:creationId xmlns:a16="http://schemas.microsoft.com/office/drawing/2014/main" id="{08DB5890-2713-A896-FB30-554553C1B618}"/>
              </a:ext>
            </a:extLst>
          </p:cNvPr>
          <p:cNvSpPr>
            <a:spLocks noGrp="1"/>
          </p:cNvSpPr>
          <p:nvPr>
            <p:ph sz="quarter" idx="1"/>
          </p:nvPr>
        </p:nvSpPr>
        <p:spPr/>
        <p:txBody>
          <a:bodyPr>
            <a:normAutofit lnSpcReduction="10000"/>
          </a:bodyPr>
          <a:lstStyle/>
          <a:p>
            <a:r>
              <a:rPr lang="en-US" dirty="0">
                <a:solidFill>
                  <a:srgbClr val="0D0D0D"/>
                </a:solidFill>
                <a:latin typeface="Söhne"/>
              </a:rPr>
              <a:t>A</a:t>
            </a:r>
            <a:r>
              <a:rPr lang="en-US" b="0" i="0" dirty="0">
                <a:solidFill>
                  <a:srgbClr val="0D0D0D"/>
                </a:solidFill>
                <a:effectLst/>
                <a:latin typeface="Söhne"/>
              </a:rPr>
              <a:t>lso known as participative or inclusive management, is a leadership style in which decision-making is shared among the leader and the team members. In a democratic management approach, the leader encourages input, feedback, and collaboration from employees before making decisions. This style aims to create a more inclusive and engaging work environment, fostering a sense of ownership and commitment among team members.</a:t>
            </a:r>
          </a:p>
          <a:p>
            <a:endParaRPr lang="en-IN" dirty="0"/>
          </a:p>
        </p:txBody>
      </p:sp>
    </p:spTree>
    <p:extLst>
      <p:ext uri="{BB962C8B-B14F-4D97-AF65-F5344CB8AC3E}">
        <p14:creationId xmlns:p14="http://schemas.microsoft.com/office/powerpoint/2010/main" val="2012162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02A15-82D5-78B5-4100-3BB8B7EDA2DF}"/>
              </a:ext>
            </a:extLst>
          </p:cNvPr>
          <p:cNvSpPr>
            <a:spLocks noGrp="1"/>
          </p:cNvSpPr>
          <p:nvPr>
            <p:ph type="title"/>
          </p:nvPr>
        </p:nvSpPr>
        <p:spPr>
          <a:xfrm>
            <a:off x="612648" y="609600"/>
            <a:ext cx="8153400" cy="609600"/>
          </a:xfrm>
        </p:spPr>
        <p:txBody>
          <a:bodyPr>
            <a:normAutofit fontScale="90000"/>
          </a:bodyPr>
          <a:lstStyle/>
          <a:p>
            <a:r>
              <a:rPr lang="en-US" sz="3100" b="1" i="0" dirty="0">
                <a:solidFill>
                  <a:srgbClr val="0D0D0D"/>
                </a:solidFill>
                <a:effectLst/>
                <a:latin typeface="Söhne"/>
              </a:rPr>
              <a:t>Key characteristics of democratic management include:</a:t>
            </a:r>
            <a:br>
              <a:rPr lang="en-US" b="0" i="0" dirty="0">
                <a:solidFill>
                  <a:srgbClr val="0D0D0D"/>
                </a:solidFill>
                <a:effectLst/>
                <a:latin typeface="Söhne"/>
              </a:rPr>
            </a:br>
            <a:endParaRPr lang="en-IN" dirty="0"/>
          </a:p>
        </p:txBody>
      </p:sp>
      <p:sp>
        <p:nvSpPr>
          <p:cNvPr id="3" name="Slide Number Placeholder 2">
            <a:extLst>
              <a:ext uri="{FF2B5EF4-FFF2-40B4-BE49-F238E27FC236}">
                <a16:creationId xmlns:a16="http://schemas.microsoft.com/office/drawing/2014/main" id="{7EDB2ADC-8C6F-AD53-AFE2-B02B328C7166}"/>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8</a:t>
            </a:fld>
            <a:endParaRPr lang="en-US"/>
          </a:p>
        </p:txBody>
      </p:sp>
      <p:sp>
        <p:nvSpPr>
          <p:cNvPr id="4" name="Content Placeholder 3">
            <a:extLst>
              <a:ext uri="{FF2B5EF4-FFF2-40B4-BE49-F238E27FC236}">
                <a16:creationId xmlns:a16="http://schemas.microsoft.com/office/drawing/2014/main" id="{A209C0C0-0F48-8FE9-2F30-9E78F5B90855}"/>
              </a:ext>
            </a:extLst>
          </p:cNvPr>
          <p:cNvSpPr>
            <a:spLocks noGrp="1"/>
          </p:cNvSpPr>
          <p:nvPr>
            <p:ph sz="quarter" idx="1"/>
          </p:nvPr>
        </p:nvSpPr>
        <p:spPr>
          <a:xfrm>
            <a:off x="612648" y="1600200"/>
            <a:ext cx="8153400" cy="4876800"/>
          </a:xfrm>
        </p:spPr>
        <p:txBody>
          <a:bodyPr>
            <a:normAutofit fontScale="70000" lnSpcReduction="20000"/>
          </a:bodyPr>
          <a:lstStyle/>
          <a:p>
            <a:pPr algn="l">
              <a:buFont typeface="+mj-lt"/>
              <a:buAutoNum type="arabicPeriod"/>
            </a:pPr>
            <a:r>
              <a:rPr lang="en-US" b="1" i="0" dirty="0">
                <a:solidFill>
                  <a:srgbClr val="0D0D0D"/>
                </a:solidFill>
                <a:effectLst/>
                <a:latin typeface="Söhne"/>
              </a:rPr>
              <a:t>Collaborative Decision-Making:</a:t>
            </a:r>
            <a:r>
              <a:rPr lang="en-US" b="0" i="0" dirty="0">
                <a:solidFill>
                  <a:srgbClr val="0D0D0D"/>
                </a:solidFill>
                <a:effectLst/>
                <a:latin typeface="Söhne"/>
              </a:rPr>
              <a:t> The leader involves team members in the decision-making process, seeking their input and opinions before making important choices. This approach can lead to more well-rounded and informed decisions.</a:t>
            </a:r>
          </a:p>
          <a:p>
            <a:pPr algn="l">
              <a:buFont typeface="+mj-lt"/>
              <a:buAutoNum type="arabicPeriod"/>
            </a:pPr>
            <a:r>
              <a:rPr lang="en-US" b="1" i="0" dirty="0">
                <a:solidFill>
                  <a:srgbClr val="0D0D0D"/>
                </a:solidFill>
                <a:effectLst/>
                <a:latin typeface="Söhne"/>
              </a:rPr>
              <a:t>Open Communication:</a:t>
            </a:r>
            <a:r>
              <a:rPr lang="en-US" b="0" i="0" dirty="0">
                <a:solidFill>
                  <a:srgbClr val="0D0D0D"/>
                </a:solidFill>
                <a:effectLst/>
                <a:latin typeface="Söhne"/>
              </a:rPr>
              <a:t> There is a focus on transparent and open communication within the team. Team members are encouraged to express their ideas, concerns, and suggestions without fear of reprisal.</a:t>
            </a:r>
          </a:p>
          <a:p>
            <a:pPr algn="l">
              <a:buFont typeface="+mj-lt"/>
              <a:buAutoNum type="arabicPeriod"/>
            </a:pPr>
            <a:r>
              <a:rPr lang="en-US" b="1" i="0" dirty="0">
                <a:solidFill>
                  <a:srgbClr val="0D0D0D"/>
                </a:solidFill>
                <a:effectLst/>
                <a:latin typeface="Söhne"/>
              </a:rPr>
              <a:t>Empowerment:</a:t>
            </a:r>
            <a:r>
              <a:rPr lang="en-US" b="0" i="0" dirty="0">
                <a:solidFill>
                  <a:srgbClr val="0D0D0D"/>
                </a:solidFill>
                <a:effectLst/>
                <a:latin typeface="Söhne"/>
              </a:rPr>
              <a:t> Democratic leaders empower employees by giving them a sense of ownership and responsibility for their work. This can lead to increased motivation, job satisfaction, and a higher level of engagement.</a:t>
            </a:r>
          </a:p>
          <a:p>
            <a:pPr algn="l">
              <a:buFont typeface="+mj-lt"/>
              <a:buAutoNum type="arabicPeriod"/>
            </a:pPr>
            <a:r>
              <a:rPr lang="en-US" b="1" i="0" dirty="0">
                <a:solidFill>
                  <a:srgbClr val="0D0D0D"/>
                </a:solidFill>
                <a:effectLst/>
                <a:latin typeface="Söhne"/>
              </a:rPr>
              <a:t>Team Involvement:</a:t>
            </a:r>
            <a:r>
              <a:rPr lang="en-US" b="0" i="0" dirty="0">
                <a:solidFill>
                  <a:srgbClr val="0D0D0D"/>
                </a:solidFill>
                <a:effectLst/>
                <a:latin typeface="Söhne"/>
              </a:rPr>
              <a:t> Decisions are often made collectively, and the team plays a significant role in setting goals, defining strategies, and problem-solving. This can lead to a more diverse range of perspectives and innovative solutions.</a:t>
            </a:r>
          </a:p>
          <a:p>
            <a:pPr algn="l">
              <a:buFont typeface="+mj-lt"/>
              <a:buAutoNum type="arabicPeriod"/>
            </a:pPr>
            <a:r>
              <a:rPr lang="en-US" b="1" i="0" dirty="0">
                <a:solidFill>
                  <a:srgbClr val="0D0D0D"/>
                </a:solidFill>
                <a:effectLst/>
                <a:latin typeface="Söhne"/>
              </a:rPr>
              <a:t>Flat Organizational Structure:</a:t>
            </a:r>
            <a:r>
              <a:rPr lang="en-US" b="0" i="0" dirty="0">
                <a:solidFill>
                  <a:srgbClr val="0D0D0D"/>
                </a:solidFill>
                <a:effectLst/>
                <a:latin typeface="Söhne"/>
              </a:rPr>
              <a:t> Democratic management is often associated with a flatter organizational structure, where there is less emphasis on hierarchy and more emphasis on collaboration among team members.</a:t>
            </a:r>
          </a:p>
          <a:p>
            <a:endParaRPr lang="en-IN" dirty="0"/>
          </a:p>
        </p:txBody>
      </p:sp>
    </p:spTree>
    <p:extLst>
      <p:ext uri="{BB962C8B-B14F-4D97-AF65-F5344CB8AC3E}">
        <p14:creationId xmlns:p14="http://schemas.microsoft.com/office/powerpoint/2010/main" val="280022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133A721-4D4E-4464-6396-98D3E61A0B9B}"/>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9</a:t>
            </a:fld>
            <a:endParaRPr lang="en-US"/>
          </a:p>
        </p:txBody>
      </p:sp>
      <p:sp>
        <p:nvSpPr>
          <p:cNvPr id="4" name="Content Placeholder 3">
            <a:extLst>
              <a:ext uri="{FF2B5EF4-FFF2-40B4-BE49-F238E27FC236}">
                <a16:creationId xmlns:a16="http://schemas.microsoft.com/office/drawing/2014/main" id="{08D5BA9E-3D20-8CF2-555B-58BBB3446591}"/>
              </a:ext>
            </a:extLst>
          </p:cNvPr>
          <p:cNvSpPr>
            <a:spLocks noGrp="1"/>
          </p:cNvSpPr>
          <p:nvPr>
            <p:ph sz="quarter" idx="1"/>
          </p:nvPr>
        </p:nvSpPr>
        <p:spPr/>
        <p:txBody>
          <a:bodyPr>
            <a:normAutofit fontScale="77500" lnSpcReduction="20000"/>
          </a:bodyPr>
          <a:lstStyle/>
          <a:p>
            <a:pPr marL="0" indent="0">
              <a:buNone/>
            </a:pPr>
            <a:r>
              <a:rPr lang="en-US" b="1" i="1" dirty="0">
                <a:solidFill>
                  <a:srgbClr val="0D0D0D"/>
                </a:solidFill>
                <a:effectLst/>
                <a:latin typeface="Söhne"/>
              </a:rPr>
              <a:t>Example:</a:t>
            </a:r>
            <a:r>
              <a:rPr lang="en-US" b="1" i="0" dirty="0">
                <a:solidFill>
                  <a:srgbClr val="0D0D0D"/>
                </a:solidFill>
                <a:effectLst/>
                <a:latin typeface="Söhne"/>
              </a:rPr>
              <a:t> </a:t>
            </a:r>
            <a:r>
              <a:rPr lang="en-US" b="0" i="0" dirty="0">
                <a:solidFill>
                  <a:srgbClr val="0D0D0D"/>
                </a:solidFill>
                <a:effectLst/>
                <a:latin typeface="Söhne"/>
              </a:rPr>
              <a:t>In a software development team, the project manager holds regular meetings to discuss project goals, timelines, and challenges with the entire team. Decisions are made collectively, with team members having the opportunity to voice their opinions and contribute ideas. The manager facilitates discussions and aims to reach a consensus, fostering a collaborative and inclusive work environment.</a:t>
            </a:r>
          </a:p>
          <a:p>
            <a:r>
              <a:rPr lang="en-US" b="0" i="0" dirty="0">
                <a:solidFill>
                  <a:srgbClr val="0D0D0D"/>
                </a:solidFill>
                <a:effectLst/>
                <a:latin typeface="Söhne"/>
              </a:rPr>
              <a:t>While democratic management can enhance employee morale and creativity, it may not be suitable for all situations. It can sometimes be time-consuming, especially when consensus is challenging to achieve, and may not be as effective in urgent or crises. Striking the right balance between involving team members in decision-making and maintaining efficiency is crucial for the success of a democratic management style.</a:t>
            </a:r>
            <a:endParaRPr lang="en-IN" dirty="0"/>
          </a:p>
        </p:txBody>
      </p:sp>
    </p:spTree>
    <p:extLst>
      <p:ext uri="{BB962C8B-B14F-4D97-AF65-F5344CB8AC3E}">
        <p14:creationId xmlns:p14="http://schemas.microsoft.com/office/powerpoint/2010/main" val="1188278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F858-D8CF-67CC-66FE-5AA1BDA2BFBE}"/>
              </a:ext>
            </a:extLst>
          </p:cNvPr>
          <p:cNvSpPr>
            <a:spLocks noGrp="1"/>
          </p:cNvSpPr>
          <p:nvPr>
            <p:ph type="title"/>
          </p:nvPr>
        </p:nvSpPr>
        <p:spPr/>
        <p:txBody>
          <a:bodyPr/>
          <a:lstStyle/>
          <a:p>
            <a:r>
              <a:rPr lang="en-US" b="1" i="0" dirty="0">
                <a:solidFill>
                  <a:srgbClr val="0D0D0D"/>
                </a:solidFill>
                <a:effectLst/>
                <a:latin typeface="Söhne"/>
              </a:rPr>
              <a:t>Laissez-faire management</a:t>
            </a:r>
            <a:endParaRPr lang="en-IN" b="1" dirty="0"/>
          </a:p>
        </p:txBody>
      </p:sp>
      <p:sp>
        <p:nvSpPr>
          <p:cNvPr id="3" name="Slide Number Placeholder 2">
            <a:extLst>
              <a:ext uri="{FF2B5EF4-FFF2-40B4-BE49-F238E27FC236}">
                <a16:creationId xmlns:a16="http://schemas.microsoft.com/office/drawing/2014/main" id="{0CABCCC8-2B54-4167-F238-ABBDE799E146}"/>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10</a:t>
            </a:fld>
            <a:endParaRPr lang="en-US"/>
          </a:p>
        </p:txBody>
      </p:sp>
      <p:sp>
        <p:nvSpPr>
          <p:cNvPr id="4" name="Content Placeholder 3">
            <a:extLst>
              <a:ext uri="{FF2B5EF4-FFF2-40B4-BE49-F238E27FC236}">
                <a16:creationId xmlns:a16="http://schemas.microsoft.com/office/drawing/2014/main" id="{724C0B6F-843D-DA26-8242-8A82BBF887DC}"/>
              </a:ext>
            </a:extLst>
          </p:cNvPr>
          <p:cNvSpPr>
            <a:spLocks noGrp="1"/>
          </p:cNvSpPr>
          <p:nvPr>
            <p:ph sz="quarter" idx="1"/>
          </p:nvPr>
        </p:nvSpPr>
        <p:spPr>
          <a:xfrm>
            <a:off x="612648" y="1600200"/>
            <a:ext cx="8153400" cy="4876800"/>
          </a:xfrm>
        </p:spPr>
        <p:txBody>
          <a:bodyPr>
            <a:normAutofit fontScale="77500" lnSpcReduction="20000"/>
          </a:bodyPr>
          <a:lstStyle/>
          <a:p>
            <a:pPr algn="just"/>
            <a:r>
              <a:rPr lang="en-US" dirty="0">
                <a:solidFill>
                  <a:srgbClr val="0D0D0D"/>
                </a:solidFill>
                <a:latin typeface="Söhne"/>
              </a:rPr>
              <a:t>A</a:t>
            </a:r>
            <a:r>
              <a:rPr lang="en-US" b="0" i="0" dirty="0">
                <a:solidFill>
                  <a:srgbClr val="0D0D0D"/>
                </a:solidFill>
                <a:effectLst/>
                <a:latin typeface="Söhne"/>
              </a:rPr>
              <a:t>lso known as hands-off or delegative management, is a leadership style where leaders provide minimal guidance or direction to their team members. In this approach, leaders delegate tasks and decision-making authority to employees, allowing them a high degree of autonomy in how they approach and complete their work. The term "laissez-faire" is French for "let it be" or "leave it alone," reflecting the philosophy of minimal interference by leaders.</a:t>
            </a:r>
          </a:p>
          <a:p>
            <a:pPr algn="just"/>
            <a:r>
              <a:rPr lang="en-US" b="0" i="0" dirty="0">
                <a:solidFill>
                  <a:srgbClr val="0D0D0D"/>
                </a:solidFill>
                <a:effectLst/>
                <a:latin typeface="Söhne"/>
              </a:rPr>
              <a:t>While laissez-faire management can be effective in certain situations, it may not work well in all contexts. It requires a team of highly skilled and self-motivated individuals who can thrive with minimal guidance. In situations where employees require more direction, support, or structure, a laissez-faire approach may lead to confusion or a lack of productivity. Successful implementation of this management style often depends on the nature of the work, the team's capabilities, and the organizational culture.</a:t>
            </a:r>
          </a:p>
          <a:p>
            <a:endParaRPr lang="en-IN" dirty="0"/>
          </a:p>
        </p:txBody>
      </p:sp>
    </p:spTree>
    <p:extLst>
      <p:ext uri="{BB962C8B-B14F-4D97-AF65-F5344CB8AC3E}">
        <p14:creationId xmlns:p14="http://schemas.microsoft.com/office/powerpoint/2010/main" val="3231688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A8FD6-2F47-A3FE-9F33-57B2F89F8D9C}"/>
              </a:ext>
            </a:extLst>
          </p:cNvPr>
          <p:cNvSpPr>
            <a:spLocks noGrp="1"/>
          </p:cNvSpPr>
          <p:nvPr>
            <p:ph type="title"/>
          </p:nvPr>
        </p:nvSpPr>
        <p:spPr/>
        <p:txBody>
          <a:bodyPr>
            <a:normAutofit fontScale="90000"/>
          </a:bodyPr>
          <a:lstStyle/>
          <a:p>
            <a:r>
              <a:rPr lang="en-US" sz="2700" b="1" i="0" dirty="0">
                <a:solidFill>
                  <a:srgbClr val="0D0D0D"/>
                </a:solidFill>
                <a:effectLst/>
                <a:latin typeface="Söhne"/>
              </a:rPr>
              <a:t>Key characteristics of laissez-faire management include:</a:t>
            </a:r>
            <a:br>
              <a:rPr lang="en-US" b="0" i="0" dirty="0">
                <a:solidFill>
                  <a:srgbClr val="0D0D0D"/>
                </a:solidFill>
                <a:effectLst/>
                <a:latin typeface="Söhne"/>
              </a:rPr>
            </a:br>
            <a:endParaRPr lang="en-IN" dirty="0"/>
          </a:p>
        </p:txBody>
      </p:sp>
      <p:sp>
        <p:nvSpPr>
          <p:cNvPr id="3" name="Slide Number Placeholder 2">
            <a:extLst>
              <a:ext uri="{FF2B5EF4-FFF2-40B4-BE49-F238E27FC236}">
                <a16:creationId xmlns:a16="http://schemas.microsoft.com/office/drawing/2014/main" id="{0F126EBC-5193-17B8-F153-24D589683155}"/>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11</a:t>
            </a:fld>
            <a:endParaRPr lang="en-US"/>
          </a:p>
        </p:txBody>
      </p:sp>
      <p:sp>
        <p:nvSpPr>
          <p:cNvPr id="4" name="Content Placeholder 3">
            <a:extLst>
              <a:ext uri="{FF2B5EF4-FFF2-40B4-BE49-F238E27FC236}">
                <a16:creationId xmlns:a16="http://schemas.microsoft.com/office/drawing/2014/main" id="{349B8737-1E45-E180-302A-003AC4D39647}"/>
              </a:ext>
            </a:extLst>
          </p:cNvPr>
          <p:cNvSpPr>
            <a:spLocks noGrp="1"/>
          </p:cNvSpPr>
          <p:nvPr>
            <p:ph sz="quarter" idx="1"/>
          </p:nvPr>
        </p:nvSpPr>
        <p:spPr/>
        <p:txBody>
          <a:bodyPr>
            <a:normAutofit fontScale="70000" lnSpcReduction="20000"/>
          </a:bodyPr>
          <a:lstStyle/>
          <a:p>
            <a:pPr algn="l">
              <a:buFont typeface="+mj-lt"/>
              <a:buAutoNum type="arabicPeriod"/>
            </a:pPr>
            <a:r>
              <a:rPr lang="en-US" b="1" i="0" dirty="0">
                <a:solidFill>
                  <a:srgbClr val="0D0D0D"/>
                </a:solidFill>
                <a:effectLst/>
                <a:latin typeface="Söhne"/>
              </a:rPr>
              <a:t>Minimal Direct Supervision:</a:t>
            </a:r>
            <a:r>
              <a:rPr lang="en-US" b="0" i="0" dirty="0">
                <a:solidFill>
                  <a:srgbClr val="0D0D0D"/>
                </a:solidFill>
                <a:effectLst/>
                <a:latin typeface="Söhne"/>
              </a:rPr>
              <a:t> Laissez-faire leaders provide little direct oversight or supervision. They trust their team members to manage their work and make decisions without constant intervention.</a:t>
            </a:r>
          </a:p>
          <a:p>
            <a:pPr algn="l">
              <a:buFont typeface="+mj-lt"/>
              <a:buAutoNum type="arabicPeriod"/>
            </a:pPr>
            <a:r>
              <a:rPr lang="en-US" b="1" i="0" dirty="0">
                <a:solidFill>
                  <a:srgbClr val="0D0D0D"/>
                </a:solidFill>
                <a:effectLst/>
                <a:latin typeface="Söhne"/>
              </a:rPr>
              <a:t>Freedom and Autonomy:</a:t>
            </a:r>
            <a:r>
              <a:rPr lang="en-US" b="0" i="0" dirty="0">
                <a:solidFill>
                  <a:srgbClr val="0D0D0D"/>
                </a:solidFill>
                <a:effectLst/>
                <a:latin typeface="Söhne"/>
              </a:rPr>
              <a:t> Team members have a significant degree of freedom and autonomy in their roles. They are responsible for setting their own goals, making decisions, and managing their work processes.</a:t>
            </a:r>
          </a:p>
          <a:p>
            <a:pPr algn="l">
              <a:buFont typeface="+mj-lt"/>
              <a:buAutoNum type="arabicPeriod"/>
            </a:pPr>
            <a:r>
              <a:rPr lang="en-US" b="1" i="0" dirty="0">
                <a:solidFill>
                  <a:srgbClr val="0D0D0D"/>
                </a:solidFill>
                <a:effectLst/>
                <a:latin typeface="Söhne"/>
              </a:rPr>
              <a:t>Limited Structure:</a:t>
            </a:r>
            <a:r>
              <a:rPr lang="en-US" b="0" i="0" dirty="0">
                <a:solidFill>
                  <a:srgbClr val="0D0D0D"/>
                </a:solidFill>
                <a:effectLst/>
                <a:latin typeface="Söhne"/>
              </a:rPr>
              <a:t> This management style often involves a more relaxed or flexible organizational structure. There may be fewer rules and procedures compared to more structured management approaches.</a:t>
            </a:r>
          </a:p>
          <a:p>
            <a:pPr algn="l">
              <a:buFont typeface="+mj-lt"/>
              <a:buAutoNum type="arabicPeriod"/>
            </a:pPr>
            <a:r>
              <a:rPr lang="en-US" b="1" i="0" dirty="0">
                <a:solidFill>
                  <a:srgbClr val="0D0D0D"/>
                </a:solidFill>
                <a:effectLst/>
                <a:latin typeface="Söhne"/>
              </a:rPr>
              <a:t>Hands-Off Approach:</a:t>
            </a:r>
            <a:r>
              <a:rPr lang="en-US" b="0" i="0" dirty="0">
                <a:solidFill>
                  <a:srgbClr val="0D0D0D"/>
                </a:solidFill>
                <a:effectLst/>
                <a:latin typeface="Söhne"/>
              </a:rPr>
              <a:t> Laissez-faire leaders typically do not micromanage. Instead, they allow employees to take the lead, offering guidance when needed but otherwise letting them work independently.</a:t>
            </a:r>
          </a:p>
          <a:p>
            <a:pPr algn="l">
              <a:buFont typeface="+mj-lt"/>
              <a:buAutoNum type="arabicPeriod"/>
            </a:pPr>
            <a:r>
              <a:rPr lang="en-US" b="1" i="0" dirty="0">
                <a:solidFill>
                  <a:srgbClr val="0D0D0D"/>
                </a:solidFill>
                <a:effectLst/>
                <a:latin typeface="Söhne"/>
              </a:rPr>
              <a:t>Emphasis on Creativity and Innovation:</a:t>
            </a:r>
            <a:r>
              <a:rPr lang="en-US" b="0" i="0" dirty="0">
                <a:solidFill>
                  <a:srgbClr val="0D0D0D"/>
                </a:solidFill>
                <a:effectLst/>
                <a:latin typeface="Söhne"/>
              </a:rPr>
              <a:t> The autonomy provided by laissez-faire management can encourage creativity and innovation within the team. Team members may feel more empowered to explore new ideas and approaches.</a:t>
            </a:r>
          </a:p>
          <a:p>
            <a:pPr marL="0" indent="0">
              <a:buNone/>
            </a:pPr>
            <a:endParaRPr lang="en-IN" dirty="0"/>
          </a:p>
        </p:txBody>
      </p:sp>
    </p:spTree>
    <p:extLst>
      <p:ext uri="{BB962C8B-B14F-4D97-AF65-F5344CB8AC3E}">
        <p14:creationId xmlns:p14="http://schemas.microsoft.com/office/powerpoint/2010/main" val="2076312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32182AB-2A32-AC13-5DBC-67AEBCF07C61}"/>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12</a:t>
            </a:fld>
            <a:endParaRPr lang="en-US"/>
          </a:p>
        </p:txBody>
      </p:sp>
      <p:sp>
        <p:nvSpPr>
          <p:cNvPr id="4" name="Content Placeholder 3">
            <a:extLst>
              <a:ext uri="{FF2B5EF4-FFF2-40B4-BE49-F238E27FC236}">
                <a16:creationId xmlns:a16="http://schemas.microsoft.com/office/drawing/2014/main" id="{249A3437-6437-FC51-86E3-24E62BB686C5}"/>
              </a:ext>
            </a:extLst>
          </p:cNvPr>
          <p:cNvSpPr>
            <a:spLocks noGrp="1"/>
          </p:cNvSpPr>
          <p:nvPr>
            <p:ph sz="quarter" idx="1"/>
          </p:nvPr>
        </p:nvSpPr>
        <p:spPr/>
        <p:txBody>
          <a:bodyPr/>
          <a:lstStyle/>
          <a:p>
            <a:pPr marL="0" indent="0">
              <a:buNone/>
            </a:pPr>
            <a:r>
              <a:rPr lang="en-US" b="0" i="1" dirty="0">
                <a:solidFill>
                  <a:srgbClr val="0D0D0D"/>
                </a:solidFill>
                <a:effectLst/>
                <a:latin typeface="Söhne"/>
              </a:rPr>
              <a:t>Example:</a:t>
            </a:r>
            <a:r>
              <a:rPr lang="en-US" b="0" i="0" dirty="0">
                <a:solidFill>
                  <a:srgbClr val="0D0D0D"/>
                </a:solidFill>
                <a:effectLst/>
                <a:latin typeface="Söhne"/>
              </a:rPr>
              <a:t> In a creative design agency, the team lead adopts a laissez-faire approach, allowing team members the freedom to choose their own projects and work independently. The manager provides resources and support but does not interfere with the day-to-day decision-making of the team. This style is suitable for creative and self-motivated teams where individuals prefer autonomy and flexibility in their work.</a:t>
            </a:r>
            <a:endParaRPr lang="en-IN" dirty="0"/>
          </a:p>
        </p:txBody>
      </p:sp>
    </p:spTree>
    <p:extLst>
      <p:ext uri="{BB962C8B-B14F-4D97-AF65-F5344CB8AC3E}">
        <p14:creationId xmlns:p14="http://schemas.microsoft.com/office/powerpoint/2010/main" val="1107727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9144000" cy="6858000"/>
          </a:xfrm>
          <a:prstGeom prst="rect">
            <a:avLst/>
          </a:prstGeom>
        </p:spPr>
      </p:pic>
    </p:spTree>
    <p:extLst>
      <p:ext uri="{BB962C8B-B14F-4D97-AF65-F5344CB8AC3E}">
        <p14:creationId xmlns:p14="http://schemas.microsoft.com/office/powerpoint/2010/main" val="1877382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38100"/>
            <a:ext cx="9271000" cy="6953250"/>
          </a:xfrm>
          <a:prstGeom prst="rect">
            <a:avLst/>
          </a:prstGeom>
        </p:spPr>
      </p:pic>
    </p:spTree>
    <p:extLst>
      <p:ext uri="{BB962C8B-B14F-4D97-AF65-F5344CB8AC3E}">
        <p14:creationId xmlns:p14="http://schemas.microsoft.com/office/powerpoint/2010/main" val="3572462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276351-8AF1-0E88-5CF2-86E7D6B36A86}"/>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15</a:t>
            </a:fld>
            <a:endParaRPr lang="en-US"/>
          </a:p>
        </p:txBody>
      </p:sp>
      <p:sp>
        <p:nvSpPr>
          <p:cNvPr id="4" name="Content Placeholder 3">
            <a:extLst>
              <a:ext uri="{FF2B5EF4-FFF2-40B4-BE49-F238E27FC236}">
                <a16:creationId xmlns:a16="http://schemas.microsoft.com/office/drawing/2014/main" id="{E5DD1EEF-059C-9815-3A69-BC46F42A22D3}"/>
              </a:ext>
            </a:extLst>
          </p:cNvPr>
          <p:cNvSpPr>
            <a:spLocks noGrp="1"/>
          </p:cNvSpPr>
          <p:nvPr>
            <p:ph sz="quarter" idx="1"/>
          </p:nvPr>
        </p:nvSpPr>
        <p:spPr>
          <a:xfrm>
            <a:off x="612648" y="1600200"/>
            <a:ext cx="8153400" cy="5029200"/>
          </a:xfrm>
        </p:spPr>
        <p:txBody>
          <a:bodyPr>
            <a:normAutofit fontScale="32500" lnSpcReduction="20000"/>
          </a:bodyPr>
          <a:lstStyle/>
          <a:p>
            <a:pPr algn="l">
              <a:buFont typeface="+mj-lt"/>
              <a:buAutoNum type="arabicPeriod"/>
            </a:pPr>
            <a:r>
              <a:rPr lang="en-US" sz="4500" b="1" i="0" dirty="0">
                <a:solidFill>
                  <a:srgbClr val="0D0D0D"/>
                </a:solidFill>
                <a:effectLst/>
                <a:latin typeface="Söhne"/>
              </a:rPr>
              <a:t>Focus on People vs. Tasks:</a:t>
            </a:r>
            <a:endParaRPr lang="en-US" sz="4500" b="0" i="0" dirty="0">
              <a:solidFill>
                <a:srgbClr val="0D0D0D"/>
              </a:solidFill>
              <a:effectLst/>
              <a:latin typeface="Söhne"/>
            </a:endParaRPr>
          </a:p>
          <a:p>
            <a:pPr marL="457200" lvl="1" indent="0" algn="l">
              <a:buNone/>
            </a:pPr>
            <a:r>
              <a:rPr lang="en-US" sz="4500" b="1" i="0" dirty="0">
                <a:solidFill>
                  <a:srgbClr val="0D0D0D"/>
                </a:solidFill>
                <a:effectLst/>
                <a:latin typeface="Söhne"/>
              </a:rPr>
              <a:t>Leadership:</a:t>
            </a:r>
            <a:r>
              <a:rPr lang="en-US" sz="4500" b="0" i="0" dirty="0">
                <a:solidFill>
                  <a:srgbClr val="0D0D0D"/>
                </a:solidFill>
                <a:effectLst/>
                <a:latin typeface="Söhne"/>
              </a:rPr>
              <a:t> Leaders often focus on inspiring and motivating people, fostering a shared vision, and encouraging personal and professional growth. Leadership is more people-oriented and involves influencing others to achieve a common goal.</a:t>
            </a:r>
          </a:p>
          <a:p>
            <a:pPr marL="457200" lvl="1" indent="0" algn="l">
              <a:buNone/>
            </a:pPr>
            <a:r>
              <a:rPr lang="en-US" sz="4500" b="1" i="0" dirty="0">
                <a:solidFill>
                  <a:srgbClr val="0D0D0D"/>
                </a:solidFill>
                <a:effectLst/>
                <a:latin typeface="Söhne"/>
              </a:rPr>
              <a:t>Management:</a:t>
            </a:r>
            <a:r>
              <a:rPr lang="en-US" sz="4500" b="0" i="0" dirty="0">
                <a:solidFill>
                  <a:srgbClr val="0D0D0D"/>
                </a:solidFill>
                <a:effectLst/>
                <a:latin typeface="Söhne"/>
              </a:rPr>
              <a:t> Managers, on the other hand, are typically concerned with tasks, processes, and the efficient execution of plans. Management is often associated with controlling resources, implementing strategies, and ensuring that organizational objectives are met.</a:t>
            </a:r>
          </a:p>
          <a:p>
            <a:pPr algn="l">
              <a:buFont typeface="+mj-lt"/>
              <a:buAutoNum type="arabicPeriod"/>
            </a:pPr>
            <a:r>
              <a:rPr lang="en-US" sz="4500" b="1" i="0" dirty="0">
                <a:solidFill>
                  <a:srgbClr val="0D0D0D"/>
                </a:solidFill>
                <a:effectLst/>
                <a:latin typeface="Söhne"/>
              </a:rPr>
              <a:t>Vision and Inspiration:</a:t>
            </a:r>
            <a:endParaRPr lang="en-US" sz="4500" b="0" i="0" dirty="0">
              <a:solidFill>
                <a:srgbClr val="0D0D0D"/>
              </a:solidFill>
              <a:effectLst/>
              <a:latin typeface="Söhne"/>
            </a:endParaRPr>
          </a:p>
          <a:p>
            <a:pPr marL="457200" lvl="1" indent="0" algn="l">
              <a:buNone/>
            </a:pPr>
            <a:r>
              <a:rPr lang="en-US" sz="4500" b="1" i="0" dirty="0">
                <a:solidFill>
                  <a:srgbClr val="0D0D0D"/>
                </a:solidFill>
                <a:effectLst/>
                <a:latin typeface="Söhne"/>
              </a:rPr>
              <a:t>Leadership:</a:t>
            </a:r>
            <a:r>
              <a:rPr lang="en-US" sz="4500" b="0" i="0" dirty="0">
                <a:solidFill>
                  <a:srgbClr val="0D0D0D"/>
                </a:solidFill>
                <a:effectLst/>
                <a:latin typeface="Söhne"/>
              </a:rPr>
              <a:t> Leaders are often visionary and inspire others by providing a compelling and inspiring vision for the future. They help create a sense of purpose and direction for the team or organization.</a:t>
            </a:r>
          </a:p>
          <a:p>
            <a:pPr marL="457200" lvl="1" indent="0" algn="l">
              <a:buNone/>
            </a:pPr>
            <a:r>
              <a:rPr lang="en-US" sz="4500" b="1" i="0" dirty="0">
                <a:solidFill>
                  <a:srgbClr val="0D0D0D"/>
                </a:solidFill>
                <a:effectLst/>
                <a:latin typeface="Söhne"/>
              </a:rPr>
              <a:t>Management:</a:t>
            </a:r>
            <a:r>
              <a:rPr lang="en-US" sz="4500" b="0" i="0" dirty="0">
                <a:solidFill>
                  <a:srgbClr val="0D0D0D"/>
                </a:solidFill>
                <a:effectLst/>
                <a:latin typeface="Söhne"/>
              </a:rPr>
              <a:t> Managers are more focused on executing the established plans and ensuring that tasks are completed efficiently. They may not always be involved in setting the broader vision but are responsible for implementing and achieving specific objectives.</a:t>
            </a:r>
          </a:p>
          <a:p>
            <a:pPr algn="l">
              <a:buFont typeface="+mj-lt"/>
              <a:buAutoNum type="arabicPeriod"/>
            </a:pPr>
            <a:r>
              <a:rPr lang="en-US" sz="4500" b="1" i="0" dirty="0">
                <a:solidFill>
                  <a:srgbClr val="0D0D0D"/>
                </a:solidFill>
                <a:effectLst/>
                <a:latin typeface="Söhne"/>
              </a:rPr>
              <a:t>Change and Innovation:</a:t>
            </a:r>
            <a:endParaRPr lang="en-US" sz="4500" b="0" i="0" dirty="0">
              <a:solidFill>
                <a:srgbClr val="0D0D0D"/>
              </a:solidFill>
              <a:effectLst/>
              <a:latin typeface="Söhne"/>
            </a:endParaRPr>
          </a:p>
          <a:p>
            <a:pPr marL="457200" lvl="1" indent="0" algn="l">
              <a:buNone/>
            </a:pPr>
            <a:r>
              <a:rPr lang="en-US" sz="4500" b="1" i="0" dirty="0">
                <a:solidFill>
                  <a:srgbClr val="0D0D0D"/>
                </a:solidFill>
                <a:effectLst/>
                <a:latin typeface="Söhne"/>
              </a:rPr>
              <a:t>Leadership:</a:t>
            </a:r>
            <a:r>
              <a:rPr lang="en-US" sz="4500" b="0" i="0" dirty="0">
                <a:solidFill>
                  <a:srgbClr val="0D0D0D"/>
                </a:solidFill>
                <a:effectLst/>
                <a:latin typeface="Söhne"/>
              </a:rPr>
              <a:t> Leaders are often catalysts for change and innovation. They encourage creativity, embrace new ideas, and guide the organization or team through periods of transformation.</a:t>
            </a:r>
          </a:p>
          <a:p>
            <a:pPr marL="457200" lvl="1" indent="0" algn="l">
              <a:buNone/>
            </a:pPr>
            <a:r>
              <a:rPr lang="en-US" sz="4500" b="1" i="0" dirty="0">
                <a:solidFill>
                  <a:srgbClr val="0D0D0D"/>
                </a:solidFill>
                <a:effectLst/>
                <a:latin typeface="Söhne"/>
              </a:rPr>
              <a:t>Management:</a:t>
            </a:r>
            <a:r>
              <a:rPr lang="en-US" sz="4500" b="0" i="0" dirty="0">
                <a:solidFill>
                  <a:srgbClr val="0D0D0D"/>
                </a:solidFill>
                <a:effectLst/>
                <a:latin typeface="Söhne"/>
              </a:rPr>
              <a:t> Managers are typically more concerned with maintaining stability, organizing resources, and ensuring that established processes are followed. While they may implement changes, their primary focus is often on efficiency and effectiveness within existing structures.</a:t>
            </a:r>
          </a:p>
          <a:p>
            <a:endParaRPr lang="en-IN" dirty="0"/>
          </a:p>
        </p:txBody>
      </p:sp>
    </p:spTree>
    <p:extLst>
      <p:ext uri="{BB962C8B-B14F-4D97-AF65-F5344CB8AC3E}">
        <p14:creationId xmlns:p14="http://schemas.microsoft.com/office/powerpoint/2010/main" val="4294896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4C5B492-2ACA-E8ED-D563-03B08A93CD2E}"/>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16</a:t>
            </a:fld>
            <a:endParaRPr lang="en-US"/>
          </a:p>
        </p:txBody>
      </p:sp>
      <p:sp>
        <p:nvSpPr>
          <p:cNvPr id="4" name="Content Placeholder 3">
            <a:extLst>
              <a:ext uri="{FF2B5EF4-FFF2-40B4-BE49-F238E27FC236}">
                <a16:creationId xmlns:a16="http://schemas.microsoft.com/office/drawing/2014/main" id="{C8F6DFD3-2886-200C-CC12-FF4D4F625C57}"/>
              </a:ext>
            </a:extLst>
          </p:cNvPr>
          <p:cNvSpPr>
            <a:spLocks noGrp="1"/>
          </p:cNvSpPr>
          <p:nvPr>
            <p:ph sz="quarter" idx="1"/>
          </p:nvPr>
        </p:nvSpPr>
        <p:spPr>
          <a:xfrm>
            <a:off x="612648" y="1600200"/>
            <a:ext cx="8153400" cy="4953000"/>
          </a:xfrm>
        </p:spPr>
        <p:txBody>
          <a:bodyPr>
            <a:normAutofit fontScale="40000" lnSpcReduction="20000"/>
          </a:bodyPr>
          <a:lstStyle/>
          <a:p>
            <a:pPr marL="0" indent="0" algn="just">
              <a:buNone/>
            </a:pPr>
            <a:r>
              <a:rPr lang="en-US" sz="4500" b="1" i="0" dirty="0">
                <a:solidFill>
                  <a:srgbClr val="0D0D0D"/>
                </a:solidFill>
                <a:effectLst/>
                <a:latin typeface="Söhne"/>
              </a:rPr>
              <a:t>4. Relationships vs. Authority:</a:t>
            </a:r>
            <a:endParaRPr lang="en-US" sz="4500" b="0" i="0" dirty="0">
              <a:solidFill>
                <a:srgbClr val="0D0D0D"/>
              </a:solidFill>
              <a:effectLst/>
              <a:latin typeface="Söhne"/>
            </a:endParaRPr>
          </a:p>
          <a:p>
            <a:pPr marL="457200" lvl="1" indent="0" algn="just">
              <a:buNone/>
            </a:pPr>
            <a:r>
              <a:rPr lang="en-US" sz="4500" b="1" i="0" dirty="0">
                <a:solidFill>
                  <a:srgbClr val="0D0D0D"/>
                </a:solidFill>
                <a:effectLst/>
                <a:latin typeface="Söhne"/>
              </a:rPr>
              <a:t>Leadership:</a:t>
            </a:r>
            <a:r>
              <a:rPr lang="en-US" sz="4500" b="0" i="0" dirty="0">
                <a:solidFill>
                  <a:srgbClr val="0D0D0D"/>
                </a:solidFill>
                <a:effectLst/>
                <a:latin typeface="Söhne"/>
              </a:rPr>
              <a:t> Leaders often build relationships based on trust, influence, and inspiration. Leadership is not necessarily tied to formal authority; individuals can be leaders regardless of their hierarchical position.</a:t>
            </a:r>
          </a:p>
          <a:p>
            <a:pPr marL="457200" lvl="1" indent="0" algn="just">
              <a:buNone/>
            </a:pPr>
            <a:r>
              <a:rPr lang="en-US" sz="4500" b="1" i="0" dirty="0">
                <a:solidFill>
                  <a:srgbClr val="0D0D0D"/>
                </a:solidFill>
                <a:effectLst/>
                <a:latin typeface="Söhne"/>
              </a:rPr>
              <a:t>Management:</a:t>
            </a:r>
            <a:r>
              <a:rPr lang="en-US" sz="4500" b="0" i="0" dirty="0">
                <a:solidFill>
                  <a:srgbClr val="0D0D0D"/>
                </a:solidFill>
                <a:effectLst/>
                <a:latin typeface="Söhne"/>
              </a:rPr>
              <a:t> Managers typically derive authority from their formal positions within an organizational hierarchy. Their role involves directing and coordinating the work of others to achieve specific objectives.</a:t>
            </a:r>
          </a:p>
          <a:p>
            <a:pPr marL="0" indent="0" algn="just">
              <a:buNone/>
            </a:pPr>
            <a:r>
              <a:rPr lang="en-US" sz="4500" b="1" i="0" dirty="0">
                <a:solidFill>
                  <a:srgbClr val="0D0D0D"/>
                </a:solidFill>
                <a:effectLst/>
                <a:latin typeface="Söhne"/>
              </a:rPr>
              <a:t>5. Long-Term vs. Short-Term Focus:</a:t>
            </a:r>
            <a:endParaRPr lang="en-US" sz="4500" b="0" i="0" dirty="0">
              <a:solidFill>
                <a:srgbClr val="0D0D0D"/>
              </a:solidFill>
              <a:effectLst/>
              <a:latin typeface="Söhne"/>
            </a:endParaRPr>
          </a:p>
          <a:p>
            <a:pPr marL="457200" lvl="1" indent="0" algn="just">
              <a:buNone/>
            </a:pPr>
            <a:r>
              <a:rPr lang="en-US" sz="4500" b="1" i="0" dirty="0">
                <a:solidFill>
                  <a:srgbClr val="0D0D0D"/>
                </a:solidFill>
                <a:effectLst/>
                <a:latin typeface="Söhne"/>
              </a:rPr>
              <a:t>Leadership:</a:t>
            </a:r>
            <a:r>
              <a:rPr lang="en-US" sz="4500" b="0" i="0" dirty="0">
                <a:solidFill>
                  <a:srgbClr val="0D0D0D"/>
                </a:solidFill>
                <a:effectLst/>
                <a:latin typeface="Söhne"/>
              </a:rPr>
              <a:t> Leadership tends to have a long-term focus, emphasizing the big picture and the organization's future direction. Leaders may be more willing to take calculated risks in pursuit of long-term goals.</a:t>
            </a:r>
          </a:p>
          <a:p>
            <a:pPr marL="457200" lvl="1" indent="0" algn="just">
              <a:buNone/>
            </a:pPr>
            <a:r>
              <a:rPr lang="en-US" sz="4500" b="1" i="0" dirty="0">
                <a:solidFill>
                  <a:srgbClr val="0D0D0D"/>
                </a:solidFill>
                <a:effectLst/>
                <a:latin typeface="Söhne"/>
              </a:rPr>
              <a:t>Management:</a:t>
            </a:r>
            <a:r>
              <a:rPr lang="en-US" sz="4500" b="0" i="0" dirty="0">
                <a:solidFill>
                  <a:srgbClr val="0D0D0D"/>
                </a:solidFill>
                <a:effectLst/>
                <a:latin typeface="Söhne"/>
              </a:rPr>
              <a:t> Management often involves a more short-term focus, ensuring that day-to-day operations run smoothly and that immediate goals are achieved efficiently.</a:t>
            </a:r>
          </a:p>
          <a:p>
            <a:pPr marL="0" indent="0" algn="just">
              <a:buNone/>
            </a:pPr>
            <a:r>
              <a:rPr lang="en-US" sz="4000" b="1" i="0" dirty="0">
                <a:solidFill>
                  <a:srgbClr val="0D0D0D"/>
                </a:solidFill>
                <a:effectLst/>
                <a:latin typeface="Söhne"/>
              </a:rPr>
              <a:t>While these differences exist, it's important to note that effective leaders often need management skills, and successful managers often exhibit leadership qualities. In many situations, the terms "leadership" and "management" are used interchangeably, and individuals in leadership roles may need to balance both aspects to achieve overall success in their roles.</a:t>
            </a:r>
            <a:endParaRPr lang="en-IN" sz="4000" b="1" dirty="0"/>
          </a:p>
        </p:txBody>
      </p:sp>
    </p:spTree>
    <p:extLst>
      <p:ext uri="{BB962C8B-B14F-4D97-AF65-F5344CB8AC3E}">
        <p14:creationId xmlns:p14="http://schemas.microsoft.com/office/powerpoint/2010/main" val="4159334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1524000"/>
            <a:ext cx="6477000" cy="1828800"/>
          </a:xfrm>
        </p:spPr>
        <p:txBody>
          <a:bodyPr/>
          <a:lstStyle/>
          <a:p>
            <a:r>
              <a:rPr lang="en-US" dirty="0"/>
              <a:t>Leadership</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641806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Leadership</a:t>
            </a: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18</a:t>
            </a:fld>
            <a:endParaRPr lang="en-US"/>
          </a:p>
        </p:txBody>
      </p:sp>
      <p:sp>
        <p:nvSpPr>
          <p:cNvPr id="5" name="Rectangle 4"/>
          <p:cNvSpPr/>
          <p:nvPr/>
        </p:nvSpPr>
        <p:spPr>
          <a:xfrm>
            <a:off x="609600" y="1591270"/>
            <a:ext cx="8229600" cy="1200329"/>
          </a:xfrm>
          <a:prstGeom prst="rect">
            <a:avLst/>
          </a:prstGeom>
        </p:spPr>
        <p:txBody>
          <a:bodyPr wrap="square">
            <a:spAutoFit/>
          </a:bodyPr>
          <a:lstStyle/>
          <a:p>
            <a:pPr algn="just"/>
            <a:r>
              <a:rPr lang="en-US" sz="2400" b="1" dirty="0">
                <a:latin typeface="Times New Roman" pitchFamily="18" charset="0"/>
                <a:cs typeface="Times New Roman" pitchFamily="18" charset="0"/>
              </a:rPr>
              <a:t>Leadership</a:t>
            </a:r>
          </a:p>
          <a:p>
            <a:pPr algn="just"/>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The ability to influence a group toward the achievement of a vision or set of goals.</a:t>
            </a:r>
          </a:p>
        </p:txBody>
      </p:sp>
    </p:spTree>
    <p:extLst>
      <p:ext uri="{BB962C8B-B14F-4D97-AF65-F5344CB8AC3E}">
        <p14:creationId xmlns:p14="http://schemas.microsoft.com/office/powerpoint/2010/main" val="1086448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Leadership theories</a:t>
            </a: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19</a:t>
            </a:fld>
            <a:endParaRPr lang="en-US"/>
          </a:p>
        </p:txBody>
      </p:sp>
      <p:sp>
        <p:nvSpPr>
          <p:cNvPr id="5" name="Rectangle 4"/>
          <p:cNvSpPr/>
          <p:nvPr/>
        </p:nvSpPr>
        <p:spPr>
          <a:xfrm>
            <a:off x="236220" y="1516698"/>
            <a:ext cx="8755380" cy="5878532"/>
          </a:xfrm>
          <a:prstGeom prst="rect">
            <a:avLst/>
          </a:prstGeom>
        </p:spPr>
        <p:txBody>
          <a:bodyPr wrap="square">
            <a:spAutoFit/>
          </a:bodyPr>
          <a:lstStyle/>
          <a:p>
            <a:pPr algn="l"/>
            <a:r>
              <a:rPr lang="en-US" sz="2400" b="1" dirty="0">
                <a:latin typeface="Times New Roman" pitchFamily="18" charset="0"/>
                <a:cs typeface="Times New Roman" pitchFamily="18" charset="0"/>
              </a:rPr>
              <a:t>Trait theories of leadership </a:t>
            </a:r>
            <a:r>
              <a:rPr lang="en-US" sz="2400" dirty="0">
                <a:latin typeface="Times New Roman" pitchFamily="18" charset="0"/>
                <a:cs typeface="Times New Roman" pitchFamily="18" charset="0"/>
              </a:rPr>
              <a:t>Theories that consider personal qualities and characteristics that differentiate leaders from non-leaders.</a:t>
            </a:r>
            <a:r>
              <a:rPr lang="en-US" sz="4000" b="1" i="0" dirty="0">
                <a:solidFill>
                  <a:srgbClr val="0D0D0D"/>
                </a:solidFill>
                <a:effectLst/>
                <a:latin typeface="Söhne"/>
              </a:rPr>
              <a:t> </a:t>
            </a:r>
          </a:p>
          <a:p>
            <a:pPr algn="l"/>
            <a:r>
              <a:rPr lang="en-US" sz="2400" b="1" i="0" dirty="0">
                <a:solidFill>
                  <a:srgbClr val="0D0D0D"/>
                </a:solidFill>
                <a:effectLst/>
                <a:latin typeface="Söhne"/>
              </a:rPr>
              <a:t>Example: Charisma as a Leadership Trait</a:t>
            </a:r>
            <a:endParaRPr lang="en-US" sz="2400" b="0" i="0" dirty="0">
              <a:solidFill>
                <a:srgbClr val="0D0D0D"/>
              </a:solidFill>
              <a:effectLst/>
              <a:latin typeface="Söhne"/>
            </a:endParaRPr>
          </a:p>
          <a:p>
            <a:pPr algn="l"/>
            <a:r>
              <a:rPr lang="en-US" sz="2400" b="0" i="0" dirty="0">
                <a:solidFill>
                  <a:srgbClr val="0D0D0D"/>
                </a:solidFill>
                <a:effectLst/>
                <a:latin typeface="Söhne"/>
              </a:rPr>
              <a:t>Trait theory suggests that individuals with charismatic qualities are more likely to emerge as leaders and are perceived as effective leaders. Charisma involves the ability to inspire and influence others through a compelling and magnetic personality. Charismatic leaders often possess the following traits:</a:t>
            </a:r>
          </a:p>
          <a:p>
            <a:pPr algn="l">
              <a:buFont typeface="+mj-lt"/>
              <a:buAutoNum type="arabicPeriod"/>
            </a:pPr>
            <a:r>
              <a:rPr lang="en-US" sz="2400" b="1" i="0" dirty="0">
                <a:solidFill>
                  <a:srgbClr val="0D0D0D"/>
                </a:solidFill>
                <a:effectLst/>
                <a:latin typeface="Söhne"/>
              </a:rPr>
              <a:t>Visionary Outlook</a:t>
            </a:r>
            <a:endParaRPr lang="en-US" sz="2400" dirty="0">
              <a:solidFill>
                <a:srgbClr val="0D0D0D"/>
              </a:solidFill>
              <a:latin typeface="Söhne"/>
            </a:endParaRPr>
          </a:p>
          <a:p>
            <a:pPr algn="l">
              <a:buFont typeface="+mj-lt"/>
              <a:buAutoNum type="arabicPeriod"/>
            </a:pPr>
            <a:r>
              <a:rPr lang="en-US" sz="2400" b="1" i="0" dirty="0">
                <a:solidFill>
                  <a:srgbClr val="0D0D0D"/>
                </a:solidFill>
                <a:effectLst/>
                <a:latin typeface="Söhne"/>
              </a:rPr>
              <a:t>Confidence</a:t>
            </a:r>
            <a:endParaRPr lang="en-US" sz="2400" b="0" i="0" dirty="0">
              <a:solidFill>
                <a:srgbClr val="0D0D0D"/>
              </a:solidFill>
              <a:effectLst/>
              <a:latin typeface="Söhne"/>
            </a:endParaRPr>
          </a:p>
          <a:p>
            <a:pPr algn="l">
              <a:buFont typeface="+mj-lt"/>
              <a:buAutoNum type="arabicPeriod"/>
            </a:pPr>
            <a:r>
              <a:rPr lang="en-US" sz="2400" b="1" i="0" dirty="0">
                <a:solidFill>
                  <a:srgbClr val="0D0D0D"/>
                </a:solidFill>
                <a:effectLst/>
                <a:latin typeface="Söhne"/>
              </a:rPr>
              <a:t>Effective Communication</a:t>
            </a:r>
            <a:endParaRPr lang="en-US" sz="2400" b="0" i="0" dirty="0">
              <a:solidFill>
                <a:srgbClr val="0D0D0D"/>
              </a:solidFill>
              <a:effectLst/>
              <a:latin typeface="Söhne"/>
            </a:endParaRPr>
          </a:p>
          <a:p>
            <a:pPr algn="l">
              <a:buFont typeface="+mj-lt"/>
              <a:buAutoNum type="arabicPeriod"/>
            </a:pPr>
            <a:r>
              <a:rPr lang="en-US" sz="2400" b="1" i="0" dirty="0">
                <a:solidFill>
                  <a:srgbClr val="0D0D0D"/>
                </a:solidFill>
                <a:effectLst/>
                <a:latin typeface="Söhne"/>
              </a:rPr>
              <a:t>Expressiveness</a:t>
            </a:r>
            <a:r>
              <a:rPr lang="en-US" sz="2400" b="0" i="0" dirty="0">
                <a:solidFill>
                  <a:srgbClr val="0D0D0D"/>
                </a:solidFill>
                <a:effectLst/>
                <a:latin typeface="Söhne"/>
              </a:rPr>
              <a:t> </a:t>
            </a:r>
          </a:p>
          <a:p>
            <a:pPr algn="l">
              <a:buFont typeface="+mj-lt"/>
              <a:buAutoNum type="arabicPeriod"/>
            </a:pPr>
            <a:r>
              <a:rPr lang="en-US" sz="2400" b="1" i="0" dirty="0">
                <a:solidFill>
                  <a:srgbClr val="0D0D0D"/>
                </a:solidFill>
                <a:effectLst/>
                <a:latin typeface="Söhne"/>
              </a:rPr>
              <a:t>Empathy</a:t>
            </a:r>
            <a:endParaRPr lang="en-US" sz="2400" b="0" i="0" dirty="0">
              <a:solidFill>
                <a:srgbClr val="0D0D0D"/>
              </a:solidFill>
              <a:effectLst/>
              <a:latin typeface="Söhne"/>
            </a:endParaRP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18822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363F09-5577-2805-1A1B-3BA53D9760B5}"/>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20</a:t>
            </a:fld>
            <a:endParaRPr lang="en-US"/>
          </a:p>
        </p:txBody>
      </p:sp>
      <p:sp>
        <p:nvSpPr>
          <p:cNvPr id="4" name="Content Placeholder 3">
            <a:extLst>
              <a:ext uri="{FF2B5EF4-FFF2-40B4-BE49-F238E27FC236}">
                <a16:creationId xmlns:a16="http://schemas.microsoft.com/office/drawing/2014/main" id="{60C5E4B2-A97C-25D4-38F0-EA7782C0C9BD}"/>
              </a:ext>
            </a:extLst>
          </p:cNvPr>
          <p:cNvSpPr>
            <a:spLocks noGrp="1"/>
          </p:cNvSpPr>
          <p:nvPr>
            <p:ph sz="quarter" idx="1"/>
          </p:nvPr>
        </p:nvSpPr>
        <p:spPr/>
        <p:txBody>
          <a:bodyPr>
            <a:normAutofit fontScale="85000" lnSpcReduction="20000"/>
          </a:bodyPr>
          <a:lstStyle/>
          <a:p>
            <a:pPr algn="l"/>
            <a:r>
              <a:rPr lang="en-US" b="0" i="0" dirty="0">
                <a:solidFill>
                  <a:srgbClr val="0D0D0D"/>
                </a:solidFill>
                <a:effectLst/>
                <a:latin typeface="Söhne"/>
              </a:rPr>
              <a:t>An example of a leader often associated with charisma is Steve Jobs, the co-founder of Apple Inc. Jobs was known for his compelling vision, persuasive communication style, and ability to inspire his team to achieve ambitious goals. His charismatic leadership played a significant role in Apple's success and the development of innovative products.</a:t>
            </a:r>
          </a:p>
          <a:p>
            <a:pPr algn="l"/>
            <a:r>
              <a:rPr lang="en-US" b="0" i="0" dirty="0">
                <a:solidFill>
                  <a:srgbClr val="0D0D0D"/>
                </a:solidFill>
                <a:effectLst/>
                <a:latin typeface="Söhne"/>
              </a:rPr>
              <a:t>It's important to note that trait theories have faced criticism for oversimplifying leadership and neglecting situational and contextual factors. Many contemporary leadership theories incorporate a combination of traits, behaviors, and situational factors to provide a more comprehensive understanding of effective leadership.</a:t>
            </a:r>
          </a:p>
          <a:p>
            <a:endParaRPr lang="en-IN" dirty="0"/>
          </a:p>
        </p:txBody>
      </p:sp>
    </p:spTree>
    <p:extLst>
      <p:ext uri="{BB962C8B-B14F-4D97-AF65-F5344CB8AC3E}">
        <p14:creationId xmlns:p14="http://schemas.microsoft.com/office/powerpoint/2010/main" val="111023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Leadership theories</a:t>
            </a: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21</a:t>
            </a:fld>
            <a:endParaRPr lang="en-US"/>
          </a:p>
        </p:txBody>
      </p:sp>
      <p:sp>
        <p:nvSpPr>
          <p:cNvPr id="5" name="Rectangle 4"/>
          <p:cNvSpPr/>
          <p:nvPr/>
        </p:nvSpPr>
        <p:spPr>
          <a:xfrm>
            <a:off x="685800" y="1628507"/>
            <a:ext cx="8382000" cy="4893647"/>
          </a:xfrm>
          <a:prstGeom prst="rect">
            <a:avLst/>
          </a:prstGeom>
        </p:spPr>
        <p:txBody>
          <a:bodyPr wrap="square">
            <a:spAutoFit/>
          </a:bodyPr>
          <a:lstStyle/>
          <a:p>
            <a:pPr algn="just"/>
            <a:r>
              <a:rPr lang="en-US" sz="2400" b="1" dirty="0">
                <a:latin typeface="Times New Roman" pitchFamily="18" charset="0"/>
                <a:cs typeface="Times New Roman" pitchFamily="18" charset="0"/>
              </a:rPr>
              <a:t>Behavioral Theories of leadership </a:t>
            </a:r>
            <a:r>
              <a:rPr lang="en-US" sz="2400" dirty="0">
                <a:latin typeface="Times New Roman" pitchFamily="18" charset="0"/>
                <a:cs typeface="Times New Roman" pitchFamily="18" charset="0"/>
              </a:rPr>
              <a:t>proposing that specific</a:t>
            </a:r>
          </a:p>
          <a:p>
            <a:pPr algn="just"/>
            <a:r>
              <a:rPr lang="en-US" sz="2400" dirty="0">
                <a:latin typeface="Times New Roman" pitchFamily="18" charset="0"/>
                <a:cs typeface="Times New Roman" pitchFamily="18" charset="0"/>
              </a:rPr>
              <a:t>behaviors differentiate leaders from non-leaders.</a:t>
            </a:r>
          </a:p>
          <a:p>
            <a:pPr algn="just"/>
            <a:endParaRPr lang="en-US" sz="2400" dirty="0">
              <a:latin typeface="Times New Roman" pitchFamily="18" charset="0"/>
              <a:cs typeface="Times New Roman" pitchFamily="18" charset="0"/>
            </a:endParaRPr>
          </a:p>
          <a:p>
            <a:pPr algn="just"/>
            <a:r>
              <a:rPr lang="en-US" sz="2400" i="1" dirty="0">
                <a:latin typeface="Times New Roman" pitchFamily="18" charset="0"/>
                <a:cs typeface="Times New Roman" pitchFamily="18" charset="0"/>
              </a:rPr>
              <a:t>Ohio state studies </a:t>
            </a:r>
            <a:r>
              <a:rPr lang="en-US" sz="2400" dirty="0">
                <a:latin typeface="Times New Roman" pitchFamily="18" charset="0"/>
                <a:cs typeface="Times New Roman" pitchFamily="18" charset="0"/>
              </a:rPr>
              <a:t>proposed 2 leadership behavior described by employees are </a:t>
            </a:r>
            <a:r>
              <a:rPr lang="en-US" sz="2400" b="1" i="1" dirty="0">
                <a:latin typeface="Times New Roman" pitchFamily="18" charset="0"/>
                <a:cs typeface="Times New Roman" pitchFamily="18" charset="0"/>
              </a:rPr>
              <a:t>initiating structure</a:t>
            </a:r>
            <a:r>
              <a:rPr lang="en-US" sz="2400" i="1" dirty="0">
                <a:latin typeface="Times New Roman" pitchFamily="18" charset="0"/>
                <a:cs typeface="Times New Roman" pitchFamily="18" charset="0"/>
              </a:rPr>
              <a:t> </a:t>
            </a:r>
            <a:r>
              <a:rPr lang="en-US" sz="2400" dirty="0">
                <a:latin typeface="Times New Roman" pitchFamily="18" charset="0"/>
                <a:cs typeface="Times New Roman" pitchFamily="18" charset="0"/>
              </a:rPr>
              <a:t>and</a:t>
            </a:r>
            <a:r>
              <a:rPr lang="en-US" sz="2400" i="1" dirty="0">
                <a:latin typeface="Times New Roman" pitchFamily="18" charset="0"/>
                <a:cs typeface="Times New Roman" pitchFamily="18" charset="0"/>
              </a:rPr>
              <a:t> </a:t>
            </a:r>
            <a:r>
              <a:rPr lang="en-US" sz="2400" b="1" i="1" dirty="0">
                <a:latin typeface="Times New Roman" pitchFamily="18" charset="0"/>
                <a:cs typeface="Times New Roman" pitchFamily="18" charset="0"/>
              </a:rPr>
              <a:t>consideration</a:t>
            </a:r>
            <a:r>
              <a:rPr lang="en-US" sz="2400" i="1" dirty="0">
                <a:latin typeface="Times New Roman" pitchFamily="18" charset="0"/>
                <a:cs typeface="Times New Roman" pitchFamily="18" charset="0"/>
              </a:rPr>
              <a:t>.</a:t>
            </a:r>
          </a:p>
          <a:p>
            <a:pPr algn="just"/>
            <a:endParaRPr lang="en-US" sz="2400" i="1" dirty="0">
              <a:latin typeface="Times New Roman" pitchFamily="18" charset="0"/>
              <a:cs typeface="Times New Roman" pitchFamily="18" charset="0"/>
            </a:endParaRPr>
          </a:p>
          <a:p>
            <a:pPr marL="342900" indent="-342900" algn="just">
              <a:buFont typeface="Wingdings" pitchFamily="2" charset="2"/>
              <a:buChar char="ü"/>
            </a:pPr>
            <a:r>
              <a:rPr lang="en-US" sz="2400" b="1" dirty="0">
                <a:latin typeface="Times New Roman" pitchFamily="18" charset="0"/>
                <a:cs typeface="Times New Roman" pitchFamily="18" charset="0"/>
              </a:rPr>
              <a:t>Initiating structure: </a:t>
            </a:r>
            <a:r>
              <a:rPr lang="en-US" sz="2400" dirty="0">
                <a:latin typeface="Times New Roman" pitchFamily="18" charset="0"/>
                <a:cs typeface="Times New Roman" pitchFamily="18" charset="0"/>
              </a:rPr>
              <a:t>The extent to which a leader is likely to define and structure his or her role and those of subordinates in the search for goal attainment.</a:t>
            </a:r>
          </a:p>
          <a:p>
            <a:pPr marL="342900" indent="-342900" algn="just">
              <a:buFont typeface="Wingdings" pitchFamily="2" charset="2"/>
              <a:buChar char="ü"/>
            </a:pPr>
            <a:endParaRPr lang="en-US" sz="2400" dirty="0">
              <a:latin typeface="Times New Roman" pitchFamily="18" charset="0"/>
              <a:cs typeface="Times New Roman" pitchFamily="18" charset="0"/>
            </a:endParaRPr>
          </a:p>
          <a:p>
            <a:pPr marL="342900" indent="-342900" algn="just">
              <a:buFont typeface="Wingdings" pitchFamily="2" charset="2"/>
              <a:buChar char="ü"/>
            </a:pPr>
            <a:r>
              <a:rPr lang="en-US" sz="2400" b="1" dirty="0">
                <a:latin typeface="Times New Roman" pitchFamily="18" charset="0"/>
                <a:cs typeface="Times New Roman" pitchFamily="18" charset="0"/>
              </a:rPr>
              <a:t>Consideration </a:t>
            </a:r>
            <a:r>
              <a:rPr lang="en-US" sz="2400" dirty="0">
                <a:latin typeface="Times New Roman" pitchFamily="18" charset="0"/>
                <a:cs typeface="Times New Roman" pitchFamily="18" charset="0"/>
              </a:rPr>
              <a:t>The extent to which a leader is likely to have job relationships characterized by mutual trust, respect for subordinates’ ideas, and regard for their feelings.</a:t>
            </a:r>
            <a:endParaRPr lang="en-US" sz="24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492197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6BF27-96D8-D428-59E6-771DA55EDEE8}"/>
              </a:ext>
            </a:extLst>
          </p:cNvPr>
          <p:cNvSpPr>
            <a:spLocks noGrp="1"/>
          </p:cNvSpPr>
          <p:nvPr>
            <p:ph type="title"/>
          </p:nvPr>
        </p:nvSpPr>
        <p:spPr>
          <a:xfrm>
            <a:off x="228600" y="-152400"/>
            <a:ext cx="8839200" cy="1371600"/>
          </a:xfrm>
        </p:spPr>
        <p:txBody>
          <a:bodyPr>
            <a:noAutofit/>
          </a:bodyPr>
          <a:lstStyle/>
          <a:p>
            <a:br>
              <a:rPr lang="en-US" sz="2000" b="1" i="0" dirty="0">
                <a:solidFill>
                  <a:srgbClr val="0D0D0D"/>
                </a:solidFill>
                <a:effectLst/>
                <a:latin typeface="Söhne"/>
              </a:rPr>
            </a:br>
            <a:br>
              <a:rPr lang="en-US" sz="2000" b="1" i="0" dirty="0">
                <a:solidFill>
                  <a:srgbClr val="0D0D0D"/>
                </a:solidFill>
                <a:effectLst/>
                <a:latin typeface="Söhne"/>
              </a:rPr>
            </a:br>
            <a:r>
              <a:rPr lang="en-US" sz="2000" b="1" i="0" dirty="0">
                <a:solidFill>
                  <a:srgbClr val="0D0D0D"/>
                </a:solidFill>
                <a:effectLst/>
                <a:latin typeface="Söhne"/>
              </a:rPr>
              <a:t>Example: Team Project in a Software Development Company</a:t>
            </a:r>
            <a:br>
              <a:rPr lang="en-US" sz="2000" b="0" i="0" dirty="0">
                <a:solidFill>
                  <a:srgbClr val="0D0D0D"/>
                </a:solidFill>
                <a:effectLst/>
                <a:latin typeface="Söhne"/>
              </a:rPr>
            </a:br>
            <a:r>
              <a:rPr lang="en-US" sz="2000" b="0" i="0" dirty="0">
                <a:solidFill>
                  <a:srgbClr val="0D0D0D"/>
                </a:solidFill>
                <a:effectLst/>
                <a:latin typeface="Söhne"/>
              </a:rPr>
              <a:t>Imagine a software development team working on a critical project. The team is led by two different managers, each demonstrating distinct leadership behaviors.</a:t>
            </a:r>
            <a:br>
              <a:rPr lang="en-US" sz="2000" b="0" i="0" dirty="0">
                <a:solidFill>
                  <a:srgbClr val="0D0D0D"/>
                </a:solidFill>
                <a:effectLst/>
                <a:latin typeface="Söhne"/>
              </a:rPr>
            </a:br>
            <a:endParaRPr lang="en-IN" sz="2000" dirty="0"/>
          </a:p>
        </p:txBody>
      </p:sp>
      <p:sp>
        <p:nvSpPr>
          <p:cNvPr id="3" name="Slide Number Placeholder 2">
            <a:extLst>
              <a:ext uri="{FF2B5EF4-FFF2-40B4-BE49-F238E27FC236}">
                <a16:creationId xmlns:a16="http://schemas.microsoft.com/office/drawing/2014/main" id="{93E8C274-A5A7-068A-8F3D-A8875D3C6609}"/>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22</a:t>
            </a:fld>
            <a:endParaRPr lang="en-US"/>
          </a:p>
        </p:txBody>
      </p:sp>
      <p:sp>
        <p:nvSpPr>
          <p:cNvPr id="4" name="Content Placeholder 3">
            <a:extLst>
              <a:ext uri="{FF2B5EF4-FFF2-40B4-BE49-F238E27FC236}">
                <a16:creationId xmlns:a16="http://schemas.microsoft.com/office/drawing/2014/main" id="{E532D2EB-6D93-EB75-3DE5-55D55DD903EB}"/>
              </a:ext>
            </a:extLst>
          </p:cNvPr>
          <p:cNvSpPr>
            <a:spLocks noGrp="1"/>
          </p:cNvSpPr>
          <p:nvPr>
            <p:ph sz="quarter" idx="1"/>
          </p:nvPr>
        </p:nvSpPr>
        <p:spPr>
          <a:xfrm>
            <a:off x="228600" y="1600200"/>
            <a:ext cx="8686800" cy="5257800"/>
          </a:xfrm>
        </p:spPr>
        <p:txBody>
          <a:bodyPr>
            <a:normAutofit fontScale="25000" lnSpcReduction="20000"/>
          </a:bodyPr>
          <a:lstStyle/>
          <a:p>
            <a:pPr algn="just">
              <a:buFont typeface="+mj-lt"/>
              <a:buAutoNum type="arabicPeriod"/>
            </a:pPr>
            <a:r>
              <a:rPr lang="en-US" sz="6400" b="1" i="0" dirty="0">
                <a:solidFill>
                  <a:srgbClr val="0D0D0D"/>
                </a:solidFill>
                <a:effectLst/>
                <a:latin typeface="Söhne"/>
              </a:rPr>
              <a:t>Initiating Structure:</a:t>
            </a:r>
            <a:endParaRPr lang="en-US" sz="6400" b="0" i="0" dirty="0">
              <a:solidFill>
                <a:srgbClr val="0D0D0D"/>
              </a:solidFill>
              <a:effectLst/>
              <a:latin typeface="Söhne"/>
            </a:endParaRPr>
          </a:p>
          <a:p>
            <a:pPr marL="457200" lvl="1" indent="0" algn="just">
              <a:buNone/>
            </a:pPr>
            <a:r>
              <a:rPr lang="en-US" sz="6400" b="0" i="1" dirty="0">
                <a:solidFill>
                  <a:srgbClr val="0D0D0D"/>
                </a:solidFill>
                <a:effectLst/>
                <a:latin typeface="Söhne"/>
              </a:rPr>
              <a:t>Scenario:</a:t>
            </a:r>
            <a:r>
              <a:rPr lang="en-US" sz="6400" b="0" i="0" dirty="0">
                <a:solidFill>
                  <a:srgbClr val="0D0D0D"/>
                </a:solidFill>
                <a:effectLst/>
                <a:latin typeface="Söhne"/>
              </a:rPr>
              <a:t> Manager A is high on initiating structure. They believe in clearly defining roles, setting specific tasks and deadlines, and providing detailed instructions on how the project should proceed. Manager A organizes regular team meetings to discuss project milestones, allocates responsibilities, and closely monitors progress through structured reports.</a:t>
            </a:r>
          </a:p>
          <a:p>
            <a:pPr marL="457200" lvl="1" indent="0" algn="just">
              <a:buNone/>
            </a:pPr>
            <a:r>
              <a:rPr lang="en-US" sz="6400" b="0" i="1" dirty="0">
                <a:solidFill>
                  <a:srgbClr val="0D0D0D"/>
                </a:solidFill>
                <a:effectLst/>
                <a:latin typeface="Söhne"/>
              </a:rPr>
              <a:t>Impact:</a:t>
            </a:r>
            <a:r>
              <a:rPr lang="en-US" sz="6400" b="0" i="0" dirty="0">
                <a:solidFill>
                  <a:srgbClr val="0D0D0D"/>
                </a:solidFill>
                <a:effectLst/>
                <a:latin typeface="Söhne"/>
              </a:rPr>
              <a:t> The team members under Manager A have a clear understanding of their roles and the overall project structure. There is a sense of order and efficiency in the workflow. However, Manager A's leadership style may also be perceived as rigid, and some team members might feel micromanaged.</a:t>
            </a:r>
          </a:p>
          <a:p>
            <a:pPr algn="just">
              <a:buFont typeface="+mj-lt"/>
              <a:buAutoNum type="arabicPeriod"/>
            </a:pPr>
            <a:r>
              <a:rPr lang="en-US" sz="6400" b="1" i="0" dirty="0">
                <a:solidFill>
                  <a:srgbClr val="0D0D0D"/>
                </a:solidFill>
                <a:effectLst/>
                <a:latin typeface="Söhne"/>
              </a:rPr>
              <a:t>Consideration:</a:t>
            </a:r>
            <a:endParaRPr lang="en-US" sz="6400" b="0" i="0" dirty="0">
              <a:solidFill>
                <a:srgbClr val="0D0D0D"/>
              </a:solidFill>
              <a:effectLst/>
              <a:latin typeface="Söhne"/>
            </a:endParaRPr>
          </a:p>
          <a:p>
            <a:pPr marL="457200" lvl="1" indent="0" algn="just">
              <a:buNone/>
            </a:pPr>
            <a:r>
              <a:rPr lang="en-US" sz="6400" b="0" i="1" dirty="0">
                <a:solidFill>
                  <a:srgbClr val="0D0D0D"/>
                </a:solidFill>
                <a:effectLst/>
                <a:latin typeface="Söhne"/>
              </a:rPr>
              <a:t>Scenario:</a:t>
            </a:r>
            <a:r>
              <a:rPr lang="en-US" sz="6400" b="0" i="0" dirty="0">
                <a:solidFill>
                  <a:srgbClr val="0D0D0D"/>
                </a:solidFill>
                <a:effectLst/>
                <a:latin typeface="Söhne"/>
              </a:rPr>
              <a:t> Manager B is high on consideration. They value building positive relationships with team members. Manager B is approachable, listens actively to team members' ideas and concerns, and fosters an open and collaborative environment. Manager B encourages team members to share their thoughts, provides positive feedback, and considers individual preferences and feelings when making decisions.</a:t>
            </a:r>
          </a:p>
          <a:p>
            <a:pPr marL="457200" lvl="1" indent="0" algn="just">
              <a:buNone/>
            </a:pPr>
            <a:r>
              <a:rPr lang="en-US" sz="6400" b="0" i="1" dirty="0">
                <a:solidFill>
                  <a:srgbClr val="0D0D0D"/>
                </a:solidFill>
                <a:effectLst/>
                <a:latin typeface="Söhne"/>
              </a:rPr>
              <a:t>Impact:</a:t>
            </a:r>
            <a:r>
              <a:rPr lang="en-US" sz="6400" b="0" i="0" dirty="0">
                <a:solidFill>
                  <a:srgbClr val="0D0D0D"/>
                </a:solidFill>
                <a:effectLst/>
                <a:latin typeface="Söhne"/>
              </a:rPr>
              <a:t> The team members under Manager B feel a sense of trust and mutual respect. There is a positive and supportive team culture, and employees feel comfortable sharing their ideas. However, there might be challenges in terms of maintaining strict project timelines, and some team members may desire more explicit guidance.</a:t>
            </a:r>
          </a:p>
          <a:p>
            <a:pPr algn="just"/>
            <a:r>
              <a:rPr lang="en-US" sz="6400" b="0" i="0" dirty="0">
                <a:solidFill>
                  <a:srgbClr val="0D0D0D"/>
                </a:solidFill>
                <a:effectLst/>
                <a:latin typeface="Söhne"/>
              </a:rPr>
              <a:t>These scenarios illustrate the contrasting behaviors associated with initiating structure and consideration. Effective leadership often involves finding a balance between the two dimensions, and adapting the leadership style to the needs of the situation and the team. The Ohio State Studies, along with similar behavioral theories, emphasize that successful leaders can display a combination of initiating structure and consideration depending on the context and the individuals involved.</a:t>
            </a:r>
          </a:p>
          <a:p>
            <a:endParaRPr lang="en-IN" dirty="0"/>
          </a:p>
        </p:txBody>
      </p:sp>
    </p:spTree>
    <p:extLst>
      <p:ext uri="{BB962C8B-B14F-4D97-AF65-F5344CB8AC3E}">
        <p14:creationId xmlns:p14="http://schemas.microsoft.com/office/powerpoint/2010/main" val="30496328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Leadership theories</a:t>
            </a: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23</a:t>
            </a:fld>
            <a:endParaRPr lang="en-US"/>
          </a:p>
        </p:txBody>
      </p:sp>
      <p:sp>
        <p:nvSpPr>
          <p:cNvPr id="5" name="Rectangle 4"/>
          <p:cNvSpPr/>
          <p:nvPr/>
        </p:nvSpPr>
        <p:spPr>
          <a:xfrm>
            <a:off x="685800" y="1628507"/>
            <a:ext cx="8382000" cy="3416320"/>
          </a:xfrm>
          <a:prstGeom prst="rect">
            <a:avLst/>
          </a:prstGeom>
        </p:spPr>
        <p:txBody>
          <a:bodyPr wrap="square">
            <a:spAutoFit/>
          </a:bodyPr>
          <a:lstStyle/>
          <a:p>
            <a:r>
              <a:rPr lang="en-US" sz="2400" i="1" dirty="0">
                <a:latin typeface="Times New Roman" pitchFamily="18" charset="0"/>
                <a:cs typeface="Times New Roman" pitchFamily="18" charset="0"/>
              </a:rPr>
              <a:t>Michigan group </a:t>
            </a:r>
            <a:r>
              <a:rPr lang="en-US" sz="2400" dirty="0">
                <a:latin typeface="Times New Roman" pitchFamily="18" charset="0"/>
                <a:cs typeface="Times New Roman" pitchFamily="18" charset="0"/>
              </a:rPr>
              <a:t>identified two behavioral types: the </a:t>
            </a:r>
            <a:r>
              <a:rPr lang="en-US" sz="2400" b="1" dirty="0">
                <a:latin typeface="Times New Roman" pitchFamily="18" charset="0"/>
                <a:cs typeface="Times New Roman" pitchFamily="18" charset="0"/>
              </a:rPr>
              <a:t>employee-oriented Leader </a:t>
            </a:r>
            <a:r>
              <a:rPr lang="en-US" sz="2400" dirty="0">
                <a:latin typeface="Times New Roman" pitchFamily="18" charset="0"/>
                <a:cs typeface="Times New Roman" pitchFamily="18" charset="0"/>
              </a:rPr>
              <a:t>and the </a:t>
            </a:r>
            <a:r>
              <a:rPr lang="en-US" sz="2400" b="1" dirty="0">
                <a:latin typeface="Times New Roman" pitchFamily="18" charset="0"/>
                <a:cs typeface="Times New Roman" pitchFamily="18" charset="0"/>
              </a:rPr>
              <a:t>production-oriented leader </a:t>
            </a:r>
          </a:p>
          <a:p>
            <a:endParaRPr lang="en-US" sz="2400" b="1" dirty="0">
              <a:latin typeface="Times New Roman" pitchFamily="18" charset="0"/>
              <a:cs typeface="Times New Roman" pitchFamily="18" charset="0"/>
            </a:endParaRPr>
          </a:p>
          <a:p>
            <a:pPr marL="342900" indent="-342900" algn="just">
              <a:buFont typeface="Wingdings" pitchFamily="2" charset="2"/>
              <a:buChar char="ü"/>
            </a:pPr>
            <a:r>
              <a:rPr lang="en-US" sz="2400" b="1" dirty="0">
                <a:latin typeface="Times New Roman" pitchFamily="18" charset="0"/>
                <a:cs typeface="Times New Roman" pitchFamily="18" charset="0"/>
              </a:rPr>
              <a:t>Employee-oriented leader </a:t>
            </a:r>
            <a:r>
              <a:rPr lang="en-US" sz="2400" dirty="0">
                <a:latin typeface="Times New Roman" pitchFamily="18" charset="0"/>
                <a:cs typeface="Times New Roman" pitchFamily="18" charset="0"/>
              </a:rPr>
              <a:t>A leader who emphasizes interpersonal relations, takes a personal interest in the needs of employees, and accepts individual differences among members.</a:t>
            </a:r>
          </a:p>
          <a:p>
            <a:pPr algn="just"/>
            <a:endParaRPr lang="en-US" sz="2400" dirty="0">
              <a:latin typeface="Times New Roman" pitchFamily="18" charset="0"/>
              <a:cs typeface="Times New Roman" pitchFamily="18" charset="0"/>
            </a:endParaRPr>
          </a:p>
          <a:p>
            <a:pPr marL="342900" indent="-342900" algn="just">
              <a:buFont typeface="Wingdings" pitchFamily="2" charset="2"/>
              <a:buChar char="ü"/>
            </a:pPr>
            <a:r>
              <a:rPr lang="en-US" sz="2400" b="1" dirty="0">
                <a:latin typeface="Times New Roman" pitchFamily="18" charset="0"/>
                <a:cs typeface="Times New Roman" pitchFamily="18" charset="0"/>
              </a:rPr>
              <a:t>Production-oriented leader </a:t>
            </a:r>
            <a:r>
              <a:rPr lang="en-US" sz="2400" dirty="0">
                <a:latin typeface="Times New Roman" pitchFamily="18" charset="0"/>
                <a:cs typeface="Times New Roman" pitchFamily="18" charset="0"/>
              </a:rPr>
              <a:t>A leader who emphasizes technical or task aspects of the job.</a:t>
            </a:r>
            <a:endParaRPr lang="en-US" sz="24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625733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DC9B3F7-94B6-B577-DC8D-76544A9EA616}"/>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24</a:t>
            </a:fld>
            <a:endParaRPr lang="en-US"/>
          </a:p>
        </p:txBody>
      </p:sp>
      <p:sp>
        <p:nvSpPr>
          <p:cNvPr id="4" name="Content Placeholder 3">
            <a:extLst>
              <a:ext uri="{FF2B5EF4-FFF2-40B4-BE49-F238E27FC236}">
                <a16:creationId xmlns:a16="http://schemas.microsoft.com/office/drawing/2014/main" id="{3D5BB55D-ED9F-82D3-72DC-C9BE067AA036}"/>
              </a:ext>
            </a:extLst>
          </p:cNvPr>
          <p:cNvSpPr>
            <a:spLocks noGrp="1"/>
          </p:cNvSpPr>
          <p:nvPr>
            <p:ph sz="quarter" idx="1"/>
          </p:nvPr>
        </p:nvSpPr>
        <p:spPr/>
        <p:txBody>
          <a:bodyPr>
            <a:normAutofit fontScale="77500" lnSpcReduction="20000"/>
          </a:bodyPr>
          <a:lstStyle/>
          <a:p>
            <a:pPr algn="l"/>
            <a:r>
              <a:rPr lang="en-US" b="1" i="0" dirty="0">
                <a:solidFill>
                  <a:srgbClr val="0D0D0D"/>
                </a:solidFill>
                <a:effectLst/>
                <a:latin typeface="Söhne"/>
              </a:rPr>
              <a:t>Example: Manufacturing Plant Management</a:t>
            </a:r>
            <a:endParaRPr lang="en-US" b="0" i="0" dirty="0">
              <a:solidFill>
                <a:srgbClr val="0D0D0D"/>
              </a:solidFill>
              <a:effectLst/>
              <a:latin typeface="Söhne"/>
            </a:endParaRPr>
          </a:p>
          <a:p>
            <a:pPr algn="l">
              <a:buFont typeface="+mj-lt"/>
              <a:buAutoNum type="arabicPeriod"/>
            </a:pPr>
            <a:r>
              <a:rPr lang="en-US" b="1" i="0" dirty="0">
                <a:solidFill>
                  <a:srgbClr val="0D0D0D"/>
                </a:solidFill>
                <a:effectLst/>
                <a:latin typeface="Söhne"/>
              </a:rPr>
              <a:t>Employee-Oriented Leader (Supervisor A):</a:t>
            </a:r>
            <a:endParaRPr lang="en-US" b="0" i="0" dirty="0">
              <a:solidFill>
                <a:srgbClr val="0D0D0D"/>
              </a:solidFill>
              <a:effectLst/>
              <a:latin typeface="Söhne"/>
            </a:endParaRPr>
          </a:p>
          <a:p>
            <a:pPr marL="457200" lvl="1" indent="0" algn="l">
              <a:buNone/>
            </a:pPr>
            <a:r>
              <a:rPr lang="en-US" b="0" i="0" dirty="0">
                <a:solidFill>
                  <a:srgbClr val="0D0D0D"/>
                </a:solidFill>
                <a:effectLst/>
                <a:latin typeface="Söhne"/>
              </a:rPr>
              <a:t>Prioritizes interpersonal relations.</a:t>
            </a:r>
          </a:p>
          <a:p>
            <a:pPr marL="457200" lvl="1" indent="0" algn="l">
              <a:buNone/>
            </a:pPr>
            <a:r>
              <a:rPr lang="en-US" b="0" i="0" dirty="0">
                <a:solidFill>
                  <a:srgbClr val="0D0D0D"/>
                </a:solidFill>
                <a:effectLst/>
                <a:latin typeface="Söhne"/>
              </a:rPr>
              <a:t>Takes a personal interest in employees' well-being.</a:t>
            </a:r>
          </a:p>
          <a:p>
            <a:pPr marL="457200" lvl="1" indent="0" algn="l">
              <a:buNone/>
            </a:pPr>
            <a:r>
              <a:rPr lang="en-US" b="0" i="0" dirty="0">
                <a:solidFill>
                  <a:srgbClr val="0D0D0D"/>
                </a:solidFill>
                <a:effectLst/>
                <a:latin typeface="Söhne"/>
              </a:rPr>
              <a:t>Fosters a positive work environment with strong team cohesion.</a:t>
            </a:r>
          </a:p>
          <a:p>
            <a:pPr algn="l">
              <a:buFont typeface="+mj-lt"/>
              <a:buAutoNum type="arabicPeriod"/>
            </a:pPr>
            <a:r>
              <a:rPr lang="en-US" b="1" i="0" dirty="0">
                <a:solidFill>
                  <a:srgbClr val="0D0D0D"/>
                </a:solidFill>
                <a:effectLst/>
                <a:latin typeface="Söhne"/>
              </a:rPr>
              <a:t>Production-Oriented Leader (Supervisor B):</a:t>
            </a:r>
            <a:endParaRPr lang="en-US" b="0" i="0" dirty="0">
              <a:solidFill>
                <a:srgbClr val="0D0D0D"/>
              </a:solidFill>
              <a:effectLst/>
              <a:latin typeface="Söhne"/>
            </a:endParaRPr>
          </a:p>
          <a:p>
            <a:pPr marL="457200" lvl="1" indent="0" algn="l">
              <a:buNone/>
            </a:pPr>
            <a:r>
              <a:rPr lang="en-US" b="0" i="0" dirty="0">
                <a:solidFill>
                  <a:srgbClr val="0D0D0D"/>
                </a:solidFill>
                <a:effectLst/>
                <a:latin typeface="Söhne"/>
              </a:rPr>
              <a:t>Prioritizes technical and task aspects.</a:t>
            </a:r>
          </a:p>
          <a:p>
            <a:pPr marL="457200" lvl="1" indent="0" algn="l">
              <a:buNone/>
            </a:pPr>
            <a:r>
              <a:rPr lang="en-US" b="0" i="0" dirty="0">
                <a:solidFill>
                  <a:srgbClr val="0D0D0D"/>
                </a:solidFill>
                <a:effectLst/>
                <a:latin typeface="Söhne"/>
              </a:rPr>
              <a:t>Focuses on efficiency and clear performance expectations.</a:t>
            </a:r>
          </a:p>
          <a:p>
            <a:pPr marL="457200" lvl="1" indent="0" algn="l">
              <a:buNone/>
            </a:pPr>
            <a:r>
              <a:rPr lang="en-US" b="0" i="0" dirty="0">
                <a:solidFill>
                  <a:srgbClr val="0D0D0D"/>
                </a:solidFill>
                <a:effectLst/>
                <a:latin typeface="Söhne"/>
              </a:rPr>
              <a:t>Operates within a highly structured and efficient system.</a:t>
            </a:r>
          </a:p>
          <a:p>
            <a:pPr algn="l"/>
            <a:r>
              <a:rPr lang="en-US" b="0" i="0" dirty="0">
                <a:solidFill>
                  <a:srgbClr val="0D0D0D"/>
                </a:solidFill>
                <a:effectLst/>
                <a:latin typeface="Söhne"/>
              </a:rPr>
              <a:t>In this scenario, the employee-oriented leader emphasizes team relationships, while the production-oriented leader prioritizes task efficiency. Effective leadership often involves balancing both aspects for a well-rounded and successful team.</a:t>
            </a:r>
          </a:p>
          <a:p>
            <a:endParaRPr lang="en-IN" dirty="0"/>
          </a:p>
        </p:txBody>
      </p:sp>
    </p:spTree>
    <p:extLst>
      <p:ext uri="{BB962C8B-B14F-4D97-AF65-F5344CB8AC3E}">
        <p14:creationId xmlns:p14="http://schemas.microsoft.com/office/powerpoint/2010/main" val="2266833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Leadership theories</a:t>
            </a:r>
            <a:endParaRPr lang="en-US"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25</a:t>
            </a:fld>
            <a:endParaRPr lang="en-US"/>
          </a:p>
        </p:txBody>
      </p:sp>
      <p:sp>
        <p:nvSpPr>
          <p:cNvPr id="5" name="Rectangle 4"/>
          <p:cNvSpPr/>
          <p:nvPr/>
        </p:nvSpPr>
        <p:spPr>
          <a:xfrm>
            <a:off x="685800" y="1600200"/>
            <a:ext cx="8077200" cy="4985980"/>
          </a:xfrm>
          <a:prstGeom prst="rect">
            <a:avLst/>
          </a:prstGeom>
        </p:spPr>
        <p:txBody>
          <a:bodyPr wrap="square">
            <a:spAutoFit/>
          </a:bodyPr>
          <a:lstStyle/>
          <a:p>
            <a:pPr algn="ctr"/>
            <a:r>
              <a:rPr lang="en-US" sz="2400" b="1" dirty="0"/>
              <a:t>Managerial Grid</a:t>
            </a:r>
          </a:p>
          <a:p>
            <a:pPr marL="342900" indent="-342900" algn="just">
              <a:lnSpc>
                <a:spcPct val="150000"/>
              </a:lnSpc>
              <a:buFont typeface="Wingdings" pitchFamily="2" charset="2"/>
              <a:buChar char="Ø"/>
            </a:pPr>
            <a:r>
              <a:rPr lang="en-US" sz="2000" dirty="0">
                <a:latin typeface="Times New Roman" pitchFamily="18" charset="0"/>
                <a:cs typeface="Times New Roman" pitchFamily="18" charset="0"/>
              </a:rPr>
              <a:t>Robert Blake and Jane Mouton (1960s) proposed a graphic portrayal of leadership styles through a </a:t>
            </a:r>
            <a:r>
              <a:rPr lang="en-US" sz="2000" b="1" dirty="0">
                <a:latin typeface="Times New Roman" pitchFamily="18" charset="0"/>
                <a:cs typeface="Times New Roman" pitchFamily="18" charset="0"/>
              </a:rPr>
              <a:t>managerial grid</a:t>
            </a:r>
            <a:r>
              <a:rPr lang="en-US" sz="2000" dirty="0">
                <a:latin typeface="Times New Roman" pitchFamily="18" charset="0"/>
                <a:cs typeface="Times New Roman" pitchFamily="18" charset="0"/>
              </a:rPr>
              <a:t> (sometimes called </a:t>
            </a:r>
            <a:r>
              <a:rPr lang="en-US" sz="2000" i="1" dirty="0">
                <a:latin typeface="Times New Roman" pitchFamily="18" charset="0"/>
                <a:cs typeface="Times New Roman" pitchFamily="18" charset="0"/>
              </a:rPr>
              <a:t>leadership grid</a:t>
            </a:r>
            <a:r>
              <a:rPr lang="en-US" sz="2000" dirty="0">
                <a:latin typeface="Times New Roman" pitchFamily="18" charset="0"/>
                <a:cs typeface="Times New Roman" pitchFamily="18" charset="0"/>
              </a:rPr>
              <a:t>). </a:t>
            </a:r>
          </a:p>
          <a:p>
            <a:pPr marL="342900" indent="-342900" algn="just">
              <a:lnSpc>
                <a:spcPct val="150000"/>
              </a:lnSpc>
              <a:buFont typeface="Wingdings" pitchFamily="2" charset="2"/>
              <a:buChar char="Ø"/>
            </a:pPr>
            <a:r>
              <a:rPr lang="en-US" sz="2000" dirty="0">
                <a:latin typeface="Times New Roman" pitchFamily="18" charset="0"/>
                <a:cs typeface="Times New Roman" pitchFamily="18" charset="0"/>
              </a:rPr>
              <a:t>The grid depicted two dimensions of leader behavior, </a:t>
            </a:r>
            <a:r>
              <a:rPr lang="en-US" sz="2000" b="1" dirty="0">
                <a:latin typeface="Times New Roman" pitchFamily="18" charset="0"/>
                <a:cs typeface="Times New Roman" pitchFamily="18" charset="0"/>
              </a:rPr>
              <a:t>concern for people</a:t>
            </a:r>
            <a:r>
              <a:rPr lang="en-US" sz="2000" dirty="0">
                <a:latin typeface="Times New Roman" pitchFamily="18" charset="0"/>
                <a:cs typeface="Times New Roman" pitchFamily="18" charset="0"/>
              </a:rPr>
              <a:t> (accommodating people’s needs and giving them priority) on y-axis and </a:t>
            </a:r>
            <a:r>
              <a:rPr lang="en-US" sz="2000" b="1" dirty="0">
                <a:latin typeface="Times New Roman" pitchFamily="18" charset="0"/>
                <a:cs typeface="Times New Roman" pitchFamily="18" charset="0"/>
              </a:rPr>
              <a:t>concern for production</a:t>
            </a:r>
            <a:r>
              <a:rPr lang="en-US" sz="2000" dirty="0">
                <a:latin typeface="Times New Roman" pitchFamily="18" charset="0"/>
                <a:cs typeface="Times New Roman" pitchFamily="18" charset="0"/>
              </a:rPr>
              <a:t> (keeping tight schedules) on x-axis, with each dimension ranging from low (1) to high (9), thus creating 81 different positions in which the leader’s style may fall. </a:t>
            </a:r>
          </a:p>
          <a:p>
            <a:pPr algn="just"/>
            <a:endParaRPr lang="en-US" dirty="0"/>
          </a:p>
          <a:p>
            <a:pPr algn="just"/>
            <a:br>
              <a:rPr lang="en-US" dirty="0"/>
            </a:br>
            <a:endParaRPr lang="en-US" dirty="0"/>
          </a:p>
        </p:txBody>
      </p:sp>
    </p:spTree>
    <p:extLst>
      <p:ext uri="{BB962C8B-B14F-4D97-AF65-F5344CB8AC3E}">
        <p14:creationId xmlns:p14="http://schemas.microsoft.com/office/powerpoint/2010/main" val="2665197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26</a:t>
            </a:fld>
            <a:endParaRPr lang="en-US"/>
          </a:p>
        </p:txBody>
      </p:sp>
      <p:pic>
        <p:nvPicPr>
          <p:cNvPr id="1026" name="Picture 2" descr="Blake and Mouton Managerial Grid EXPLAINED with EXAMPLES | B2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04800"/>
            <a:ext cx="8686800" cy="59436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572000" y="4191000"/>
            <a:ext cx="2895600" cy="83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PRODUCE OR PERISH/ TASK MANAGEMENT</a:t>
            </a:r>
          </a:p>
        </p:txBody>
      </p:sp>
    </p:spTree>
    <p:extLst>
      <p:ext uri="{BB962C8B-B14F-4D97-AF65-F5344CB8AC3E}">
        <p14:creationId xmlns:p14="http://schemas.microsoft.com/office/powerpoint/2010/main" val="1317788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4E5B6F"/>
                </a:solidFill>
              </a:rPr>
              <a:t>Leadership theories</a:t>
            </a:r>
            <a:endParaRPr lang="en-US"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27</a:t>
            </a:fld>
            <a:endParaRPr lang="en-US"/>
          </a:p>
        </p:txBody>
      </p:sp>
      <p:sp>
        <p:nvSpPr>
          <p:cNvPr id="5" name="Rectangle 4"/>
          <p:cNvSpPr/>
          <p:nvPr/>
        </p:nvSpPr>
        <p:spPr>
          <a:xfrm>
            <a:off x="609600" y="1601986"/>
            <a:ext cx="8077200" cy="4647426"/>
          </a:xfrm>
          <a:prstGeom prst="rect">
            <a:avLst/>
          </a:prstGeom>
        </p:spPr>
        <p:txBody>
          <a:bodyPr wrap="square">
            <a:spAutoFit/>
          </a:bodyPr>
          <a:lstStyle/>
          <a:p>
            <a:pPr algn="ctr"/>
            <a:r>
              <a:rPr lang="en-US" sz="2000" b="1" dirty="0">
                <a:latin typeface="Times New Roman" pitchFamily="18" charset="0"/>
                <a:cs typeface="Times New Roman" pitchFamily="18" charset="0"/>
              </a:rPr>
              <a:t>Managerial Grid</a:t>
            </a:r>
          </a:p>
          <a:p>
            <a:pPr algn="just"/>
            <a:r>
              <a:rPr lang="en-US" sz="2000" dirty="0">
                <a:latin typeface="Times New Roman" pitchFamily="18" charset="0"/>
                <a:cs typeface="Times New Roman" pitchFamily="18" charset="0"/>
              </a:rPr>
              <a:t>The five resulting leadership styles are as follows:</a:t>
            </a:r>
          </a:p>
          <a:p>
            <a:pPr algn="just"/>
            <a:endParaRPr lang="en-US" sz="2000" dirty="0">
              <a:latin typeface="Times New Roman" pitchFamily="18" charset="0"/>
              <a:cs typeface="Times New Roman" pitchFamily="18" charset="0"/>
            </a:endParaRPr>
          </a:p>
          <a:p>
            <a:pPr marL="457200" indent="-457200" algn="just">
              <a:buFont typeface="+mj-lt"/>
              <a:buAutoNum type="arabicPeriod"/>
            </a:pPr>
            <a:r>
              <a:rPr lang="en-US" sz="2000" b="1" dirty="0">
                <a:latin typeface="Times New Roman" pitchFamily="18" charset="0"/>
                <a:cs typeface="Times New Roman" pitchFamily="18" charset="0"/>
              </a:rPr>
              <a:t>Impoverished Management (1, 1):</a:t>
            </a:r>
            <a:r>
              <a:rPr lang="en-US" sz="2000" dirty="0">
                <a:latin typeface="Times New Roman" pitchFamily="18" charset="0"/>
                <a:cs typeface="Times New Roman" pitchFamily="18" charset="0"/>
              </a:rPr>
              <a:t> </a:t>
            </a:r>
          </a:p>
          <a:p>
            <a:pPr marL="342900" indent="-342900" algn="just">
              <a:buFont typeface="Wingdings" pitchFamily="2" charset="2"/>
              <a:buChar char="Ø"/>
            </a:pPr>
            <a:r>
              <a:rPr lang="en-US" sz="2000" dirty="0">
                <a:latin typeface="Times New Roman" pitchFamily="18" charset="0"/>
                <a:cs typeface="Times New Roman" pitchFamily="18" charset="0"/>
              </a:rPr>
              <a:t>Managers with this approach are low on both the dimensions and exercise minimum effort to get the work done from subordinates.</a:t>
            </a:r>
          </a:p>
          <a:p>
            <a:pPr marL="342900" indent="-342900" algn="just">
              <a:buFont typeface="Wingdings" pitchFamily="2" charset="2"/>
              <a:buChar char="Ø"/>
            </a:pPr>
            <a:endParaRPr lang="en-US" sz="2000" dirty="0">
              <a:latin typeface="Times New Roman" pitchFamily="18" charset="0"/>
              <a:cs typeface="Times New Roman" pitchFamily="18" charset="0"/>
            </a:endParaRPr>
          </a:p>
          <a:p>
            <a:pPr marL="342900" indent="-342900" algn="just">
              <a:buFont typeface="Wingdings" pitchFamily="2" charset="2"/>
              <a:buChar char="Ø"/>
            </a:pPr>
            <a:r>
              <a:rPr lang="en-US" sz="2000" dirty="0">
                <a:latin typeface="Times New Roman" pitchFamily="18" charset="0"/>
                <a:cs typeface="Times New Roman" pitchFamily="18" charset="0"/>
              </a:rPr>
              <a:t>The leader has low concern for employee satisfaction and work deadlines and as a result disharmony and disorganization prevail within the organization. </a:t>
            </a:r>
          </a:p>
          <a:p>
            <a:pPr marL="342900" indent="-342900" algn="just">
              <a:buFont typeface="Wingdings" pitchFamily="2" charset="2"/>
              <a:buChar char="Ø"/>
            </a:pPr>
            <a:endParaRPr lang="en-US" sz="2000" dirty="0">
              <a:latin typeface="Times New Roman" pitchFamily="18" charset="0"/>
              <a:cs typeface="Times New Roman" pitchFamily="18" charset="0"/>
            </a:endParaRPr>
          </a:p>
          <a:p>
            <a:pPr marL="342900" indent="-342900" algn="just">
              <a:buFont typeface="Wingdings" pitchFamily="2" charset="2"/>
              <a:buChar char="Ø"/>
            </a:pPr>
            <a:r>
              <a:rPr lang="en-US" sz="2000" dirty="0">
                <a:latin typeface="Times New Roman" pitchFamily="18" charset="0"/>
                <a:cs typeface="Times New Roman" pitchFamily="18" charset="0"/>
              </a:rPr>
              <a:t>The leaders are termed ineffective wherein their action is merely aimed at preserving job and seniority.</a:t>
            </a:r>
          </a:p>
          <a:p>
            <a:br>
              <a:rPr lang="en-US" dirty="0"/>
            </a:br>
            <a:endParaRPr lang="en-US" b="1" dirty="0"/>
          </a:p>
        </p:txBody>
      </p:sp>
    </p:spTree>
    <p:extLst>
      <p:ext uri="{BB962C8B-B14F-4D97-AF65-F5344CB8AC3E}">
        <p14:creationId xmlns:p14="http://schemas.microsoft.com/office/powerpoint/2010/main" val="3950397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4E5B6F"/>
                </a:solidFill>
              </a:rPr>
              <a:t>Leadership theories</a:t>
            </a:r>
            <a:endParaRPr lang="en-US"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28</a:t>
            </a:fld>
            <a:endParaRPr lang="en-US"/>
          </a:p>
        </p:txBody>
      </p:sp>
      <p:sp>
        <p:nvSpPr>
          <p:cNvPr id="5" name="Rectangle 4"/>
          <p:cNvSpPr/>
          <p:nvPr/>
        </p:nvSpPr>
        <p:spPr>
          <a:xfrm>
            <a:off x="609600" y="1601986"/>
            <a:ext cx="8077200" cy="4401205"/>
          </a:xfrm>
          <a:prstGeom prst="rect">
            <a:avLst/>
          </a:prstGeom>
        </p:spPr>
        <p:txBody>
          <a:bodyPr wrap="square">
            <a:spAutoFit/>
          </a:bodyPr>
          <a:lstStyle/>
          <a:p>
            <a:pPr algn="ctr"/>
            <a:r>
              <a:rPr lang="en-US" sz="2000" b="1" dirty="0">
                <a:solidFill>
                  <a:prstClr val="black"/>
                </a:solidFill>
                <a:latin typeface="Times New Roman" pitchFamily="18" charset="0"/>
                <a:cs typeface="Times New Roman" pitchFamily="18" charset="0"/>
              </a:rPr>
              <a:t>Managerial Grid</a:t>
            </a:r>
          </a:p>
          <a:p>
            <a:pPr algn="just"/>
            <a:r>
              <a:rPr lang="en-US" sz="2000" dirty="0">
                <a:solidFill>
                  <a:prstClr val="black"/>
                </a:solidFill>
                <a:latin typeface="Times New Roman" pitchFamily="18" charset="0"/>
                <a:cs typeface="Times New Roman" pitchFamily="18" charset="0"/>
              </a:rPr>
              <a:t>The five resulting leadership styles are as follows:</a:t>
            </a:r>
          </a:p>
          <a:p>
            <a:pPr algn="just"/>
            <a:endParaRPr lang="en-US" sz="2000" dirty="0">
              <a:solidFill>
                <a:prstClr val="black"/>
              </a:solidFill>
              <a:latin typeface="Times New Roman" pitchFamily="18" charset="0"/>
              <a:cs typeface="Times New Roman" pitchFamily="18" charset="0"/>
            </a:endParaRPr>
          </a:p>
          <a:p>
            <a:pPr marL="457200" indent="-457200" algn="just">
              <a:buFont typeface="+mj-lt"/>
              <a:buAutoNum type="arabicPeriod" startAt="2"/>
            </a:pPr>
            <a:r>
              <a:rPr lang="en-US" sz="2000" b="1" dirty="0">
                <a:solidFill>
                  <a:srgbClr val="000000"/>
                </a:solidFill>
                <a:latin typeface="Open Sans"/>
              </a:rPr>
              <a:t>Task management (9, 1):</a:t>
            </a:r>
            <a:r>
              <a:rPr lang="en-US" sz="2000" dirty="0">
                <a:solidFill>
                  <a:srgbClr val="000000"/>
                </a:solidFill>
                <a:latin typeface="Open Sans"/>
              </a:rPr>
              <a:t> </a:t>
            </a:r>
          </a:p>
          <a:p>
            <a:pPr marL="342900" indent="-342900" algn="just">
              <a:buFont typeface="Wingdings" pitchFamily="2" charset="2"/>
              <a:buChar char="Ø"/>
            </a:pPr>
            <a:r>
              <a:rPr lang="en-US" sz="2000" dirty="0">
                <a:solidFill>
                  <a:srgbClr val="000000"/>
                </a:solidFill>
                <a:latin typeface="Open Sans"/>
              </a:rPr>
              <a:t>Also called dictatorial or perish style. Here leaders are more concerned about production and have less concern for people.</a:t>
            </a:r>
          </a:p>
          <a:p>
            <a:pPr marL="342900" indent="-342900" algn="just">
              <a:buFont typeface="Wingdings" pitchFamily="2" charset="2"/>
              <a:buChar char="Ø"/>
            </a:pPr>
            <a:r>
              <a:rPr lang="en-US" sz="2000" dirty="0">
                <a:solidFill>
                  <a:srgbClr val="000000"/>
                </a:solidFill>
                <a:latin typeface="Open Sans"/>
              </a:rPr>
              <a:t>The employees’ needs are not taken care of and they are simply a means to an end. </a:t>
            </a:r>
          </a:p>
          <a:p>
            <a:pPr marL="342900" indent="-342900" algn="just">
              <a:buFont typeface="Wingdings" pitchFamily="2" charset="2"/>
              <a:buChar char="Ø"/>
            </a:pPr>
            <a:r>
              <a:rPr lang="en-US" sz="2000" dirty="0">
                <a:solidFill>
                  <a:srgbClr val="000000"/>
                </a:solidFill>
                <a:latin typeface="Open Sans"/>
              </a:rPr>
              <a:t>The leader believes that efficiency can result only through proper organization of work systems and through elimination of people wherever possible.</a:t>
            </a:r>
          </a:p>
          <a:p>
            <a:pPr marL="342900" indent="-342900" algn="just">
              <a:buFont typeface="Wingdings" pitchFamily="2" charset="2"/>
              <a:buChar char="Ø"/>
            </a:pPr>
            <a:r>
              <a:rPr lang="en-US" sz="2000" dirty="0">
                <a:solidFill>
                  <a:srgbClr val="000000"/>
                </a:solidFill>
                <a:latin typeface="Open Sans"/>
              </a:rPr>
              <a:t>Such a style can definitely increase the output of organization in short run but due to the strict policies and procedures, high </a:t>
            </a:r>
            <a:r>
              <a:rPr lang="en-US" sz="2000" dirty="0" err="1">
                <a:solidFill>
                  <a:srgbClr val="000000"/>
                </a:solidFill>
                <a:latin typeface="Open Sans"/>
              </a:rPr>
              <a:t>labour</a:t>
            </a:r>
            <a:r>
              <a:rPr lang="en-US" sz="2000" dirty="0">
                <a:solidFill>
                  <a:srgbClr val="000000"/>
                </a:solidFill>
                <a:latin typeface="Open Sans"/>
              </a:rPr>
              <a:t> turnover is inevitable.</a:t>
            </a:r>
          </a:p>
        </p:txBody>
      </p:sp>
    </p:spTree>
    <p:extLst>
      <p:ext uri="{BB962C8B-B14F-4D97-AF65-F5344CB8AC3E}">
        <p14:creationId xmlns:p14="http://schemas.microsoft.com/office/powerpoint/2010/main" val="31340379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4E5B6F"/>
                </a:solidFill>
              </a:rPr>
              <a:t>Leadership theories</a:t>
            </a:r>
            <a:endParaRPr lang="en-US"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29</a:t>
            </a:fld>
            <a:endParaRPr lang="en-US"/>
          </a:p>
        </p:txBody>
      </p:sp>
      <p:sp>
        <p:nvSpPr>
          <p:cNvPr id="5" name="Rectangle 4"/>
          <p:cNvSpPr/>
          <p:nvPr/>
        </p:nvSpPr>
        <p:spPr>
          <a:xfrm>
            <a:off x="609600" y="1601986"/>
            <a:ext cx="8077200" cy="3785652"/>
          </a:xfrm>
          <a:prstGeom prst="rect">
            <a:avLst/>
          </a:prstGeom>
        </p:spPr>
        <p:txBody>
          <a:bodyPr wrap="square">
            <a:spAutoFit/>
          </a:bodyPr>
          <a:lstStyle/>
          <a:p>
            <a:pPr algn="ctr"/>
            <a:r>
              <a:rPr lang="en-US" sz="2000" b="1" dirty="0">
                <a:solidFill>
                  <a:prstClr val="black"/>
                </a:solidFill>
                <a:latin typeface="Times New Roman" pitchFamily="18" charset="0"/>
                <a:cs typeface="Times New Roman" pitchFamily="18" charset="0"/>
              </a:rPr>
              <a:t>Managerial Grid</a:t>
            </a:r>
          </a:p>
          <a:p>
            <a:pPr algn="just"/>
            <a:r>
              <a:rPr lang="en-US" sz="2000" dirty="0">
                <a:solidFill>
                  <a:prstClr val="black"/>
                </a:solidFill>
                <a:latin typeface="Times New Roman" pitchFamily="18" charset="0"/>
                <a:cs typeface="Times New Roman" pitchFamily="18" charset="0"/>
              </a:rPr>
              <a:t>The five resulting leadership styles are as follows:</a:t>
            </a:r>
          </a:p>
          <a:p>
            <a:pPr algn="just"/>
            <a:endParaRPr lang="en-US" sz="2000" dirty="0">
              <a:solidFill>
                <a:prstClr val="black"/>
              </a:solidFill>
              <a:latin typeface="Times New Roman" pitchFamily="18" charset="0"/>
              <a:cs typeface="Times New Roman" pitchFamily="18" charset="0"/>
            </a:endParaRPr>
          </a:p>
          <a:p>
            <a:pPr marL="457200" indent="-457200" algn="just">
              <a:buFont typeface="+mj-lt"/>
              <a:buAutoNum type="arabicPeriod" startAt="3"/>
            </a:pPr>
            <a:r>
              <a:rPr lang="en-US" sz="2000" b="1" dirty="0">
                <a:solidFill>
                  <a:srgbClr val="000000"/>
                </a:solidFill>
                <a:latin typeface="Open Sans"/>
              </a:rPr>
              <a:t>Middle-of-the-Road (5, 5):</a:t>
            </a:r>
            <a:r>
              <a:rPr lang="en-US" sz="2000" dirty="0">
                <a:solidFill>
                  <a:srgbClr val="000000"/>
                </a:solidFill>
                <a:latin typeface="Open Sans"/>
              </a:rPr>
              <a:t> </a:t>
            </a:r>
          </a:p>
          <a:p>
            <a:pPr marL="342900" indent="-342900" algn="just">
              <a:buFont typeface="Wingdings" pitchFamily="2" charset="2"/>
              <a:buChar char="Ø"/>
            </a:pPr>
            <a:r>
              <a:rPr lang="en-US" sz="2000" dirty="0">
                <a:solidFill>
                  <a:srgbClr val="000000"/>
                </a:solidFill>
                <a:latin typeface="Open Sans"/>
              </a:rPr>
              <a:t>This is basically a compromising style wherein the leader tries to maintain a balance between goals of company and the needs of people.</a:t>
            </a:r>
          </a:p>
          <a:p>
            <a:pPr algn="just"/>
            <a:endParaRPr lang="en-US" sz="2000" dirty="0">
              <a:solidFill>
                <a:srgbClr val="000000"/>
              </a:solidFill>
              <a:latin typeface="Open Sans"/>
            </a:endParaRPr>
          </a:p>
          <a:p>
            <a:pPr marL="342900" indent="-342900" algn="just">
              <a:buFont typeface="Wingdings" pitchFamily="2" charset="2"/>
              <a:buChar char="Ø"/>
            </a:pPr>
            <a:r>
              <a:rPr lang="en-US" sz="2000" dirty="0">
                <a:solidFill>
                  <a:srgbClr val="000000"/>
                </a:solidFill>
                <a:latin typeface="Open Sans"/>
              </a:rPr>
              <a:t>The leader does not push the boundaries of achievement resulting in average performance for organization.</a:t>
            </a:r>
          </a:p>
          <a:p>
            <a:pPr marL="342900" indent="-342900" algn="just">
              <a:buFont typeface="Wingdings" pitchFamily="2" charset="2"/>
              <a:buChar char="Ø"/>
            </a:pPr>
            <a:endParaRPr lang="en-US" sz="2000" dirty="0">
              <a:solidFill>
                <a:srgbClr val="000000"/>
              </a:solidFill>
              <a:latin typeface="Open Sans"/>
            </a:endParaRPr>
          </a:p>
          <a:p>
            <a:pPr marL="342900" indent="-342900" algn="just">
              <a:buFont typeface="Wingdings" pitchFamily="2" charset="2"/>
              <a:buChar char="Ø"/>
            </a:pPr>
            <a:r>
              <a:rPr lang="en-US" sz="2000" dirty="0">
                <a:solidFill>
                  <a:srgbClr val="000000"/>
                </a:solidFill>
                <a:latin typeface="Open Sans"/>
              </a:rPr>
              <a:t>Here neither employee nor production needs are fully met.</a:t>
            </a:r>
          </a:p>
        </p:txBody>
      </p:sp>
    </p:spTree>
    <p:extLst>
      <p:ext uri="{BB962C8B-B14F-4D97-AF65-F5344CB8AC3E}">
        <p14:creationId xmlns:p14="http://schemas.microsoft.com/office/powerpoint/2010/main" val="17236213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4E5B6F"/>
                </a:solidFill>
              </a:rPr>
              <a:t>Leadership theories</a:t>
            </a:r>
            <a:endParaRPr lang="en-US"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30</a:t>
            </a:fld>
            <a:endParaRPr lang="en-US"/>
          </a:p>
        </p:txBody>
      </p:sp>
      <p:sp>
        <p:nvSpPr>
          <p:cNvPr id="5" name="Rectangle 4"/>
          <p:cNvSpPr/>
          <p:nvPr/>
        </p:nvSpPr>
        <p:spPr>
          <a:xfrm>
            <a:off x="609600" y="1601986"/>
            <a:ext cx="8077200" cy="4401205"/>
          </a:xfrm>
          <a:prstGeom prst="rect">
            <a:avLst/>
          </a:prstGeom>
        </p:spPr>
        <p:txBody>
          <a:bodyPr wrap="square">
            <a:spAutoFit/>
          </a:bodyPr>
          <a:lstStyle/>
          <a:p>
            <a:pPr algn="ctr"/>
            <a:r>
              <a:rPr lang="en-US" sz="2000" b="1" dirty="0">
                <a:solidFill>
                  <a:prstClr val="black"/>
                </a:solidFill>
                <a:latin typeface="Times New Roman" pitchFamily="18" charset="0"/>
                <a:cs typeface="Times New Roman" pitchFamily="18" charset="0"/>
              </a:rPr>
              <a:t>Managerial Grid</a:t>
            </a:r>
          </a:p>
          <a:p>
            <a:pPr algn="just"/>
            <a:r>
              <a:rPr lang="en-US" sz="2000" dirty="0">
                <a:solidFill>
                  <a:prstClr val="black"/>
                </a:solidFill>
                <a:latin typeface="Times New Roman" pitchFamily="18" charset="0"/>
                <a:cs typeface="Times New Roman" pitchFamily="18" charset="0"/>
              </a:rPr>
              <a:t>The five resulting leadership styles are as follows:</a:t>
            </a:r>
          </a:p>
          <a:p>
            <a:pPr algn="just"/>
            <a:endParaRPr lang="en-US" sz="2000" dirty="0">
              <a:solidFill>
                <a:prstClr val="black"/>
              </a:solidFill>
              <a:latin typeface="Times New Roman" pitchFamily="18" charset="0"/>
              <a:cs typeface="Times New Roman" pitchFamily="18" charset="0"/>
            </a:endParaRPr>
          </a:p>
          <a:p>
            <a:pPr marL="457200" indent="-457200" algn="just">
              <a:buFont typeface="+mj-lt"/>
              <a:buAutoNum type="arabicPeriod" startAt="4"/>
            </a:pPr>
            <a:r>
              <a:rPr lang="en-US" sz="2000" b="1" dirty="0">
                <a:solidFill>
                  <a:srgbClr val="000000"/>
                </a:solidFill>
                <a:latin typeface="Open Sans"/>
              </a:rPr>
              <a:t>Country Club (1, 9):</a:t>
            </a:r>
            <a:endParaRPr lang="en-US" sz="2000" dirty="0">
              <a:solidFill>
                <a:srgbClr val="000000"/>
              </a:solidFill>
              <a:latin typeface="Open Sans"/>
            </a:endParaRPr>
          </a:p>
          <a:p>
            <a:pPr marL="342900" indent="-342900" algn="just">
              <a:buFont typeface="Wingdings" pitchFamily="2" charset="2"/>
              <a:buChar char="Ø"/>
            </a:pPr>
            <a:r>
              <a:rPr lang="en-US" sz="2000" dirty="0">
                <a:solidFill>
                  <a:srgbClr val="000000"/>
                </a:solidFill>
                <a:latin typeface="Open Sans"/>
              </a:rPr>
              <a:t>This is a collegial style characterized by low task and high people orientation where the leader gives thoughtful attention to the needs of people thus providing them with a friendly and comfortable environment.</a:t>
            </a:r>
          </a:p>
          <a:p>
            <a:pPr algn="just"/>
            <a:endParaRPr lang="en-US" sz="2000" dirty="0">
              <a:solidFill>
                <a:srgbClr val="000000"/>
              </a:solidFill>
              <a:latin typeface="Open Sans"/>
            </a:endParaRPr>
          </a:p>
          <a:p>
            <a:pPr marL="342900" indent="-342900" algn="just">
              <a:buFont typeface="Wingdings" pitchFamily="2" charset="2"/>
              <a:buChar char="Ø"/>
            </a:pPr>
            <a:r>
              <a:rPr lang="en-US" sz="2000" dirty="0">
                <a:solidFill>
                  <a:srgbClr val="000000"/>
                </a:solidFill>
                <a:latin typeface="Open Sans"/>
              </a:rPr>
              <a:t>The leader feels that such a treatment with employees will lead to self-motivation and will find people working hard on their own. </a:t>
            </a:r>
          </a:p>
          <a:p>
            <a:pPr marL="342900" indent="-342900" algn="just">
              <a:buFont typeface="Wingdings" pitchFamily="2" charset="2"/>
              <a:buChar char="Ø"/>
            </a:pPr>
            <a:endParaRPr lang="en-US" sz="2000" dirty="0">
              <a:solidFill>
                <a:srgbClr val="000000"/>
              </a:solidFill>
              <a:latin typeface="Open Sans"/>
            </a:endParaRPr>
          </a:p>
          <a:p>
            <a:pPr marL="342900" indent="-342900" algn="just">
              <a:buFont typeface="Wingdings" pitchFamily="2" charset="2"/>
              <a:buChar char="Ø"/>
            </a:pPr>
            <a:r>
              <a:rPr lang="en-US" sz="2000" dirty="0">
                <a:solidFill>
                  <a:srgbClr val="000000"/>
                </a:solidFill>
                <a:latin typeface="Open Sans"/>
              </a:rPr>
              <a:t>However, a low focus on tasks can hamper production and lead to questionable results.</a:t>
            </a:r>
          </a:p>
        </p:txBody>
      </p:sp>
    </p:spTree>
    <p:extLst>
      <p:ext uri="{BB962C8B-B14F-4D97-AF65-F5344CB8AC3E}">
        <p14:creationId xmlns:p14="http://schemas.microsoft.com/office/powerpoint/2010/main" val="40356318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4E5B6F"/>
                </a:solidFill>
              </a:rPr>
              <a:t>Leadership theories</a:t>
            </a:r>
            <a:endParaRPr lang="en-US"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31</a:t>
            </a:fld>
            <a:endParaRPr lang="en-US"/>
          </a:p>
        </p:txBody>
      </p:sp>
      <p:sp>
        <p:nvSpPr>
          <p:cNvPr id="5" name="Rectangle 4"/>
          <p:cNvSpPr/>
          <p:nvPr/>
        </p:nvSpPr>
        <p:spPr>
          <a:xfrm>
            <a:off x="609600" y="1601986"/>
            <a:ext cx="8077200" cy="3785652"/>
          </a:xfrm>
          <a:prstGeom prst="rect">
            <a:avLst/>
          </a:prstGeom>
        </p:spPr>
        <p:txBody>
          <a:bodyPr wrap="square">
            <a:spAutoFit/>
          </a:bodyPr>
          <a:lstStyle/>
          <a:p>
            <a:pPr algn="ctr"/>
            <a:r>
              <a:rPr lang="en-US" sz="2000" b="1" dirty="0">
                <a:solidFill>
                  <a:prstClr val="black"/>
                </a:solidFill>
                <a:latin typeface="Times New Roman" pitchFamily="18" charset="0"/>
                <a:cs typeface="Times New Roman" pitchFamily="18" charset="0"/>
              </a:rPr>
              <a:t>Managerial Grid</a:t>
            </a:r>
          </a:p>
          <a:p>
            <a:pPr algn="just"/>
            <a:r>
              <a:rPr lang="en-US" sz="2000" dirty="0">
                <a:solidFill>
                  <a:prstClr val="black"/>
                </a:solidFill>
                <a:latin typeface="Times New Roman" pitchFamily="18" charset="0"/>
                <a:cs typeface="Times New Roman" pitchFamily="18" charset="0"/>
              </a:rPr>
              <a:t>The five resulting leadership styles are as follows:</a:t>
            </a:r>
          </a:p>
          <a:p>
            <a:pPr algn="just"/>
            <a:endParaRPr lang="en-US" sz="2000" dirty="0">
              <a:solidFill>
                <a:prstClr val="black"/>
              </a:solidFill>
              <a:latin typeface="Times New Roman" pitchFamily="18" charset="0"/>
              <a:cs typeface="Times New Roman" pitchFamily="18" charset="0"/>
            </a:endParaRPr>
          </a:p>
          <a:p>
            <a:pPr marL="457200" indent="-457200" algn="just">
              <a:buFont typeface="+mj-lt"/>
              <a:buAutoNum type="arabicPeriod" startAt="5"/>
            </a:pPr>
            <a:r>
              <a:rPr lang="en-US" sz="2000" b="1" dirty="0">
                <a:solidFill>
                  <a:srgbClr val="000000"/>
                </a:solidFill>
                <a:latin typeface="Open Sans"/>
              </a:rPr>
              <a:t>Team Management (9, 9):</a:t>
            </a:r>
            <a:r>
              <a:rPr lang="en-US" sz="2000" dirty="0">
                <a:solidFill>
                  <a:srgbClr val="000000"/>
                </a:solidFill>
                <a:latin typeface="Open Sans"/>
              </a:rPr>
              <a:t> </a:t>
            </a:r>
          </a:p>
          <a:p>
            <a:pPr marL="342900" indent="-342900" algn="just">
              <a:buFont typeface="Wingdings" pitchFamily="2" charset="2"/>
              <a:buChar char="Ø"/>
            </a:pPr>
            <a:r>
              <a:rPr lang="en-US" sz="2000" dirty="0">
                <a:solidFill>
                  <a:srgbClr val="000000"/>
                </a:solidFill>
                <a:latin typeface="Open Sans"/>
              </a:rPr>
              <a:t>Characterized by high people and task focus, the style is based on the theory Y of McGregor and has been termed as most effective style according to Blake and Mouton.</a:t>
            </a:r>
          </a:p>
          <a:p>
            <a:pPr algn="just"/>
            <a:endParaRPr lang="en-US" sz="2000" dirty="0">
              <a:solidFill>
                <a:srgbClr val="000000"/>
              </a:solidFill>
              <a:latin typeface="Open Sans"/>
            </a:endParaRPr>
          </a:p>
          <a:p>
            <a:pPr marL="342900" indent="-342900" algn="just">
              <a:buFont typeface="Wingdings" pitchFamily="2" charset="2"/>
              <a:buChar char="Ø"/>
            </a:pPr>
            <a:r>
              <a:rPr lang="en-US" sz="2000" dirty="0">
                <a:solidFill>
                  <a:srgbClr val="000000"/>
                </a:solidFill>
                <a:latin typeface="Open Sans"/>
              </a:rPr>
              <a:t>The leader feels that empowerment, commitment, trust, and respect are the key elements in creating a team atmosphere which will automatically result in high employee satisfaction and production.</a:t>
            </a:r>
          </a:p>
        </p:txBody>
      </p:sp>
    </p:spTree>
    <p:extLst>
      <p:ext uri="{BB962C8B-B14F-4D97-AF65-F5344CB8AC3E}">
        <p14:creationId xmlns:p14="http://schemas.microsoft.com/office/powerpoint/2010/main" val="2093205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Leadership theories</a:t>
            </a:r>
            <a:endParaRPr lang="en-US"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32</a:t>
            </a:fld>
            <a:endParaRPr lang="en-US"/>
          </a:p>
        </p:txBody>
      </p:sp>
      <p:sp>
        <p:nvSpPr>
          <p:cNvPr id="6" name="Rectangle 5"/>
          <p:cNvSpPr/>
          <p:nvPr/>
        </p:nvSpPr>
        <p:spPr>
          <a:xfrm>
            <a:off x="228600" y="1600200"/>
            <a:ext cx="8686800" cy="2677656"/>
          </a:xfrm>
          <a:prstGeom prst="rect">
            <a:avLst/>
          </a:prstGeom>
        </p:spPr>
        <p:txBody>
          <a:bodyPr wrap="square">
            <a:spAutoFit/>
          </a:bodyPr>
          <a:lstStyle/>
          <a:p>
            <a:pPr algn="just"/>
            <a:r>
              <a:rPr lang="en-US" sz="2400" b="1" dirty="0">
                <a:latin typeface="Times New Roman" pitchFamily="18" charset="0"/>
                <a:cs typeface="Times New Roman" pitchFamily="18" charset="0"/>
              </a:rPr>
              <a:t>Situational Leadership Theory (SLT) </a:t>
            </a:r>
            <a:r>
              <a:rPr lang="en-US" sz="2400" dirty="0">
                <a:latin typeface="Times New Roman" pitchFamily="18" charset="0"/>
                <a:cs typeface="Times New Roman" pitchFamily="18" charset="0"/>
              </a:rPr>
              <a:t>focuses on the followers. It says successful leadership depends on selecting the right leadership style contingent on the followers’ </a:t>
            </a:r>
            <a:r>
              <a:rPr lang="en-US" sz="2400" i="1" dirty="0">
                <a:latin typeface="Times New Roman" pitchFamily="18" charset="0"/>
                <a:cs typeface="Times New Roman" pitchFamily="18" charset="0"/>
              </a:rPr>
              <a:t>readiness.</a:t>
            </a:r>
          </a:p>
          <a:p>
            <a:pPr algn="just"/>
            <a:endParaRPr lang="en-US" sz="2400" i="1" dirty="0">
              <a:latin typeface="Times New Roman" pitchFamily="18" charset="0"/>
              <a:cs typeface="Times New Roman" pitchFamily="18" charset="0"/>
            </a:endParaRPr>
          </a:p>
          <a:p>
            <a:pPr algn="just"/>
            <a:endParaRPr lang="en-US" sz="2400" i="1" dirty="0">
              <a:latin typeface="Times New Roman" pitchFamily="18" charset="0"/>
              <a:cs typeface="Times New Roman" pitchFamily="18" charset="0"/>
            </a:endParaRPr>
          </a:p>
          <a:p>
            <a:pPr algn="just"/>
            <a:r>
              <a:rPr lang="en-US" sz="2400" i="1" dirty="0">
                <a:latin typeface="Times New Roman" pitchFamily="18" charset="0"/>
                <a:cs typeface="Times New Roman" pitchFamily="18" charset="0"/>
              </a:rPr>
              <a:t> Readiness means </a:t>
            </a:r>
            <a:r>
              <a:rPr lang="en-US" sz="2400" dirty="0">
                <a:latin typeface="Times New Roman" pitchFamily="18" charset="0"/>
                <a:cs typeface="Times New Roman" pitchFamily="18" charset="0"/>
              </a:rPr>
              <a:t>the extent to which they are willing and able to accomplish a specific task. </a:t>
            </a:r>
            <a:endParaRPr lang="en-US" sz="2400" dirty="0">
              <a:cs typeface="Times New Roman" pitchFamily="18" charset="0"/>
            </a:endParaRPr>
          </a:p>
        </p:txBody>
      </p:sp>
    </p:spTree>
    <p:extLst>
      <p:ext uri="{BB962C8B-B14F-4D97-AF65-F5344CB8AC3E}">
        <p14:creationId xmlns:p14="http://schemas.microsoft.com/office/powerpoint/2010/main" val="35049761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Leadership theories</a:t>
            </a:r>
            <a:endParaRPr lang="en-US"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33</a:t>
            </a:fld>
            <a:endParaRPr lang="en-US"/>
          </a:p>
        </p:txBody>
      </p:sp>
      <p:sp>
        <p:nvSpPr>
          <p:cNvPr id="6" name="Rectangle 5"/>
          <p:cNvSpPr/>
          <p:nvPr/>
        </p:nvSpPr>
        <p:spPr>
          <a:xfrm>
            <a:off x="228600" y="1600200"/>
            <a:ext cx="8686800" cy="4524315"/>
          </a:xfrm>
          <a:prstGeom prst="rect">
            <a:avLst/>
          </a:prstGeom>
        </p:spPr>
        <p:txBody>
          <a:bodyPr wrap="square">
            <a:spAutoFit/>
          </a:bodyPr>
          <a:lstStyle/>
          <a:p>
            <a:pPr algn="just"/>
            <a:r>
              <a:rPr lang="en-US" sz="2400" dirty="0">
                <a:solidFill>
                  <a:prstClr val="black"/>
                </a:solidFill>
                <a:latin typeface="Times New Roman" pitchFamily="18" charset="0"/>
                <a:cs typeface="Times New Roman" pitchFamily="18" charset="0"/>
              </a:rPr>
              <a:t>A leader should choose one of four behaviors depending on follower readiness.</a:t>
            </a:r>
          </a:p>
          <a:p>
            <a:pPr marL="342900" indent="-342900">
              <a:buFont typeface="Wingdings" pitchFamily="2" charset="2"/>
              <a:buChar char="ü"/>
            </a:pPr>
            <a:r>
              <a:rPr lang="en-US" sz="2400" dirty="0">
                <a:solidFill>
                  <a:prstClr val="black"/>
                </a:solidFill>
                <a:cs typeface="Times New Roman" pitchFamily="18" charset="0"/>
              </a:rPr>
              <a:t>If followers are </a:t>
            </a:r>
            <a:r>
              <a:rPr lang="en-US" sz="2400" i="1" dirty="0">
                <a:solidFill>
                  <a:prstClr val="black"/>
                </a:solidFill>
                <a:cs typeface="Times New Roman" pitchFamily="18" charset="0"/>
              </a:rPr>
              <a:t>unable </a:t>
            </a:r>
            <a:r>
              <a:rPr lang="en-US" sz="2400" dirty="0">
                <a:solidFill>
                  <a:prstClr val="black"/>
                </a:solidFill>
                <a:cs typeface="Times New Roman" pitchFamily="18" charset="0"/>
              </a:rPr>
              <a:t>and </a:t>
            </a:r>
            <a:r>
              <a:rPr lang="en-US" sz="2400" i="1" dirty="0">
                <a:solidFill>
                  <a:prstClr val="black"/>
                </a:solidFill>
                <a:cs typeface="Times New Roman" pitchFamily="18" charset="0"/>
              </a:rPr>
              <a:t>unwilling </a:t>
            </a:r>
            <a:r>
              <a:rPr lang="en-US" sz="2400" dirty="0">
                <a:solidFill>
                  <a:prstClr val="black"/>
                </a:solidFill>
                <a:cs typeface="Times New Roman" pitchFamily="18" charset="0"/>
              </a:rPr>
              <a:t>to do a task, the leader needs to give clear and specific directions</a:t>
            </a:r>
          </a:p>
          <a:p>
            <a:pPr marL="342900" indent="-342900">
              <a:buFont typeface="Wingdings" pitchFamily="2" charset="2"/>
              <a:buChar char="ü"/>
            </a:pPr>
            <a:r>
              <a:rPr lang="en-US" sz="2400" dirty="0">
                <a:solidFill>
                  <a:prstClr val="black"/>
                </a:solidFill>
                <a:cs typeface="Times New Roman" pitchFamily="18" charset="0"/>
              </a:rPr>
              <a:t>if they are </a:t>
            </a:r>
            <a:r>
              <a:rPr lang="en-US" sz="2400" i="1" dirty="0">
                <a:solidFill>
                  <a:prstClr val="black"/>
                </a:solidFill>
                <a:cs typeface="Times New Roman" pitchFamily="18" charset="0"/>
              </a:rPr>
              <a:t>unable </a:t>
            </a:r>
            <a:r>
              <a:rPr lang="en-US" sz="2400" dirty="0">
                <a:solidFill>
                  <a:prstClr val="black"/>
                </a:solidFill>
                <a:cs typeface="Times New Roman" pitchFamily="18" charset="0"/>
              </a:rPr>
              <a:t>and </a:t>
            </a:r>
            <a:r>
              <a:rPr lang="en-US" sz="2400" i="1" dirty="0">
                <a:solidFill>
                  <a:prstClr val="black"/>
                </a:solidFill>
                <a:cs typeface="Times New Roman" pitchFamily="18" charset="0"/>
              </a:rPr>
              <a:t>willing, </a:t>
            </a:r>
            <a:r>
              <a:rPr lang="en-US" sz="2400" dirty="0">
                <a:solidFill>
                  <a:prstClr val="black"/>
                </a:solidFill>
                <a:cs typeface="Times New Roman" pitchFamily="18" charset="0"/>
              </a:rPr>
              <a:t>the leader needs to display high task orientation to compensate for followers’ lack of ability, and high relationship orientation to get them to “buy into” the leader’s desires. </a:t>
            </a:r>
          </a:p>
          <a:p>
            <a:pPr marL="342900" indent="-342900">
              <a:buFont typeface="Wingdings" pitchFamily="2" charset="2"/>
              <a:buChar char="ü"/>
            </a:pPr>
            <a:r>
              <a:rPr lang="en-US" sz="2400" dirty="0">
                <a:solidFill>
                  <a:prstClr val="black"/>
                </a:solidFill>
                <a:cs typeface="Times New Roman" pitchFamily="18" charset="0"/>
              </a:rPr>
              <a:t>If followers are </a:t>
            </a:r>
            <a:r>
              <a:rPr lang="en-US" sz="2400" i="1" dirty="0">
                <a:solidFill>
                  <a:prstClr val="black"/>
                </a:solidFill>
                <a:cs typeface="Times New Roman" pitchFamily="18" charset="0"/>
              </a:rPr>
              <a:t>able </a:t>
            </a:r>
            <a:r>
              <a:rPr lang="en-US" sz="2400" dirty="0">
                <a:solidFill>
                  <a:prstClr val="black"/>
                </a:solidFill>
                <a:cs typeface="Times New Roman" pitchFamily="18" charset="0"/>
              </a:rPr>
              <a:t>and </a:t>
            </a:r>
            <a:r>
              <a:rPr lang="en-US" sz="2400" i="1" dirty="0">
                <a:solidFill>
                  <a:prstClr val="black"/>
                </a:solidFill>
                <a:cs typeface="Times New Roman" pitchFamily="18" charset="0"/>
              </a:rPr>
              <a:t>unwilling, </a:t>
            </a:r>
            <a:r>
              <a:rPr lang="en-US" sz="2400" dirty="0">
                <a:solidFill>
                  <a:prstClr val="black"/>
                </a:solidFill>
                <a:cs typeface="Times New Roman" pitchFamily="18" charset="0"/>
              </a:rPr>
              <a:t>the leader needs to use a supportive and participative style</a:t>
            </a:r>
          </a:p>
          <a:p>
            <a:pPr marL="342900" indent="-342900">
              <a:buFont typeface="Wingdings" pitchFamily="2" charset="2"/>
              <a:buChar char="ü"/>
            </a:pPr>
            <a:r>
              <a:rPr lang="en-US" sz="2400" dirty="0">
                <a:solidFill>
                  <a:prstClr val="black"/>
                </a:solidFill>
                <a:cs typeface="Times New Roman" pitchFamily="18" charset="0"/>
              </a:rPr>
              <a:t>if they are both </a:t>
            </a:r>
            <a:r>
              <a:rPr lang="en-US" sz="2400" i="1" dirty="0">
                <a:solidFill>
                  <a:prstClr val="black"/>
                </a:solidFill>
                <a:cs typeface="Times New Roman" pitchFamily="18" charset="0"/>
              </a:rPr>
              <a:t>able </a:t>
            </a:r>
            <a:r>
              <a:rPr lang="en-US" sz="2400" dirty="0">
                <a:solidFill>
                  <a:prstClr val="black"/>
                </a:solidFill>
                <a:cs typeface="Times New Roman" pitchFamily="18" charset="0"/>
              </a:rPr>
              <a:t>and </a:t>
            </a:r>
            <a:r>
              <a:rPr lang="en-US" sz="2400" i="1" dirty="0">
                <a:solidFill>
                  <a:prstClr val="black"/>
                </a:solidFill>
                <a:cs typeface="Times New Roman" pitchFamily="18" charset="0"/>
              </a:rPr>
              <a:t>willing, </a:t>
            </a:r>
            <a:r>
              <a:rPr lang="en-US" sz="2400" dirty="0">
                <a:solidFill>
                  <a:prstClr val="black"/>
                </a:solidFill>
                <a:cs typeface="Times New Roman" pitchFamily="18" charset="0"/>
              </a:rPr>
              <a:t>the leader doesn’t need to do much.</a:t>
            </a:r>
          </a:p>
        </p:txBody>
      </p:sp>
    </p:spTree>
    <p:extLst>
      <p:ext uri="{BB962C8B-B14F-4D97-AF65-F5344CB8AC3E}">
        <p14:creationId xmlns:p14="http://schemas.microsoft.com/office/powerpoint/2010/main" val="5720039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D474929-0B6D-1E97-2D02-13B0B069DB05}"/>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34</a:t>
            </a:fld>
            <a:endParaRPr lang="en-US"/>
          </a:p>
        </p:txBody>
      </p:sp>
      <p:sp>
        <p:nvSpPr>
          <p:cNvPr id="4" name="Content Placeholder 3">
            <a:extLst>
              <a:ext uri="{FF2B5EF4-FFF2-40B4-BE49-F238E27FC236}">
                <a16:creationId xmlns:a16="http://schemas.microsoft.com/office/drawing/2014/main" id="{F8340791-A6EB-C86E-84A9-424EAB509B2A}"/>
              </a:ext>
            </a:extLst>
          </p:cNvPr>
          <p:cNvSpPr>
            <a:spLocks noGrp="1"/>
          </p:cNvSpPr>
          <p:nvPr>
            <p:ph sz="quarter" idx="1"/>
          </p:nvPr>
        </p:nvSpPr>
        <p:spPr>
          <a:xfrm>
            <a:off x="341376" y="305174"/>
            <a:ext cx="8461248" cy="6171826"/>
          </a:xfrm>
        </p:spPr>
        <p:txBody>
          <a:bodyPr>
            <a:normAutofit fontScale="25000" lnSpcReduction="20000"/>
          </a:bodyPr>
          <a:lstStyle/>
          <a:p>
            <a:pPr marL="0" indent="0">
              <a:buNone/>
            </a:pPr>
            <a:r>
              <a:rPr lang="en-US" b="1" dirty="0"/>
              <a:t>:</a:t>
            </a:r>
          </a:p>
          <a:p>
            <a:pPr marL="0" indent="0">
              <a:buNone/>
            </a:pPr>
            <a:endParaRPr lang="en-US" sz="5600" dirty="0">
              <a:latin typeface="Segoe UI Semilight" panose="020B0402040204020203" pitchFamily="34" charset="0"/>
              <a:cs typeface="Segoe UI Semilight" panose="020B0402040204020203" pitchFamily="34" charset="0"/>
            </a:endParaRPr>
          </a:p>
          <a:p>
            <a:pPr marL="0" indent="0" algn="just">
              <a:buNone/>
            </a:pPr>
            <a:r>
              <a:rPr lang="en-US" sz="6400" dirty="0">
                <a:latin typeface="Segoe UI Semilight" panose="020B0402040204020203" pitchFamily="34" charset="0"/>
                <a:cs typeface="Segoe UI Semilight" panose="020B0402040204020203" pitchFamily="34" charset="0"/>
              </a:rPr>
              <a:t>Imagine a student group working on a project, and you're the leader. The Situational Leadership Theory suggests that your leadership style should depend on the readiness of your teammates, which is their willingness and ability to do the task.</a:t>
            </a:r>
          </a:p>
          <a:p>
            <a:pPr marL="0" indent="0" algn="just">
              <a:buNone/>
            </a:pPr>
            <a:endParaRPr lang="en-US" sz="6400" dirty="0">
              <a:latin typeface="Segoe UI Semilight" panose="020B0402040204020203" pitchFamily="34" charset="0"/>
              <a:cs typeface="Segoe UI Semilight" panose="020B0402040204020203" pitchFamily="34" charset="0"/>
            </a:endParaRPr>
          </a:p>
          <a:p>
            <a:pPr marL="0" indent="0" algn="just">
              <a:buNone/>
            </a:pPr>
            <a:r>
              <a:rPr lang="en-US" sz="6400" b="1" dirty="0">
                <a:latin typeface="Segoe UI Semilight" panose="020B0402040204020203" pitchFamily="34" charset="0"/>
                <a:cs typeface="Segoe UI Semilight" panose="020B0402040204020203" pitchFamily="34" charset="0"/>
              </a:rPr>
              <a:t>Unable and Unwilling (Low Readiness):</a:t>
            </a:r>
          </a:p>
          <a:p>
            <a:pPr marL="0" indent="0" algn="just">
              <a:buNone/>
            </a:pPr>
            <a:r>
              <a:rPr lang="en-US" sz="6400" dirty="0">
                <a:latin typeface="Segoe UI Semilight" panose="020B0402040204020203" pitchFamily="34" charset="0"/>
                <a:cs typeface="Segoe UI Semilight" panose="020B0402040204020203" pitchFamily="34" charset="0"/>
              </a:rPr>
              <a:t>Example: Some team members are unsure about the project and are not motivated. As the leader, you should give them clear instructions and guidance to help them understand and get started.</a:t>
            </a:r>
          </a:p>
          <a:p>
            <a:pPr marL="0" indent="0" algn="just">
              <a:buNone/>
            </a:pPr>
            <a:r>
              <a:rPr lang="en-US" sz="6400" b="1" dirty="0">
                <a:latin typeface="Segoe UI Semilight" panose="020B0402040204020203" pitchFamily="34" charset="0"/>
                <a:cs typeface="Segoe UI Semilight" panose="020B0402040204020203" pitchFamily="34" charset="0"/>
              </a:rPr>
              <a:t>Unable but Willing (Moderate Readiness):</a:t>
            </a:r>
          </a:p>
          <a:p>
            <a:pPr marL="0" indent="0" algn="just">
              <a:buNone/>
            </a:pPr>
            <a:r>
              <a:rPr lang="en-US" sz="6400" dirty="0">
                <a:latin typeface="Segoe UI Semilight" panose="020B0402040204020203" pitchFamily="34" charset="0"/>
                <a:cs typeface="Segoe UI Semilight" panose="020B0402040204020203" pitchFamily="34" charset="0"/>
              </a:rPr>
              <a:t>Example: Other teammates are willing but lack the skills. In this case, you should be highly focused on explaining tasks (task orientation) and building a good relationship with them to motivate and encourage their efforts.</a:t>
            </a:r>
          </a:p>
          <a:p>
            <a:pPr marL="0" indent="0" algn="just">
              <a:buNone/>
            </a:pPr>
            <a:r>
              <a:rPr lang="en-US" sz="6400" b="1" dirty="0">
                <a:latin typeface="Segoe UI Semilight" panose="020B0402040204020203" pitchFamily="34" charset="0"/>
                <a:cs typeface="Segoe UI Semilight" panose="020B0402040204020203" pitchFamily="34" charset="0"/>
              </a:rPr>
              <a:t>Able but Unwilling (Moderate Readiness):</a:t>
            </a:r>
          </a:p>
          <a:p>
            <a:pPr marL="0" indent="0" algn="just">
              <a:buNone/>
            </a:pPr>
            <a:r>
              <a:rPr lang="en-US" sz="6400" dirty="0">
                <a:latin typeface="Segoe UI Semilight" panose="020B0402040204020203" pitchFamily="34" charset="0"/>
                <a:cs typeface="Segoe UI Semilight" panose="020B0402040204020203" pitchFamily="34" charset="0"/>
              </a:rPr>
              <a:t>Example: Some team members have the skills but are not motivated. Here, you should use a supportive and participative style. Offer assistance, involve them in decision-making, and show support to boost their enthusiasm.</a:t>
            </a:r>
          </a:p>
          <a:p>
            <a:pPr marL="0" indent="0" algn="just">
              <a:buNone/>
            </a:pPr>
            <a:r>
              <a:rPr lang="en-US" sz="6400" b="1" dirty="0">
                <a:latin typeface="Segoe UI Semilight" panose="020B0402040204020203" pitchFamily="34" charset="0"/>
                <a:cs typeface="Segoe UI Semilight" panose="020B0402040204020203" pitchFamily="34" charset="0"/>
              </a:rPr>
              <a:t>Able and Willing (High Readiness):</a:t>
            </a:r>
          </a:p>
          <a:p>
            <a:pPr marL="0" indent="0" algn="just">
              <a:buNone/>
            </a:pPr>
            <a:r>
              <a:rPr lang="en-US" sz="6400" dirty="0">
                <a:latin typeface="Segoe UI Semilight" panose="020B0402040204020203" pitchFamily="34" charset="0"/>
                <a:cs typeface="Segoe UI Semilight" panose="020B0402040204020203" pitchFamily="34" charset="0"/>
              </a:rPr>
              <a:t>Example: A few members are both skilled and motivated. In this situation, you don't need to be overly involved. You can step back a bit and let them take the lead since they are capable and eager.</a:t>
            </a:r>
          </a:p>
          <a:p>
            <a:pPr marL="0" indent="0" algn="just">
              <a:buNone/>
            </a:pPr>
            <a:r>
              <a:rPr lang="en-US" sz="6400" dirty="0">
                <a:latin typeface="Segoe UI Semilight" panose="020B0402040204020203" pitchFamily="34" charset="0"/>
                <a:cs typeface="Segoe UI Semilight" panose="020B0402040204020203" pitchFamily="34" charset="0"/>
              </a:rPr>
              <a:t>So, the key idea is that your leadership style should adapt based on how ready and willing your teammates are to accomplish the task. It's about finding the right balance between giving clear directions and providing support and encouragement, depending on the situation.</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sp>
        <p:nvSpPr>
          <p:cNvPr id="7" name="TextBox 6">
            <a:extLst>
              <a:ext uri="{FF2B5EF4-FFF2-40B4-BE49-F238E27FC236}">
                <a16:creationId xmlns:a16="http://schemas.microsoft.com/office/drawing/2014/main" id="{45644CEE-02F7-1810-E37D-65396F562B2B}"/>
              </a:ext>
            </a:extLst>
          </p:cNvPr>
          <p:cNvSpPr txBox="1"/>
          <p:nvPr/>
        </p:nvSpPr>
        <p:spPr>
          <a:xfrm>
            <a:off x="497378" y="304800"/>
            <a:ext cx="4572000" cy="369332"/>
          </a:xfrm>
          <a:prstGeom prst="rect">
            <a:avLst/>
          </a:prstGeom>
          <a:noFill/>
        </p:spPr>
        <p:txBody>
          <a:bodyPr wrap="square">
            <a:spAutoFit/>
          </a:bodyPr>
          <a:lstStyle/>
          <a:p>
            <a:r>
              <a:rPr lang="en-US" b="1" dirty="0"/>
              <a:t>Situational Leadership in a School Project</a:t>
            </a:r>
            <a:endParaRPr lang="en-IN" dirty="0"/>
          </a:p>
        </p:txBody>
      </p:sp>
    </p:spTree>
    <p:extLst>
      <p:ext uri="{BB962C8B-B14F-4D97-AF65-F5344CB8AC3E}">
        <p14:creationId xmlns:p14="http://schemas.microsoft.com/office/powerpoint/2010/main" val="26398228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Leadership theories</a:t>
            </a:r>
            <a:endParaRPr lang="en-US"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35</a:t>
            </a:fld>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600200"/>
            <a:ext cx="8400000" cy="5029200"/>
          </a:xfrm>
          <a:prstGeom prst="rect">
            <a:avLst/>
          </a:prstGeom>
        </p:spPr>
      </p:pic>
    </p:spTree>
    <p:extLst>
      <p:ext uri="{BB962C8B-B14F-4D97-AF65-F5344CB8AC3E}">
        <p14:creationId xmlns:p14="http://schemas.microsoft.com/office/powerpoint/2010/main" val="28968308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Leadership theories</a:t>
            </a:r>
            <a:endParaRPr lang="en-US"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36</a:t>
            </a:fld>
            <a:endParaRPr lang="en-US"/>
          </a:p>
        </p:txBody>
      </p:sp>
      <p:sp>
        <p:nvSpPr>
          <p:cNvPr id="6" name="Rectangle 5"/>
          <p:cNvSpPr/>
          <p:nvPr/>
        </p:nvSpPr>
        <p:spPr>
          <a:xfrm>
            <a:off x="533400" y="1600200"/>
            <a:ext cx="8382000" cy="3046988"/>
          </a:xfrm>
          <a:prstGeom prst="rect">
            <a:avLst/>
          </a:prstGeom>
        </p:spPr>
        <p:txBody>
          <a:bodyPr wrap="square">
            <a:spAutoFit/>
          </a:bodyPr>
          <a:lstStyle/>
          <a:p>
            <a:pPr algn="just"/>
            <a:r>
              <a:rPr lang="en-US" sz="2400" b="1" dirty="0">
                <a:solidFill>
                  <a:prstClr val="black"/>
                </a:solidFill>
                <a:latin typeface="Times New Roman" pitchFamily="18" charset="0"/>
                <a:cs typeface="Times New Roman" pitchFamily="18" charset="0"/>
              </a:rPr>
              <a:t>Path goal theory</a:t>
            </a:r>
          </a:p>
          <a:p>
            <a:pPr algn="just"/>
            <a:endParaRPr lang="en-US" sz="2400" b="1" dirty="0">
              <a:solidFill>
                <a:prstClr val="black"/>
              </a:solidFill>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A theory that states that it is the leader’s job to assist followers in attaining their goals and to provide the necessary direction and/or support to ensure that their goals are compatible with the overall objectives of the group or organization.</a:t>
            </a:r>
          </a:p>
          <a:p>
            <a:pPr algn="just"/>
            <a:endParaRPr lang="en-US" sz="2400" dirty="0">
              <a:latin typeface="Times New Roman" pitchFamily="18" charset="0"/>
              <a:cs typeface="Times New Roman" pitchFamily="18" charset="0"/>
            </a:endParaRPr>
          </a:p>
          <a:p>
            <a:pPr marL="342900" indent="-342900" algn="just">
              <a:buFont typeface="Wingdings" pitchFamily="2" charset="2"/>
              <a:buChar char="ü"/>
            </a:pPr>
            <a:r>
              <a:rPr lang="en-US" sz="2400" dirty="0"/>
              <a:t>Developed by Robert House</a:t>
            </a:r>
            <a:endParaRPr lang="en-US" sz="2400" b="1"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37351986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Leadership theories</a:t>
            </a:r>
            <a:endParaRPr lang="en-US"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37</a:t>
            </a:fld>
            <a:endParaRPr lang="en-US"/>
          </a:p>
        </p:txBody>
      </p:sp>
      <p:sp>
        <p:nvSpPr>
          <p:cNvPr id="5" name="Rectangle 4"/>
          <p:cNvSpPr/>
          <p:nvPr/>
        </p:nvSpPr>
        <p:spPr>
          <a:xfrm>
            <a:off x="533400" y="1524000"/>
            <a:ext cx="8458200" cy="3785652"/>
          </a:xfrm>
          <a:prstGeom prst="rect">
            <a:avLst/>
          </a:prstGeom>
        </p:spPr>
        <p:txBody>
          <a:bodyPr wrap="square">
            <a:spAutoFit/>
          </a:bodyPr>
          <a:lstStyle/>
          <a:p>
            <a:pPr algn="just"/>
            <a:r>
              <a:rPr lang="en-US" sz="2400" b="1" dirty="0">
                <a:latin typeface="Times New Roman" pitchFamily="18" charset="0"/>
                <a:cs typeface="Times New Roman" pitchFamily="18" charset="0"/>
              </a:rPr>
              <a:t>Leader–member exchange (LMX) theory</a:t>
            </a:r>
          </a:p>
          <a:p>
            <a:pPr algn="just"/>
            <a:r>
              <a:rPr lang="en-US" sz="2400" dirty="0">
                <a:latin typeface="Times New Roman" pitchFamily="18" charset="0"/>
                <a:cs typeface="Times New Roman" pitchFamily="18" charset="0"/>
              </a:rPr>
              <a:t>The goal of LMX theory is to explain the effects of leadership on members, teams, and organizations.</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According to the theory, leaders form strong trust, emotional, and respect-based relationships with some members of a team, but not with others.</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LMX theory claims that leaders do not treat each subordinate the same.</a:t>
            </a:r>
          </a:p>
        </p:txBody>
      </p:sp>
    </p:spTree>
    <p:extLst>
      <p:ext uri="{BB962C8B-B14F-4D97-AF65-F5344CB8AC3E}">
        <p14:creationId xmlns:p14="http://schemas.microsoft.com/office/powerpoint/2010/main" val="22372829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2D520-3DCE-3D6D-6580-92F644FA8A4F}"/>
              </a:ext>
            </a:extLst>
          </p:cNvPr>
          <p:cNvSpPr>
            <a:spLocks noGrp="1"/>
          </p:cNvSpPr>
          <p:nvPr>
            <p:ph type="title"/>
          </p:nvPr>
        </p:nvSpPr>
        <p:spPr>
          <a:xfrm>
            <a:off x="266700" y="762000"/>
            <a:ext cx="8763000" cy="533400"/>
          </a:xfrm>
        </p:spPr>
        <p:txBody>
          <a:bodyPr>
            <a:normAutofit fontScale="90000"/>
          </a:bodyPr>
          <a:lstStyle/>
          <a:p>
            <a:r>
              <a:rPr lang="en-US" sz="3100" b="1" dirty="0">
                <a:solidFill>
                  <a:srgbClr val="0D0D0D"/>
                </a:solidFill>
                <a:latin typeface="Söhne"/>
              </a:rPr>
              <a:t>E</a:t>
            </a:r>
            <a:r>
              <a:rPr lang="en-US" sz="3100" b="1" i="0" dirty="0">
                <a:solidFill>
                  <a:srgbClr val="0D0D0D"/>
                </a:solidFill>
                <a:effectLst/>
                <a:latin typeface="Söhne"/>
              </a:rPr>
              <a:t>xample of Leader-Member Exchange (LMX) </a:t>
            </a:r>
            <a:br>
              <a:rPr lang="en-US" sz="3100" b="1" i="0" dirty="0">
                <a:solidFill>
                  <a:srgbClr val="0D0D0D"/>
                </a:solidFill>
                <a:effectLst/>
                <a:latin typeface="Söhne"/>
              </a:rPr>
            </a:br>
            <a:r>
              <a:rPr lang="en-US" sz="3100" b="1" i="0" dirty="0">
                <a:solidFill>
                  <a:srgbClr val="0D0D0D"/>
                </a:solidFill>
                <a:effectLst/>
                <a:latin typeface="Söhne"/>
              </a:rPr>
              <a:t>theory</a:t>
            </a:r>
            <a:br>
              <a:rPr lang="en-US" b="0" i="0" dirty="0">
                <a:solidFill>
                  <a:srgbClr val="0D0D0D"/>
                </a:solidFill>
                <a:effectLst/>
                <a:latin typeface="Söhne"/>
              </a:rPr>
            </a:br>
            <a:endParaRPr lang="en-IN" dirty="0"/>
          </a:p>
        </p:txBody>
      </p:sp>
      <p:sp>
        <p:nvSpPr>
          <p:cNvPr id="3" name="Slide Number Placeholder 2">
            <a:extLst>
              <a:ext uri="{FF2B5EF4-FFF2-40B4-BE49-F238E27FC236}">
                <a16:creationId xmlns:a16="http://schemas.microsoft.com/office/drawing/2014/main" id="{6C8CDCCF-0E49-A4A0-6C87-09A9361C3004}"/>
              </a:ext>
            </a:extLst>
          </p:cNvPr>
          <p:cNvSpPr>
            <a:spLocks noGrp="1"/>
          </p:cNvSpPr>
          <p:nvPr>
            <p:ph type="sldNum" sz="quarter" idx="12"/>
          </p:nvPr>
        </p:nvSpPr>
        <p:spPr/>
        <p:txBody>
          <a:bodyPr/>
          <a:lstStyle/>
          <a:p>
            <a:fld id="{B6F15528-21DE-4FAA-801E-634DDDAF4B2B}" type="slidenum">
              <a:rPr lang="en-US" smtClean="0"/>
              <a:pPr/>
              <a:t>38</a:t>
            </a:fld>
            <a:endParaRPr lang="en-US"/>
          </a:p>
        </p:txBody>
      </p:sp>
      <p:sp>
        <p:nvSpPr>
          <p:cNvPr id="4" name="Content Placeholder 3">
            <a:extLst>
              <a:ext uri="{FF2B5EF4-FFF2-40B4-BE49-F238E27FC236}">
                <a16:creationId xmlns:a16="http://schemas.microsoft.com/office/drawing/2014/main" id="{07BE9EB6-6475-2E20-D7E8-FD827C710942}"/>
              </a:ext>
            </a:extLst>
          </p:cNvPr>
          <p:cNvSpPr>
            <a:spLocks noGrp="1"/>
          </p:cNvSpPr>
          <p:nvPr>
            <p:ph sz="quarter" idx="1"/>
          </p:nvPr>
        </p:nvSpPr>
        <p:spPr>
          <a:xfrm>
            <a:off x="266700" y="1600200"/>
            <a:ext cx="8499348" cy="4800600"/>
          </a:xfrm>
        </p:spPr>
        <p:txBody>
          <a:bodyPr>
            <a:normAutofit fontScale="70000" lnSpcReduction="20000"/>
          </a:bodyPr>
          <a:lstStyle/>
          <a:p>
            <a:pPr algn="just"/>
            <a:r>
              <a:rPr lang="en-US" b="0" i="0" dirty="0">
                <a:solidFill>
                  <a:srgbClr val="0D0D0D"/>
                </a:solidFill>
                <a:effectLst/>
                <a:latin typeface="Söhne"/>
              </a:rPr>
              <a:t>Imagine a team of software developers working under a project manager in a tech company. The project manager forms strong, trust-based relationships with some members of the team who consistently deliver high-quality work, show initiative, and demonstrate reliability. These team members often have open lines of communication with the manager, receive regular feedback and support, and are given opportunities for career development and advancement within the company.</a:t>
            </a:r>
          </a:p>
          <a:p>
            <a:pPr algn="just"/>
            <a:r>
              <a:rPr lang="en-US" b="0" i="0" dirty="0">
                <a:solidFill>
                  <a:srgbClr val="0D0D0D"/>
                </a:solidFill>
                <a:effectLst/>
                <a:latin typeface="Söhne"/>
              </a:rPr>
              <a:t>On the other hand, there may be team members who do not share the same level of trust and respect with the manager. These individuals may struggle to meet deadlines, require more supervision and guidance, or have difficulties aligning with the team's goals and values. As a result, the manager may not invest as much time and effort into developing relationships with these team members, leading to a weaker exchange relationship.</a:t>
            </a:r>
          </a:p>
          <a:p>
            <a:pPr algn="just"/>
            <a:r>
              <a:rPr lang="en-US" b="0" i="0" dirty="0">
                <a:solidFill>
                  <a:srgbClr val="0D0D0D"/>
                </a:solidFill>
                <a:effectLst/>
                <a:latin typeface="Söhne"/>
              </a:rPr>
              <a:t>This example illustrates how LMX theory suggests that leaders do not treat each subordinate the same way. Instead, they form unique, individualized relationships with each team member based on factors such as performance, attitude, and compatibility. These differential relationships can impact team dynamics, job satisfaction, and ultimately, organizational outcomes.</a:t>
            </a:r>
          </a:p>
          <a:p>
            <a:endParaRPr lang="en-IN" dirty="0"/>
          </a:p>
        </p:txBody>
      </p:sp>
    </p:spTree>
    <p:extLst>
      <p:ext uri="{BB962C8B-B14F-4D97-AF65-F5344CB8AC3E}">
        <p14:creationId xmlns:p14="http://schemas.microsoft.com/office/powerpoint/2010/main" val="15974598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Leadership theories</a:t>
            </a:r>
            <a:endParaRPr lang="en-US"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39</a:t>
            </a:fld>
            <a:endParaRPr lang="en-US"/>
          </a:p>
        </p:txBody>
      </p:sp>
      <p:sp>
        <p:nvSpPr>
          <p:cNvPr id="4" name="Rectangle 3"/>
          <p:cNvSpPr/>
          <p:nvPr/>
        </p:nvSpPr>
        <p:spPr>
          <a:xfrm>
            <a:off x="609600" y="1542871"/>
            <a:ext cx="8305800" cy="4154984"/>
          </a:xfrm>
          <a:prstGeom prst="rect">
            <a:avLst/>
          </a:prstGeom>
        </p:spPr>
        <p:txBody>
          <a:bodyPr wrap="square">
            <a:spAutoFit/>
          </a:bodyPr>
          <a:lstStyle/>
          <a:p>
            <a:pPr algn="just"/>
            <a:r>
              <a:rPr lang="en-US" sz="2400" b="1" dirty="0">
                <a:solidFill>
                  <a:prstClr val="black"/>
                </a:solidFill>
                <a:latin typeface="Times New Roman" pitchFamily="18" charset="0"/>
                <a:cs typeface="Times New Roman" pitchFamily="18" charset="0"/>
              </a:rPr>
              <a:t>Transactional Leadership</a:t>
            </a:r>
            <a:r>
              <a:rPr lang="en-US" sz="2400" dirty="0">
                <a:solidFill>
                  <a:prstClr val="black"/>
                </a:solidFill>
                <a:latin typeface="Times New Roman" pitchFamily="18" charset="0"/>
                <a:cs typeface="Times New Roman" pitchFamily="18" charset="0"/>
              </a:rPr>
              <a:t>: </a:t>
            </a:r>
            <a:r>
              <a:rPr lang="en-US" sz="2400" dirty="0">
                <a:latin typeface="Times New Roman" pitchFamily="18" charset="0"/>
                <a:cs typeface="Times New Roman" pitchFamily="18" charset="0"/>
              </a:rPr>
              <a:t>Leaders who guide or motivate their followers in the direction of established goals by clarifying role and task requirements.</a:t>
            </a:r>
          </a:p>
          <a:p>
            <a:pPr algn="just"/>
            <a:endParaRPr lang="en-US" sz="2400" dirty="0">
              <a:latin typeface="Times New Roman" pitchFamily="18" charset="0"/>
              <a:cs typeface="Times New Roman" pitchFamily="18" charset="0"/>
            </a:endParaRPr>
          </a:p>
          <a:p>
            <a:pPr marL="342900" indent="-342900" algn="just">
              <a:buFont typeface="Wingdings" pitchFamily="2" charset="2"/>
              <a:buChar char="Ø"/>
            </a:pPr>
            <a:r>
              <a:rPr lang="en-US" sz="2400" dirty="0">
                <a:latin typeface="Times New Roman" pitchFamily="18" charset="0"/>
                <a:cs typeface="Times New Roman" pitchFamily="18" charset="0"/>
              </a:rPr>
              <a:t>Managers give employees something they want in exchange for getting something they want.</a:t>
            </a:r>
          </a:p>
          <a:p>
            <a:pPr marL="342900" indent="-342900" algn="just">
              <a:buFont typeface="Wingdings" pitchFamily="2" charset="2"/>
              <a:buChar char="Ø"/>
            </a:pPr>
            <a:endParaRPr lang="en-US" sz="2400" dirty="0">
              <a:latin typeface="Times New Roman" pitchFamily="18" charset="0"/>
              <a:cs typeface="Times New Roman" pitchFamily="18" charset="0"/>
            </a:endParaRPr>
          </a:p>
          <a:p>
            <a:pPr marL="342900" indent="-342900" algn="just">
              <a:buFont typeface="Wingdings" pitchFamily="2" charset="2"/>
              <a:buChar char="Ø"/>
            </a:pPr>
            <a:r>
              <a:rPr lang="en-US" sz="2400" dirty="0">
                <a:latin typeface="Times New Roman" pitchFamily="18" charset="0"/>
                <a:cs typeface="Times New Roman" pitchFamily="18" charset="0"/>
              </a:rPr>
              <a:t>It posits that workers are not self-motivated and require structure, instruction and monitoring in order to complete tasks correctly and on time.</a:t>
            </a:r>
          </a:p>
          <a:p>
            <a:pPr algn="just"/>
            <a:endParaRPr lang="en-US" sz="2400" dirty="0">
              <a:solidFill>
                <a:prstClr val="black"/>
              </a:solidFill>
              <a:latin typeface="Times New Roman" pitchFamily="18" charset="0"/>
              <a:cs typeface="Times New Roman" pitchFamily="18" charset="0"/>
            </a:endParaRPr>
          </a:p>
        </p:txBody>
      </p:sp>
      <p:sp>
        <p:nvSpPr>
          <p:cNvPr id="8" name="Rectangle 7"/>
          <p:cNvSpPr/>
          <p:nvPr/>
        </p:nvSpPr>
        <p:spPr>
          <a:xfrm>
            <a:off x="0" y="6019800"/>
            <a:ext cx="9144000" cy="83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5501075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AB52C-9A09-F405-6F93-198D32927E02}"/>
              </a:ext>
            </a:extLst>
          </p:cNvPr>
          <p:cNvSpPr>
            <a:spLocks noGrp="1"/>
          </p:cNvSpPr>
          <p:nvPr>
            <p:ph type="title"/>
          </p:nvPr>
        </p:nvSpPr>
        <p:spPr/>
        <p:txBody>
          <a:bodyPr/>
          <a:lstStyle/>
          <a:p>
            <a:r>
              <a:rPr lang="en-IN" dirty="0"/>
              <a:t>Example</a:t>
            </a:r>
          </a:p>
        </p:txBody>
      </p:sp>
      <p:sp>
        <p:nvSpPr>
          <p:cNvPr id="3" name="Slide Number Placeholder 2">
            <a:extLst>
              <a:ext uri="{FF2B5EF4-FFF2-40B4-BE49-F238E27FC236}">
                <a16:creationId xmlns:a16="http://schemas.microsoft.com/office/drawing/2014/main" id="{3E7F76E5-7D18-EB09-6973-777C68D6D2BD}"/>
              </a:ext>
            </a:extLst>
          </p:cNvPr>
          <p:cNvSpPr>
            <a:spLocks noGrp="1"/>
          </p:cNvSpPr>
          <p:nvPr>
            <p:ph type="sldNum" sz="quarter" idx="12"/>
          </p:nvPr>
        </p:nvSpPr>
        <p:spPr/>
        <p:txBody>
          <a:bodyPr/>
          <a:lstStyle/>
          <a:p>
            <a:fld id="{B6F15528-21DE-4FAA-801E-634DDDAF4B2B}" type="slidenum">
              <a:rPr lang="en-US" smtClean="0"/>
              <a:pPr/>
              <a:t>40</a:t>
            </a:fld>
            <a:endParaRPr lang="en-US"/>
          </a:p>
        </p:txBody>
      </p:sp>
      <p:sp>
        <p:nvSpPr>
          <p:cNvPr id="4" name="Content Placeholder 3">
            <a:extLst>
              <a:ext uri="{FF2B5EF4-FFF2-40B4-BE49-F238E27FC236}">
                <a16:creationId xmlns:a16="http://schemas.microsoft.com/office/drawing/2014/main" id="{7C515B7E-0A2D-0E99-7B91-98964718E0CA}"/>
              </a:ext>
            </a:extLst>
          </p:cNvPr>
          <p:cNvSpPr>
            <a:spLocks noGrp="1"/>
          </p:cNvSpPr>
          <p:nvPr>
            <p:ph sz="quarter" idx="1"/>
          </p:nvPr>
        </p:nvSpPr>
        <p:spPr>
          <a:xfrm>
            <a:off x="76200" y="1600200"/>
            <a:ext cx="8689848" cy="5105400"/>
          </a:xfrm>
        </p:spPr>
        <p:txBody>
          <a:bodyPr>
            <a:normAutofit fontScale="70000" lnSpcReduction="20000"/>
          </a:bodyPr>
          <a:lstStyle/>
          <a:p>
            <a:pPr algn="just"/>
            <a:r>
              <a:rPr lang="en-US" b="0" i="0" dirty="0">
                <a:solidFill>
                  <a:srgbClr val="0D0D0D"/>
                </a:solidFill>
                <a:effectLst/>
                <a:latin typeface="Söhne"/>
              </a:rPr>
              <a:t>Imagine a retail manager who uses a transactional leadership style to motivate their sales team. The manager sets clear expectations for the sales associates, outlining specific sales targets, customer service standards, and operational guidelines. In exchange for meeting these goals, the manager offers rewards such as bonuses, commission incentives, or recognition.</a:t>
            </a:r>
          </a:p>
          <a:p>
            <a:pPr algn="just"/>
            <a:r>
              <a:rPr lang="en-US" b="0" i="0" dirty="0">
                <a:solidFill>
                  <a:srgbClr val="0D0D0D"/>
                </a:solidFill>
                <a:effectLst/>
                <a:latin typeface="Söhne"/>
              </a:rPr>
              <a:t>The sales associates, in turn, understand that they are expected to meet certain performance metrics to receive these rewards. They are motivated by the tangible benefits offered by the manager and strive to achieve their sales targets and provide excellent customer service to earn those rewards.</a:t>
            </a:r>
          </a:p>
          <a:p>
            <a:pPr algn="just"/>
            <a:r>
              <a:rPr lang="en-US" b="0" i="0" dirty="0">
                <a:solidFill>
                  <a:srgbClr val="0D0D0D"/>
                </a:solidFill>
                <a:effectLst/>
                <a:latin typeface="Söhne"/>
              </a:rPr>
              <a:t>In this scenario, the manager provides structure, instruction, and monitoring to ensure that tasks are completed correctly and on time. The transactional exchange between the manager and the sales associates involves the manager providing incentives in exchange for the desired performance from the employees.</a:t>
            </a:r>
          </a:p>
          <a:p>
            <a:pPr algn="just"/>
            <a:r>
              <a:rPr lang="en-US" b="0" i="0" dirty="0">
                <a:solidFill>
                  <a:srgbClr val="0D0D0D"/>
                </a:solidFill>
                <a:effectLst/>
                <a:latin typeface="Söhne"/>
              </a:rPr>
              <a:t>Overall, this example illustrates how transactional leadership operates in a real-world setting, where managers guide and motivate their employees toward established goals through a system of rewards and incentives.</a:t>
            </a:r>
          </a:p>
          <a:p>
            <a:endParaRPr lang="en-IN" dirty="0"/>
          </a:p>
        </p:txBody>
      </p:sp>
    </p:spTree>
    <p:extLst>
      <p:ext uri="{BB962C8B-B14F-4D97-AF65-F5344CB8AC3E}">
        <p14:creationId xmlns:p14="http://schemas.microsoft.com/office/powerpoint/2010/main" val="13521124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Leadership theories</a:t>
            </a:r>
            <a:endParaRPr lang="en-US"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41</a:t>
            </a:fld>
            <a:endParaRPr lang="en-US"/>
          </a:p>
        </p:txBody>
      </p:sp>
      <p:sp>
        <p:nvSpPr>
          <p:cNvPr id="8" name="Rectangle 7"/>
          <p:cNvSpPr/>
          <p:nvPr/>
        </p:nvSpPr>
        <p:spPr>
          <a:xfrm>
            <a:off x="0" y="6019800"/>
            <a:ext cx="9144000" cy="83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6963146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Leadership theories</a:t>
            </a:r>
            <a:endParaRPr lang="en-US"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42</a:t>
            </a:fld>
            <a:endParaRPr lang="en-US"/>
          </a:p>
        </p:txBody>
      </p:sp>
      <p:sp>
        <p:nvSpPr>
          <p:cNvPr id="4" name="Rectangle 3"/>
          <p:cNvSpPr/>
          <p:nvPr/>
        </p:nvSpPr>
        <p:spPr>
          <a:xfrm>
            <a:off x="609600" y="1402140"/>
            <a:ext cx="8305800" cy="1569660"/>
          </a:xfrm>
          <a:prstGeom prst="rect">
            <a:avLst/>
          </a:prstGeom>
        </p:spPr>
        <p:txBody>
          <a:bodyPr wrap="square">
            <a:spAutoFit/>
          </a:bodyPr>
          <a:lstStyle/>
          <a:p>
            <a:pPr algn="just"/>
            <a:r>
              <a:rPr lang="en-US" sz="2400" b="1" dirty="0">
                <a:solidFill>
                  <a:prstClr val="black"/>
                </a:solidFill>
                <a:latin typeface="Times New Roman" pitchFamily="18" charset="0"/>
                <a:cs typeface="Times New Roman" pitchFamily="18" charset="0"/>
              </a:rPr>
              <a:t>Transformational Leadership</a:t>
            </a:r>
            <a:r>
              <a:rPr lang="en-US" sz="2400" dirty="0">
                <a:solidFill>
                  <a:prstClr val="black"/>
                </a:solidFill>
                <a:latin typeface="Times New Roman" pitchFamily="18" charset="0"/>
                <a:cs typeface="Times New Roman" pitchFamily="18" charset="0"/>
              </a:rPr>
              <a:t>: inspire followers to transcend their self-interests for the good of the organization.</a:t>
            </a:r>
          </a:p>
          <a:p>
            <a:pPr algn="just"/>
            <a:r>
              <a:rPr lang="en-US" sz="2400" dirty="0">
                <a:solidFill>
                  <a:prstClr val="black"/>
                </a:solidFill>
                <a:latin typeface="Times New Roman" pitchFamily="18" charset="0"/>
                <a:cs typeface="Times New Roman" pitchFamily="18" charset="0"/>
              </a:rPr>
              <a:t>Transformational leaders can have an extraordinary effect on their followers.</a:t>
            </a:r>
          </a:p>
        </p:txBody>
      </p:sp>
      <p:sp>
        <p:nvSpPr>
          <p:cNvPr id="8" name="Rectangle 7"/>
          <p:cNvSpPr/>
          <p:nvPr/>
        </p:nvSpPr>
        <p:spPr>
          <a:xfrm>
            <a:off x="0" y="6019800"/>
            <a:ext cx="9144000" cy="83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2667000"/>
            <a:ext cx="6858000" cy="4219217"/>
          </a:xfrm>
          <a:prstGeom prst="rect">
            <a:avLst/>
          </a:prstGeom>
        </p:spPr>
      </p:pic>
      <p:sp>
        <p:nvSpPr>
          <p:cNvPr id="6" name="Rectangle 5"/>
          <p:cNvSpPr/>
          <p:nvPr/>
        </p:nvSpPr>
        <p:spPr>
          <a:xfrm>
            <a:off x="2286000" y="2895600"/>
            <a:ext cx="68580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21700045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C2406-1051-06C1-B340-C3456D32C18A}"/>
              </a:ext>
            </a:extLst>
          </p:cNvPr>
          <p:cNvSpPr>
            <a:spLocks noGrp="1"/>
          </p:cNvSpPr>
          <p:nvPr>
            <p:ph type="title"/>
          </p:nvPr>
        </p:nvSpPr>
        <p:spPr/>
        <p:txBody>
          <a:bodyPr>
            <a:normAutofit/>
          </a:bodyPr>
          <a:lstStyle/>
          <a:p>
            <a:r>
              <a:rPr lang="en-US" sz="2800" b="1" i="0" dirty="0">
                <a:solidFill>
                  <a:srgbClr val="0D0D0D"/>
                </a:solidFill>
                <a:effectLst/>
                <a:latin typeface="Söhne"/>
              </a:rPr>
              <a:t>Example of transformational leadership</a:t>
            </a:r>
            <a:endParaRPr lang="en-IN" sz="2800" b="1" dirty="0"/>
          </a:p>
        </p:txBody>
      </p:sp>
      <p:sp>
        <p:nvSpPr>
          <p:cNvPr id="3" name="Slide Number Placeholder 2">
            <a:extLst>
              <a:ext uri="{FF2B5EF4-FFF2-40B4-BE49-F238E27FC236}">
                <a16:creationId xmlns:a16="http://schemas.microsoft.com/office/drawing/2014/main" id="{E94762FD-9564-9C2F-54F2-E439C41AF317}"/>
              </a:ext>
            </a:extLst>
          </p:cNvPr>
          <p:cNvSpPr>
            <a:spLocks noGrp="1"/>
          </p:cNvSpPr>
          <p:nvPr>
            <p:ph type="sldNum" sz="quarter" idx="12"/>
          </p:nvPr>
        </p:nvSpPr>
        <p:spPr/>
        <p:txBody>
          <a:bodyPr/>
          <a:lstStyle/>
          <a:p>
            <a:fld id="{B6F15528-21DE-4FAA-801E-634DDDAF4B2B}" type="slidenum">
              <a:rPr lang="en-US" smtClean="0"/>
              <a:pPr/>
              <a:t>43</a:t>
            </a:fld>
            <a:endParaRPr lang="en-US"/>
          </a:p>
        </p:txBody>
      </p:sp>
      <p:sp>
        <p:nvSpPr>
          <p:cNvPr id="4" name="Content Placeholder 3">
            <a:extLst>
              <a:ext uri="{FF2B5EF4-FFF2-40B4-BE49-F238E27FC236}">
                <a16:creationId xmlns:a16="http://schemas.microsoft.com/office/drawing/2014/main" id="{AA4534CB-836F-3C06-3F32-F9DEC65A8268}"/>
              </a:ext>
            </a:extLst>
          </p:cNvPr>
          <p:cNvSpPr>
            <a:spLocks noGrp="1"/>
          </p:cNvSpPr>
          <p:nvPr>
            <p:ph sz="quarter" idx="1"/>
          </p:nvPr>
        </p:nvSpPr>
        <p:spPr>
          <a:xfrm>
            <a:off x="228600" y="1600200"/>
            <a:ext cx="8537448" cy="4724400"/>
          </a:xfrm>
        </p:spPr>
        <p:txBody>
          <a:bodyPr>
            <a:normAutofit fontScale="62500" lnSpcReduction="20000"/>
          </a:bodyPr>
          <a:lstStyle/>
          <a:p>
            <a:pPr algn="just"/>
            <a:r>
              <a:rPr lang="en-US" b="0" i="0" dirty="0">
                <a:solidFill>
                  <a:srgbClr val="0D0D0D"/>
                </a:solidFill>
                <a:effectLst/>
                <a:latin typeface="Söhne"/>
              </a:rPr>
              <a:t>Mahatma Gandhi inspired millions of Indians to transcend their self-interests and work towards the greater good of the nation. Through his vision, charisma, and moral authority, Gandhi motivated people to join the nonviolent civil disobedience movement against British colonial rule.</a:t>
            </a:r>
          </a:p>
          <a:p>
            <a:pPr algn="just"/>
            <a:r>
              <a:rPr lang="en-US" b="0" i="0" dirty="0">
                <a:solidFill>
                  <a:srgbClr val="0D0D0D"/>
                </a:solidFill>
                <a:effectLst/>
                <a:latin typeface="Söhne"/>
              </a:rPr>
              <a:t>Gandhi's transformational leadership was characterized by his ability to articulate a compelling vision of independence and social justice, which resonated deeply with the masses. He appealed to people's sense of morality and conscience, urging them to resist oppression peacefully and strive for a more equitable society.</a:t>
            </a:r>
          </a:p>
          <a:p>
            <a:pPr algn="just"/>
            <a:r>
              <a:rPr lang="en-US" b="0" i="0" dirty="0">
                <a:solidFill>
                  <a:srgbClr val="0D0D0D"/>
                </a:solidFill>
                <a:effectLst/>
                <a:latin typeface="Söhne"/>
              </a:rPr>
              <a:t>Gandhi's leadership style empowered ordinary individuals to become agents of change and take collective action to challenge injustice. His emphasis on nonviolent resistance and civil disobedience inspired people from all walks of life to join the freedom struggle, regardless of their personal interests or backgrounds.</a:t>
            </a:r>
          </a:p>
          <a:p>
            <a:pPr algn="just"/>
            <a:r>
              <a:rPr lang="en-US" b="0" i="0" dirty="0">
                <a:solidFill>
                  <a:srgbClr val="0D0D0D"/>
                </a:solidFill>
                <a:effectLst/>
                <a:latin typeface="Söhne"/>
              </a:rPr>
              <a:t>Under Gandhi's guidance, the Indian independence movement became a mass movement, mobilizing millions of people across the country and ultimately leading to India's independence in 1947. Gandhi's transformational leadership left a lasting legacy, not only in India but also in the global struggle for human rights and social justice.</a:t>
            </a:r>
          </a:p>
          <a:p>
            <a:endParaRPr lang="en-IN" dirty="0"/>
          </a:p>
        </p:txBody>
      </p:sp>
    </p:spTree>
    <p:extLst>
      <p:ext uri="{BB962C8B-B14F-4D97-AF65-F5344CB8AC3E}">
        <p14:creationId xmlns:p14="http://schemas.microsoft.com/office/powerpoint/2010/main" val="9462126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44</a:t>
            </a:fld>
            <a:endParaRPr lang="en-US"/>
          </a:p>
        </p:txBody>
      </p:sp>
      <p:pic>
        <p:nvPicPr>
          <p:cNvPr id="5" name="Content Placeholder 4"/>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31612" y="0"/>
            <a:ext cx="9175612" cy="6858000"/>
          </a:xfrm>
        </p:spPr>
      </p:pic>
    </p:spTree>
    <p:extLst>
      <p:ext uri="{BB962C8B-B14F-4D97-AF65-F5344CB8AC3E}">
        <p14:creationId xmlns:p14="http://schemas.microsoft.com/office/powerpoint/2010/main" val="6730340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45</a:t>
            </a:fld>
            <a:endParaRPr lang="en-US"/>
          </a:p>
        </p:txBody>
      </p:sp>
      <p:pic>
        <p:nvPicPr>
          <p:cNvPr id="5" name="Content Placeholder 4"/>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0" y="0"/>
            <a:ext cx="9144000" cy="6858000"/>
          </a:xfrm>
        </p:spPr>
      </p:pic>
    </p:spTree>
    <p:extLst>
      <p:ext uri="{BB962C8B-B14F-4D97-AF65-F5344CB8AC3E}">
        <p14:creationId xmlns:p14="http://schemas.microsoft.com/office/powerpoint/2010/main" val="26139270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THANK YOU……………..</a:t>
            </a:r>
          </a:p>
        </p:txBody>
      </p:sp>
      <p:sp>
        <p:nvSpPr>
          <p:cNvPr id="4" name="Slide Number Placeholder 3"/>
          <p:cNvSpPr>
            <a:spLocks noGrp="1"/>
          </p:cNvSpPr>
          <p:nvPr>
            <p:ph type="sldNum" sz="quarter" idx="11"/>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51364359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37183</TotalTime>
  <Words>4362</Words>
  <Application>Microsoft Office PowerPoint</Application>
  <PresentationFormat>On-screen Show (4:3)</PresentationFormat>
  <Paragraphs>293</Paragraphs>
  <Slides>46</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Arial</vt:lpstr>
      <vt:lpstr>Calibri</vt:lpstr>
      <vt:lpstr>Open Sans</vt:lpstr>
      <vt:lpstr>Segoe UI Semilight</vt:lpstr>
      <vt:lpstr>Söhne</vt:lpstr>
      <vt:lpstr>Times New Roman</vt:lpstr>
      <vt:lpstr>Tw Cen MT</vt:lpstr>
      <vt:lpstr>Wingdings</vt:lpstr>
      <vt:lpstr>Wingdings 2</vt:lpstr>
      <vt:lpstr>Median</vt:lpstr>
      <vt:lpstr>PowerPoint Presentation</vt:lpstr>
      <vt:lpstr>Course content</vt:lpstr>
      <vt:lpstr>PowerPoint Presentation</vt:lpstr>
      <vt:lpstr>PowerPoint Presentation</vt:lpstr>
      <vt:lpstr>Key characteristics of autocratic management include: </vt:lpstr>
      <vt:lpstr>PowerPoint Presentation</vt:lpstr>
      <vt:lpstr>Democratic management</vt:lpstr>
      <vt:lpstr>Key characteristics of democratic management include: </vt:lpstr>
      <vt:lpstr>PowerPoint Presentation</vt:lpstr>
      <vt:lpstr>Laissez-faire management</vt:lpstr>
      <vt:lpstr>Key characteristics of laissez-faire management include: </vt:lpstr>
      <vt:lpstr>PowerPoint Presentation</vt:lpstr>
      <vt:lpstr>PowerPoint Presentation</vt:lpstr>
      <vt:lpstr>PowerPoint Presentation</vt:lpstr>
      <vt:lpstr>PowerPoint Presentation</vt:lpstr>
      <vt:lpstr>PowerPoint Presentation</vt:lpstr>
      <vt:lpstr>Leadership</vt:lpstr>
      <vt:lpstr>Leadership</vt:lpstr>
      <vt:lpstr>Leadership theories</vt:lpstr>
      <vt:lpstr>PowerPoint Presentation</vt:lpstr>
      <vt:lpstr>Leadership theories</vt:lpstr>
      <vt:lpstr>  Example: Team Project in a Software Development Company Imagine a software development team working on a critical project. The team is led by two different managers, each demonstrating distinct leadership behaviors. </vt:lpstr>
      <vt:lpstr>Leadership theories</vt:lpstr>
      <vt:lpstr>PowerPoint Presentation</vt:lpstr>
      <vt:lpstr>Leadership theories</vt:lpstr>
      <vt:lpstr>PowerPoint Presentation</vt:lpstr>
      <vt:lpstr>Leadership theories</vt:lpstr>
      <vt:lpstr>Leadership theories</vt:lpstr>
      <vt:lpstr>Leadership theories</vt:lpstr>
      <vt:lpstr>Leadership theories</vt:lpstr>
      <vt:lpstr>Leadership theories</vt:lpstr>
      <vt:lpstr>Leadership theories</vt:lpstr>
      <vt:lpstr>Leadership theories</vt:lpstr>
      <vt:lpstr>PowerPoint Presentation</vt:lpstr>
      <vt:lpstr>Leadership theories</vt:lpstr>
      <vt:lpstr>Leadership theories</vt:lpstr>
      <vt:lpstr>Leadership theories</vt:lpstr>
      <vt:lpstr>Example of Leader-Member Exchange (LMX)  theory </vt:lpstr>
      <vt:lpstr>Leadership theories</vt:lpstr>
      <vt:lpstr>Example</vt:lpstr>
      <vt:lpstr>Leadership theories</vt:lpstr>
      <vt:lpstr>Leadership theories</vt:lpstr>
      <vt:lpstr>Example of transformational leadership</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EVALUATION MODELS:</dc:title>
  <dc:creator>ARUNA B</dc:creator>
  <cp:lastModifiedBy>Shashwati Banerjee</cp:lastModifiedBy>
  <cp:revision>1746</cp:revision>
  <dcterms:created xsi:type="dcterms:W3CDTF">2006-08-16T00:00:00Z</dcterms:created>
  <dcterms:modified xsi:type="dcterms:W3CDTF">2026-09-14T06:13:43Z</dcterms:modified>
</cp:coreProperties>
</file>